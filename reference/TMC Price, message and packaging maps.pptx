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06543C-00A9-4366-A5A3-6AAE81D6010B}" v="3" dt="2026-10-06T08:09:39.5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8" d="100"/>
          <a:sy n="158" d="100"/>
        </p:scale>
        <p:origin x="296"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 Popov" userId="f2e24a67-e0ab-450e-898d-6925f3f36273" providerId="ADAL" clId="{237C1F16-A74C-4C63-91F1-0835A75FD55E}"/>
    <pc:docChg chg="delSld">
      <pc:chgData name="Christo Popov" userId="f2e24a67-e0ab-450e-898d-6925f3f36273" providerId="ADAL" clId="{237C1F16-A74C-4C63-91F1-0835A75FD55E}" dt="2026-10-03T19:31:21.034" v="6" actId="47"/>
      <pc:docMkLst>
        <pc:docMk/>
      </pc:docMkLst>
    </pc:docChg>
  </pc:docChgLst>
  <pc:docChgLst>
    <pc:chgData name="Viktoria Oprikova" userId="835d1643-4642-4ced-a4c3-f92f9b8f30fa" providerId="ADAL" clId="{71C4C6D5-3359-4615-8162-C5D031076CAB}"/>
    <pc:docChg chg="undo custSel modSld">
      <pc:chgData name="Viktoria Oprikova" userId="835d1643-4642-4ced-a4c3-f92f9b8f30fa" providerId="ADAL" clId="{71C4C6D5-3359-4615-8162-C5D031076CAB}" dt="2026-10-06T08:14:00.972" v="1054" actId="478"/>
      <pc:docMkLst>
        <pc:docMk/>
      </pc:docMkLst>
      <pc:sldChg chg="addSp modSp mod">
        <pc:chgData name="Viktoria Oprikova" userId="835d1643-4642-4ced-a4c3-f92f9b8f30fa" providerId="ADAL" clId="{71C4C6D5-3359-4615-8162-C5D031076CAB}" dt="2026-10-06T07:59:41.174" v="3" actId="1076"/>
        <pc:sldMkLst>
          <pc:docMk/>
          <pc:sldMk cId="0" sldId="257"/>
        </pc:sldMkLst>
        <pc:picChg chg="add mod">
          <ac:chgData name="Viktoria Oprikova" userId="835d1643-4642-4ced-a4c3-f92f9b8f30fa" providerId="ADAL" clId="{71C4C6D5-3359-4615-8162-C5D031076CAB}" dt="2026-10-06T07:59:41.174" v="3" actId="1076"/>
          <ac:picMkLst>
            <pc:docMk/>
            <pc:sldMk cId="0" sldId="257"/>
            <ac:picMk id="17" creationId="{1557BA70-DB49-C88C-A692-429EE8B99E1A}"/>
          </ac:picMkLst>
        </pc:picChg>
      </pc:sldChg>
      <pc:sldChg chg="addSp modSp mod">
        <pc:chgData name="Viktoria Oprikova" userId="835d1643-4642-4ced-a4c3-f92f9b8f30fa" providerId="ADAL" clId="{71C4C6D5-3359-4615-8162-C5D031076CAB}" dt="2026-10-06T08:01:31.826" v="104" actId="1076"/>
        <pc:sldMkLst>
          <pc:docMk/>
          <pc:sldMk cId="0" sldId="259"/>
        </pc:sldMkLst>
        <pc:spChg chg="mod">
          <ac:chgData name="Viktoria Oprikova" userId="835d1643-4642-4ced-a4c3-f92f9b8f30fa" providerId="ADAL" clId="{71C4C6D5-3359-4615-8162-C5D031076CAB}" dt="2026-10-06T08:01:04.617" v="97" actId="20577"/>
          <ac:spMkLst>
            <pc:docMk/>
            <pc:sldMk cId="0" sldId="259"/>
            <ac:spMk id="3" creationId="{00000000-0000-0000-0000-000000000000}"/>
          </ac:spMkLst>
        </pc:spChg>
        <pc:picChg chg="add mod">
          <ac:chgData name="Viktoria Oprikova" userId="835d1643-4642-4ced-a4c3-f92f9b8f30fa" providerId="ADAL" clId="{71C4C6D5-3359-4615-8162-C5D031076CAB}" dt="2026-10-06T08:01:31.826" v="104" actId="1076"/>
          <ac:picMkLst>
            <pc:docMk/>
            <pc:sldMk cId="0" sldId="259"/>
            <ac:picMk id="43" creationId="{D4E9C69B-5B72-7B34-7057-D4E0AE865FE5}"/>
          </ac:picMkLst>
        </pc:picChg>
      </pc:sldChg>
      <pc:sldChg chg="addSp mod">
        <pc:chgData name="Viktoria Oprikova" userId="835d1643-4642-4ced-a4c3-f92f9b8f30fa" providerId="ADAL" clId="{71C4C6D5-3359-4615-8162-C5D031076CAB}" dt="2026-10-06T08:01:36.584" v="105" actId="22"/>
        <pc:sldMkLst>
          <pc:docMk/>
          <pc:sldMk cId="0" sldId="260"/>
        </pc:sldMkLst>
        <pc:picChg chg="add">
          <ac:chgData name="Viktoria Oprikova" userId="835d1643-4642-4ced-a4c3-f92f9b8f30fa" providerId="ADAL" clId="{71C4C6D5-3359-4615-8162-C5D031076CAB}" dt="2026-10-06T08:01:36.584" v="105" actId="22"/>
          <ac:picMkLst>
            <pc:docMk/>
            <pc:sldMk cId="0" sldId="260"/>
            <ac:picMk id="43" creationId="{51551332-A502-F7E2-EC3A-669C4BB9D923}"/>
          </ac:picMkLst>
        </pc:picChg>
      </pc:sldChg>
      <pc:sldChg chg="addSp modSp mod">
        <pc:chgData name="Viktoria Oprikova" userId="835d1643-4642-4ced-a4c3-f92f9b8f30fa" providerId="ADAL" clId="{71C4C6D5-3359-4615-8162-C5D031076CAB}" dt="2026-10-06T08:02:11.900" v="146" actId="207"/>
        <pc:sldMkLst>
          <pc:docMk/>
          <pc:sldMk cId="0" sldId="261"/>
        </pc:sldMkLst>
        <pc:spChg chg="mod">
          <ac:chgData name="Viktoria Oprikova" userId="835d1643-4642-4ced-a4c3-f92f9b8f30fa" providerId="ADAL" clId="{71C4C6D5-3359-4615-8162-C5D031076CAB}" dt="2026-10-06T08:02:11.900" v="146" actId="207"/>
          <ac:spMkLst>
            <pc:docMk/>
            <pc:sldMk cId="0" sldId="261"/>
            <ac:spMk id="3" creationId="{00000000-0000-0000-0000-000000000000}"/>
          </ac:spMkLst>
        </pc:spChg>
        <pc:picChg chg="add">
          <ac:chgData name="Viktoria Oprikova" userId="835d1643-4642-4ced-a4c3-f92f9b8f30fa" providerId="ADAL" clId="{71C4C6D5-3359-4615-8162-C5D031076CAB}" dt="2026-10-06T08:01:55" v="106" actId="22"/>
          <ac:picMkLst>
            <pc:docMk/>
            <pc:sldMk cId="0" sldId="261"/>
            <ac:picMk id="27" creationId="{DD38843A-0AFE-CF47-C72B-DF6476A41BE9}"/>
          </ac:picMkLst>
        </pc:picChg>
      </pc:sldChg>
      <pc:sldChg chg="addSp modSp mod">
        <pc:chgData name="Viktoria Oprikova" userId="835d1643-4642-4ced-a4c3-f92f9b8f30fa" providerId="ADAL" clId="{71C4C6D5-3359-4615-8162-C5D031076CAB}" dt="2026-10-06T08:04:22.241" v="380" actId="20577"/>
        <pc:sldMkLst>
          <pc:docMk/>
          <pc:sldMk cId="0" sldId="262"/>
        </pc:sldMkLst>
        <pc:spChg chg="mod">
          <ac:chgData name="Viktoria Oprikova" userId="835d1643-4642-4ced-a4c3-f92f9b8f30fa" providerId="ADAL" clId="{71C4C6D5-3359-4615-8162-C5D031076CAB}" dt="2026-10-06T08:04:22.241" v="380" actId="20577"/>
          <ac:spMkLst>
            <pc:docMk/>
            <pc:sldMk cId="0" sldId="262"/>
            <ac:spMk id="3" creationId="{00000000-0000-0000-0000-000000000000}"/>
          </ac:spMkLst>
        </pc:spChg>
        <pc:picChg chg="add">
          <ac:chgData name="Viktoria Oprikova" userId="835d1643-4642-4ced-a4c3-f92f9b8f30fa" providerId="ADAL" clId="{71C4C6D5-3359-4615-8162-C5D031076CAB}" dt="2026-10-06T08:02:21.088" v="147" actId="22"/>
          <ac:picMkLst>
            <pc:docMk/>
            <pc:sldMk cId="0" sldId="262"/>
            <ac:picMk id="84" creationId="{50BBF614-E868-69EA-D6DE-F176290EDDD5}"/>
          </ac:picMkLst>
        </pc:picChg>
      </pc:sldChg>
      <pc:sldChg chg="addSp modSp mod">
        <pc:chgData name="Viktoria Oprikova" userId="835d1643-4642-4ced-a4c3-f92f9b8f30fa" providerId="ADAL" clId="{71C4C6D5-3359-4615-8162-C5D031076CAB}" dt="2026-10-06T08:04:59.021" v="447" actId="1076"/>
        <pc:sldMkLst>
          <pc:docMk/>
          <pc:sldMk cId="0" sldId="263"/>
        </pc:sldMkLst>
        <pc:spChg chg="mod">
          <ac:chgData name="Viktoria Oprikova" userId="835d1643-4642-4ced-a4c3-f92f9b8f30fa" providerId="ADAL" clId="{71C4C6D5-3359-4615-8162-C5D031076CAB}" dt="2026-10-06T08:04:59.021" v="447" actId="1076"/>
          <ac:spMkLst>
            <pc:docMk/>
            <pc:sldMk cId="0" sldId="263"/>
            <ac:spMk id="3" creationId="{00000000-0000-0000-0000-000000000000}"/>
          </ac:spMkLst>
        </pc:spChg>
        <pc:picChg chg="add">
          <ac:chgData name="Viktoria Oprikova" userId="835d1643-4642-4ced-a4c3-f92f9b8f30fa" providerId="ADAL" clId="{71C4C6D5-3359-4615-8162-C5D031076CAB}" dt="2026-10-06T08:04:55.914" v="446" actId="22"/>
          <ac:picMkLst>
            <pc:docMk/>
            <pc:sldMk cId="0" sldId="263"/>
            <ac:picMk id="23" creationId="{89D7C449-0117-B1C3-3A6D-2AD9F0A08E99}"/>
          </ac:picMkLst>
        </pc:picChg>
      </pc:sldChg>
      <pc:sldChg chg="addSp modSp mod">
        <pc:chgData name="Viktoria Oprikova" userId="835d1643-4642-4ced-a4c3-f92f9b8f30fa" providerId="ADAL" clId="{71C4C6D5-3359-4615-8162-C5D031076CAB}" dt="2026-10-06T08:07:32.465" v="587" actId="22"/>
        <pc:sldMkLst>
          <pc:docMk/>
          <pc:sldMk cId="0" sldId="264"/>
        </pc:sldMkLst>
        <pc:spChg chg="mod">
          <ac:chgData name="Viktoria Oprikova" userId="835d1643-4642-4ced-a4c3-f92f9b8f30fa" providerId="ADAL" clId="{71C4C6D5-3359-4615-8162-C5D031076CAB}" dt="2026-10-06T08:07:26.429" v="586" actId="207"/>
          <ac:spMkLst>
            <pc:docMk/>
            <pc:sldMk cId="0" sldId="264"/>
            <ac:spMk id="3" creationId="{00000000-0000-0000-0000-000000000000}"/>
          </ac:spMkLst>
        </pc:spChg>
        <pc:picChg chg="add">
          <ac:chgData name="Viktoria Oprikova" userId="835d1643-4642-4ced-a4c3-f92f9b8f30fa" providerId="ADAL" clId="{71C4C6D5-3359-4615-8162-C5D031076CAB}" dt="2026-10-06T08:07:32.465" v="587" actId="22"/>
          <ac:picMkLst>
            <pc:docMk/>
            <pc:sldMk cId="0" sldId="264"/>
            <ac:picMk id="71" creationId="{EEB24398-3077-D61B-3BCA-9C5BAFDA4215}"/>
          </ac:picMkLst>
        </pc:picChg>
      </pc:sldChg>
      <pc:sldChg chg="addSp modSp mod">
        <pc:chgData name="Viktoria Oprikova" userId="835d1643-4642-4ced-a4c3-f92f9b8f30fa" providerId="ADAL" clId="{71C4C6D5-3359-4615-8162-C5D031076CAB}" dt="2026-10-06T08:05:28.684" v="486" actId="207"/>
        <pc:sldMkLst>
          <pc:docMk/>
          <pc:sldMk cId="0" sldId="265"/>
        </pc:sldMkLst>
        <pc:spChg chg="mod">
          <ac:chgData name="Viktoria Oprikova" userId="835d1643-4642-4ced-a4c3-f92f9b8f30fa" providerId="ADAL" clId="{71C4C6D5-3359-4615-8162-C5D031076CAB}" dt="2026-10-06T08:05:28.684" v="486" actId="207"/>
          <ac:spMkLst>
            <pc:docMk/>
            <pc:sldMk cId="0" sldId="265"/>
            <ac:spMk id="3" creationId="{00000000-0000-0000-0000-000000000000}"/>
          </ac:spMkLst>
        </pc:spChg>
        <pc:picChg chg="add">
          <ac:chgData name="Viktoria Oprikova" userId="835d1643-4642-4ced-a4c3-f92f9b8f30fa" providerId="ADAL" clId="{71C4C6D5-3359-4615-8162-C5D031076CAB}" dt="2026-10-06T08:05:14.890" v="448" actId="22"/>
          <ac:picMkLst>
            <pc:docMk/>
            <pc:sldMk cId="0" sldId="265"/>
            <ac:picMk id="31" creationId="{7C767390-67A2-0ADB-9C8D-AD384521B8FC}"/>
          </ac:picMkLst>
        </pc:picChg>
      </pc:sldChg>
      <pc:sldChg chg="addSp modSp mod">
        <pc:chgData name="Viktoria Oprikova" userId="835d1643-4642-4ced-a4c3-f92f9b8f30fa" providerId="ADAL" clId="{71C4C6D5-3359-4615-8162-C5D031076CAB}" dt="2026-10-06T08:08:05.989" v="602" actId="207"/>
        <pc:sldMkLst>
          <pc:docMk/>
          <pc:sldMk cId="0" sldId="266"/>
        </pc:sldMkLst>
        <pc:spChg chg="mod">
          <ac:chgData name="Viktoria Oprikova" userId="835d1643-4642-4ced-a4c3-f92f9b8f30fa" providerId="ADAL" clId="{71C4C6D5-3359-4615-8162-C5D031076CAB}" dt="2026-10-06T08:08:05.989" v="602" actId="207"/>
          <ac:spMkLst>
            <pc:docMk/>
            <pc:sldMk cId="0" sldId="266"/>
            <ac:spMk id="3" creationId="{00000000-0000-0000-0000-000000000000}"/>
          </ac:spMkLst>
        </pc:spChg>
        <pc:picChg chg="add">
          <ac:chgData name="Viktoria Oprikova" userId="835d1643-4642-4ced-a4c3-f92f9b8f30fa" providerId="ADAL" clId="{71C4C6D5-3359-4615-8162-C5D031076CAB}" dt="2026-10-06T08:07:58.219" v="588" actId="22"/>
          <ac:picMkLst>
            <pc:docMk/>
            <pc:sldMk cId="0" sldId="266"/>
            <ac:picMk id="38" creationId="{F71E52D4-1FC2-8019-762D-4B364BCDF912}"/>
          </ac:picMkLst>
        </pc:picChg>
      </pc:sldChg>
      <pc:sldChg chg="addSp delSp modSp mod">
        <pc:chgData name="Viktoria Oprikova" userId="835d1643-4642-4ced-a4c3-f92f9b8f30fa" providerId="ADAL" clId="{71C4C6D5-3359-4615-8162-C5D031076CAB}" dt="2026-10-06T08:08:26.646" v="610" actId="22"/>
        <pc:sldMkLst>
          <pc:docMk/>
          <pc:sldMk cId="0" sldId="267"/>
        </pc:sldMkLst>
        <pc:spChg chg="add mod">
          <ac:chgData name="Viktoria Oprikova" userId="835d1643-4642-4ced-a4c3-f92f9b8f30fa" providerId="ADAL" clId="{71C4C6D5-3359-4615-8162-C5D031076CAB}" dt="2026-10-06T08:08:13.691" v="604" actId="1076"/>
          <ac:spMkLst>
            <pc:docMk/>
            <pc:sldMk cId="0" sldId="267"/>
            <ac:spMk id="42" creationId="{F57CC5FF-1005-07CE-2DB6-67D81EBDE0FF}"/>
          </ac:spMkLst>
        </pc:spChg>
        <pc:picChg chg="add del">
          <ac:chgData name="Viktoria Oprikova" userId="835d1643-4642-4ced-a4c3-f92f9b8f30fa" providerId="ADAL" clId="{71C4C6D5-3359-4615-8162-C5D031076CAB}" dt="2026-10-06T08:08:23.548" v="609" actId="478"/>
          <ac:picMkLst>
            <pc:docMk/>
            <pc:sldMk cId="0" sldId="267"/>
            <ac:picMk id="44" creationId="{858DB9EC-1F0E-4850-7247-F535B20E2B07}"/>
          </ac:picMkLst>
        </pc:picChg>
        <pc:picChg chg="add del mod">
          <ac:chgData name="Viktoria Oprikova" userId="835d1643-4642-4ced-a4c3-f92f9b8f30fa" providerId="ADAL" clId="{71C4C6D5-3359-4615-8162-C5D031076CAB}" dt="2026-10-06T08:08:22.122" v="608" actId="478"/>
          <ac:picMkLst>
            <pc:docMk/>
            <pc:sldMk cId="0" sldId="267"/>
            <ac:picMk id="46" creationId="{4189A4A9-6665-968D-83FC-41BED7E58D59}"/>
          </ac:picMkLst>
        </pc:picChg>
        <pc:picChg chg="add">
          <ac:chgData name="Viktoria Oprikova" userId="835d1643-4642-4ced-a4c3-f92f9b8f30fa" providerId="ADAL" clId="{71C4C6D5-3359-4615-8162-C5D031076CAB}" dt="2026-10-06T08:08:26.646" v="610" actId="22"/>
          <ac:picMkLst>
            <pc:docMk/>
            <pc:sldMk cId="0" sldId="267"/>
            <ac:picMk id="48" creationId="{1DD3B33B-3C55-DB93-A0C8-B6C7D6DAEFE4}"/>
          </ac:picMkLst>
        </pc:picChg>
      </pc:sldChg>
      <pc:sldChg chg="addSp mod">
        <pc:chgData name="Viktoria Oprikova" userId="835d1643-4642-4ced-a4c3-f92f9b8f30fa" providerId="ADAL" clId="{71C4C6D5-3359-4615-8162-C5D031076CAB}" dt="2026-10-06T08:08:27.416" v="611" actId="22"/>
        <pc:sldMkLst>
          <pc:docMk/>
          <pc:sldMk cId="0" sldId="268"/>
        </pc:sldMkLst>
        <pc:picChg chg="add">
          <ac:chgData name="Viktoria Oprikova" userId="835d1643-4642-4ced-a4c3-f92f9b8f30fa" providerId="ADAL" clId="{71C4C6D5-3359-4615-8162-C5D031076CAB}" dt="2026-10-06T08:08:27.416" v="611" actId="22"/>
          <ac:picMkLst>
            <pc:docMk/>
            <pc:sldMk cId="0" sldId="268"/>
            <ac:picMk id="43" creationId="{1A71011B-15FE-E1C6-FC08-657692A23FC0}"/>
          </ac:picMkLst>
        </pc:picChg>
      </pc:sldChg>
      <pc:sldChg chg="addSp modSp mod">
        <pc:chgData name="Viktoria Oprikova" userId="835d1643-4642-4ced-a4c3-f92f9b8f30fa" providerId="ADAL" clId="{71C4C6D5-3359-4615-8162-C5D031076CAB}" dt="2026-10-06T08:08:37.906" v="627" actId="207"/>
        <pc:sldMkLst>
          <pc:docMk/>
          <pc:sldMk cId="0" sldId="269"/>
        </pc:sldMkLst>
        <pc:spChg chg="mod">
          <ac:chgData name="Viktoria Oprikova" userId="835d1643-4642-4ced-a4c3-f92f9b8f30fa" providerId="ADAL" clId="{71C4C6D5-3359-4615-8162-C5D031076CAB}" dt="2026-10-06T08:08:37.906" v="627" actId="207"/>
          <ac:spMkLst>
            <pc:docMk/>
            <pc:sldMk cId="0" sldId="269"/>
            <ac:spMk id="3" creationId="{00000000-0000-0000-0000-000000000000}"/>
          </ac:spMkLst>
        </pc:spChg>
        <pc:picChg chg="add">
          <ac:chgData name="Viktoria Oprikova" userId="835d1643-4642-4ced-a4c3-f92f9b8f30fa" providerId="ADAL" clId="{71C4C6D5-3359-4615-8162-C5D031076CAB}" dt="2026-10-06T08:08:32.477" v="612" actId="22"/>
          <ac:picMkLst>
            <pc:docMk/>
            <pc:sldMk cId="0" sldId="269"/>
            <ac:picMk id="18" creationId="{2734D29C-93E2-C5C1-8E8B-5A6FCF12F284}"/>
          </ac:picMkLst>
        </pc:picChg>
      </pc:sldChg>
      <pc:sldChg chg="addSp modSp mod">
        <pc:chgData name="Viktoria Oprikova" userId="835d1643-4642-4ced-a4c3-f92f9b8f30fa" providerId="ADAL" clId="{71C4C6D5-3359-4615-8162-C5D031076CAB}" dt="2026-10-06T08:08:59.049" v="662" actId="207"/>
        <pc:sldMkLst>
          <pc:docMk/>
          <pc:sldMk cId="0" sldId="271"/>
        </pc:sldMkLst>
        <pc:spChg chg="mod">
          <ac:chgData name="Viktoria Oprikova" userId="835d1643-4642-4ced-a4c3-f92f9b8f30fa" providerId="ADAL" clId="{71C4C6D5-3359-4615-8162-C5D031076CAB}" dt="2026-10-06T08:08:59.049" v="662" actId="207"/>
          <ac:spMkLst>
            <pc:docMk/>
            <pc:sldMk cId="0" sldId="271"/>
            <ac:spMk id="3" creationId="{00000000-0000-0000-0000-000000000000}"/>
          </ac:spMkLst>
        </pc:spChg>
        <pc:picChg chg="add">
          <ac:chgData name="Viktoria Oprikova" userId="835d1643-4642-4ced-a4c3-f92f9b8f30fa" providerId="ADAL" clId="{71C4C6D5-3359-4615-8162-C5D031076CAB}" dt="2026-10-06T08:08:47.335" v="628" actId="22"/>
          <ac:picMkLst>
            <pc:docMk/>
            <pc:sldMk cId="0" sldId="271"/>
            <ac:picMk id="31" creationId="{5071ADBA-935F-0C8D-1184-C66385CFBE6F}"/>
          </ac:picMkLst>
        </pc:picChg>
      </pc:sldChg>
      <pc:sldChg chg="addSp modSp mod">
        <pc:chgData name="Viktoria Oprikova" userId="835d1643-4642-4ced-a4c3-f92f9b8f30fa" providerId="ADAL" clId="{71C4C6D5-3359-4615-8162-C5D031076CAB}" dt="2026-10-06T08:09:50.604" v="698" actId="207"/>
        <pc:sldMkLst>
          <pc:docMk/>
          <pc:sldMk cId="0" sldId="272"/>
        </pc:sldMkLst>
        <pc:spChg chg="mod">
          <ac:chgData name="Viktoria Oprikova" userId="835d1643-4642-4ced-a4c3-f92f9b8f30fa" providerId="ADAL" clId="{71C4C6D5-3359-4615-8162-C5D031076CAB}" dt="2026-10-06T08:09:50.604" v="698" actId="207"/>
          <ac:spMkLst>
            <pc:docMk/>
            <pc:sldMk cId="0" sldId="272"/>
            <ac:spMk id="3" creationId="{00000000-0000-0000-0000-000000000000}"/>
          </ac:spMkLst>
        </pc:spChg>
        <pc:picChg chg="add">
          <ac:chgData name="Viktoria Oprikova" userId="835d1643-4642-4ced-a4c3-f92f9b8f30fa" providerId="ADAL" clId="{71C4C6D5-3359-4615-8162-C5D031076CAB}" dt="2026-10-06T08:09:27.105" v="694" actId="22"/>
          <ac:picMkLst>
            <pc:docMk/>
            <pc:sldMk cId="0" sldId="272"/>
            <ac:picMk id="37" creationId="{2F853192-A776-A322-96BA-51347A563957}"/>
          </ac:picMkLst>
        </pc:picChg>
        <pc:picChg chg="add mod">
          <ac:chgData name="Viktoria Oprikova" userId="835d1643-4642-4ced-a4c3-f92f9b8f30fa" providerId="ADAL" clId="{71C4C6D5-3359-4615-8162-C5D031076CAB}" dt="2026-10-06T08:09:46.875" v="697" actId="207"/>
          <ac:picMkLst>
            <pc:docMk/>
            <pc:sldMk cId="0" sldId="272"/>
            <ac:picMk id="39" creationId="{19BE8383-61EB-2786-BAC5-6C796EA2BD4A}"/>
          </ac:picMkLst>
        </pc:picChg>
      </pc:sldChg>
      <pc:sldChg chg="addSp delSp modSp mod">
        <pc:chgData name="Viktoria Oprikova" userId="835d1643-4642-4ced-a4c3-f92f9b8f30fa" providerId="ADAL" clId="{71C4C6D5-3359-4615-8162-C5D031076CAB}" dt="2026-10-06T08:12:02.845" v="939" actId="1076"/>
        <pc:sldMkLst>
          <pc:docMk/>
          <pc:sldMk cId="0" sldId="273"/>
        </pc:sldMkLst>
        <pc:spChg chg="mod">
          <ac:chgData name="Viktoria Oprikova" userId="835d1643-4642-4ced-a4c3-f92f9b8f30fa" providerId="ADAL" clId="{71C4C6D5-3359-4615-8162-C5D031076CAB}" dt="2026-10-06T08:10:28.715" v="823" actId="207"/>
          <ac:spMkLst>
            <pc:docMk/>
            <pc:sldMk cId="0" sldId="273"/>
            <ac:spMk id="3" creationId="{00000000-0000-0000-0000-000000000000}"/>
          </ac:spMkLst>
        </pc:spChg>
        <pc:picChg chg="add del">
          <ac:chgData name="Viktoria Oprikova" userId="835d1643-4642-4ced-a4c3-f92f9b8f30fa" providerId="ADAL" clId="{71C4C6D5-3359-4615-8162-C5D031076CAB}" dt="2026-10-06T08:09:58.491" v="700" actId="22"/>
          <ac:picMkLst>
            <pc:docMk/>
            <pc:sldMk cId="0" sldId="273"/>
            <ac:picMk id="7" creationId="{66B3BB11-0E06-8910-2B74-9A074FDD360F}"/>
          </ac:picMkLst>
        </pc:picChg>
        <pc:picChg chg="add mod">
          <ac:chgData name="Viktoria Oprikova" userId="835d1643-4642-4ced-a4c3-f92f9b8f30fa" providerId="ADAL" clId="{71C4C6D5-3359-4615-8162-C5D031076CAB}" dt="2026-10-06T08:12:02.845" v="939" actId="1076"/>
          <ac:picMkLst>
            <pc:docMk/>
            <pc:sldMk cId="0" sldId="273"/>
            <ac:picMk id="9" creationId="{C5C3E5D0-5971-AB48-A494-F3750DDCD4ED}"/>
          </ac:picMkLst>
        </pc:picChg>
      </pc:sldChg>
      <pc:sldChg chg="addSp modSp mod">
        <pc:chgData name="Viktoria Oprikova" userId="835d1643-4642-4ced-a4c3-f92f9b8f30fa" providerId="ADAL" clId="{71C4C6D5-3359-4615-8162-C5D031076CAB}" dt="2026-10-06T08:11:20.838" v="922" actId="1076"/>
        <pc:sldMkLst>
          <pc:docMk/>
          <pc:sldMk cId="0" sldId="274"/>
        </pc:sldMkLst>
        <pc:spChg chg="mod">
          <ac:chgData name="Viktoria Oprikova" userId="835d1643-4642-4ced-a4c3-f92f9b8f30fa" providerId="ADAL" clId="{71C4C6D5-3359-4615-8162-C5D031076CAB}" dt="2026-10-06T08:11:16.298" v="920" actId="207"/>
          <ac:spMkLst>
            <pc:docMk/>
            <pc:sldMk cId="0" sldId="274"/>
            <ac:spMk id="3" creationId="{00000000-0000-0000-0000-000000000000}"/>
          </ac:spMkLst>
        </pc:spChg>
        <pc:picChg chg="add mod">
          <ac:chgData name="Viktoria Oprikova" userId="835d1643-4642-4ced-a4c3-f92f9b8f30fa" providerId="ADAL" clId="{71C4C6D5-3359-4615-8162-C5D031076CAB}" dt="2026-10-06T08:11:20.838" v="922" actId="1076"/>
          <ac:picMkLst>
            <pc:docMk/>
            <pc:sldMk cId="0" sldId="274"/>
            <ac:picMk id="35" creationId="{73F97D4A-9460-BA1B-2602-709BB4C4927C}"/>
          </ac:picMkLst>
        </pc:picChg>
      </pc:sldChg>
      <pc:sldChg chg="modSp mod">
        <pc:chgData name="Viktoria Oprikova" userId="835d1643-4642-4ced-a4c3-f92f9b8f30fa" providerId="ADAL" clId="{71C4C6D5-3359-4615-8162-C5D031076CAB}" dt="2026-10-06T08:11:47.993" v="938" actId="13926"/>
        <pc:sldMkLst>
          <pc:docMk/>
          <pc:sldMk cId="0" sldId="275"/>
        </pc:sldMkLst>
        <pc:spChg chg="mod">
          <ac:chgData name="Viktoria Oprikova" userId="835d1643-4642-4ced-a4c3-f92f9b8f30fa" providerId="ADAL" clId="{71C4C6D5-3359-4615-8162-C5D031076CAB}" dt="2026-10-06T08:11:47.993" v="938" actId="13926"/>
          <ac:spMkLst>
            <pc:docMk/>
            <pc:sldMk cId="0" sldId="275"/>
            <ac:spMk id="3" creationId="{00000000-0000-0000-0000-000000000000}"/>
          </ac:spMkLst>
        </pc:spChg>
      </pc:sldChg>
      <pc:sldChg chg="addSp modSp mod">
        <pc:chgData name="Viktoria Oprikova" userId="835d1643-4642-4ced-a4c3-f92f9b8f30fa" providerId="ADAL" clId="{71C4C6D5-3359-4615-8162-C5D031076CAB}" dt="2026-10-06T08:12:55.527" v="975" actId="22"/>
        <pc:sldMkLst>
          <pc:docMk/>
          <pc:sldMk cId="0" sldId="276"/>
        </pc:sldMkLst>
        <pc:spChg chg="mod">
          <ac:chgData name="Viktoria Oprikova" userId="835d1643-4642-4ced-a4c3-f92f9b8f30fa" providerId="ADAL" clId="{71C4C6D5-3359-4615-8162-C5D031076CAB}" dt="2026-10-06T08:12:46.564" v="974" actId="207"/>
          <ac:spMkLst>
            <pc:docMk/>
            <pc:sldMk cId="0" sldId="276"/>
            <ac:spMk id="3" creationId="{00000000-0000-0000-0000-000000000000}"/>
          </ac:spMkLst>
        </pc:spChg>
        <pc:picChg chg="add">
          <ac:chgData name="Viktoria Oprikova" userId="835d1643-4642-4ced-a4c3-f92f9b8f30fa" providerId="ADAL" clId="{71C4C6D5-3359-4615-8162-C5D031076CAB}" dt="2026-10-06T08:12:55.527" v="975" actId="22"/>
          <ac:picMkLst>
            <pc:docMk/>
            <pc:sldMk cId="0" sldId="276"/>
            <ac:picMk id="32" creationId="{9C6480F5-6DF1-85FC-EF3E-14DFE1DF1D89}"/>
          </ac:picMkLst>
        </pc:picChg>
      </pc:sldChg>
      <pc:sldChg chg="addSp modSp mod">
        <pc:chgData name="Viktoria Oprikova" userId="835d1643-4642-4ced-a4c3-f92f9b8f30fa" providerId="ADAL" clId="{71C4C6D5-3359-4615-8162-C5D031076CAB}" dt="2026-10-06T08:13:26.925" v="1029" actId="22"/>
        <pc:sldMkLst>
          <pc:docMk/>
          <pc:sldMk cId="0" sldId="277"/>
        </pc:sldMkLst>
        <pc:spChg chg="mod">
          <ac:chgData name="Viktoria Oprikova" userId="835d1643-4642-4ced-a4c3-f92f9b8f30fa" providerId="ADAL" clId="{71C4C6D5-3359-4615-8162-C5D031076CAB}" dt="2026-10-06T08:13:22.616" v="1028" actId="207"/>
          <ac:spMkLst>
            <pc:docMk/>
            <pc:sldMk cId="0" sldId="277"/>
            <ac:spMk id="3" creationId="{00000000-0000-0000-0000-000000000000}"/>
          </ac:spMkLst>
        </pc:spChg>
        <pc:picChg chg="add">
          <ac:chgData name="Viktoria Oprikova" userId="835d1643-4642-4ced-a4c3-f92f9b8f30fa" providerId="ADAL" clId="{71C4C6D5-3359-4615-8162-C5D031076CAB}" dt="2026-10-06T08:13:26.925" v="1029" actId="22"/>
          <ac:picMkLst>
            <pc:docMk/>
            <pc:sldMk cId="0" sldId="277"/>
            <ac:picMk id="27" creationId="{286344A1-1A8B-C587-4D9B-ED4C260034CA}"/>
          </ac:picMkLst>
        </pc:picChg>
      </pc:sldChg>
      <pc:sldChg chg="addSp modSp mod">
        <pc:chgData name="Viktoria Oprikova" userId="835d1643-4642-4ced-a4c3-f92f9b8f30fa" providerId="ADAL" clId="{71C4C6D5-3359-4615-8162-C5D031076CAB}" dt="2026-10-06T08:13:45.264" v="1032" actId="22"/>
        <pc:sldMkLst>
          <pc:docMk/>
          <pc:sldMk cId="0" sldId="278"/>
        </pc:sldMkLst>
        <pc:spChg chg="add mod">
          <ac:chgData name="Viktoria Oprikova" userId="835d1643-4642-4ced-a4c3-f92f9b8f30fa" providerId="ADAL" clId="{71C4C6D5-3359-4615-8162-C5D031076CAB}" dt="2026-10-06T08:13:39.472" v="1031" actId="1076"/>
          <ac:spMkLst>
            <pc:docMk/>
            <pc:sldMk cId="0" sldId="278"/>
            <ac:spMk id="38" creationId="{5ADFCB28-7614-5597-E0A8-D3AAF1B7445B}"/>
          </ac:spMkLst>
        </pc:spChg>
        <pc:picChg chg="add">
          <ac:chgData name="Viktoria Oprikova" userId="835d1643-4642-4ced-a4c3-f92f9b8f30fa" providerId="ADAL" clId="{71C4C6D5-3359-4615-8162-C5D031076CAB}" dt="2026-10-06T08:13:45.264" v="1032" actId="22"/>
          <ac:picMkLst>
            <pc:docMk/>
            <pc:sldMk cId="0" sldId="278"/>
            <ac:picMk id="40" creationId="{7BFD6D54-F628-10FD-CECC-653F12647917}"/>
          </ac:picMkLst>
        </pc:picChg>
        <pc:picChg chg="add">
          <ac:chgData name="Viktoria Oprikova" userId="835d1643-4642-4ced-a4c3-f92f9b8f30fa" providerId="ADAL" clId="{71C4C6D5-3359-4615-8162-C5D031076CAB}" dt="2026-10-06T08:13:45.264" v="1032" actId="22"/>
          <ac:picMkLst>
            <pc:docMk/>
            <pc:sldMk cId="0" sldId="278"/>
            <ac:picMk id="42" creationId="{983CA2E5-8CB7-2E15-2129-6B1B9B865C24}"/>
          </ac:picMkLst>
        </pc:picChg>
      </pc:sldChg>
      <pc:sldChg chg="addSp delSp modSp mod">
        <pc:chgData name="Viktoria Oprikova" userId="835d1643-4642-4ced-a4c3-f92f9b8f30fa" providerId="ADAL" clId="{71C4C6D5-3359-4615-8162-C5D031076CAB}" dt="2026-10-06T08:14:00.972" v="1054" actId="478"/>
        <pc:sldMkLst>
          <pc:docMk/>
          <pc:sldMk cId="0" sldId="279"/>
        </pc:sldMkLst>
        <pc:spChg chg="mod">
          <ac:chgData name="Viktoria Oprikova" userId="835d1643-4642-4ced-a4c3-f92f9b8f30fa" providerId="ADAL" clId="{71C4C6D5-3359-4615-8162-C5D031076CAB}" dt="2026-10-06T08:13:58.174" v="1052" actId="207"/>
          <ac:spMkLst>
            <pc:docMk/>
            <pc:sldMk cId="0" sldId="279"/>
            <ac:spMk id="3" creationId="{00000000-0000-0000-0000-000000000000}"/>
          </ac:spMkLst>
        </pc:spChg>
        <pc:picChg chg="add">
          <ac:chgData name="Viktoria Oprikova" userId="835d1643-4642-4ced-a4c3-f92f9b8f30fa" providerId="ADAL" clId="{71C4C6D5-3359-4615-8162-C5D031076CAB}" dt="2026-10-06T08:13:58.795" v="1053" actId="22"/>
          <ac:picMkLst>
            <pc:docMk/>
            <pc:sldMk cId="0" sldId="279"/>
            <ac:picMk id="22" creationId="{6D172719-2FD7-293F-D449-232C19BE12A4}"/>
          </ac:picMkLst>
        </pc:picChg>
        <pc:picChg chg="add del">
          <ac:chgData name="Viktoria Oprikova" userId="835d1643-4642-4ced-a4c3-f92f9b8f30fa" providerId="ADAL" clId="{71C4C6D5-3359-4615-8162-C5D031076CAB}" dt="2026-10-06T08:14:00.972" v="1054" actId="478"/>
          <ac:picMkLst>
            <pc:docMk/>
            <pc:sldMk cId="0" sldId="279"/>
            <ac:picMk id="24" creationId="{47C0803B-8428-2A72-C63E-C193B4AA2DF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914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Chapter A: The industry today. Currency: US dollars at Rs 85 per dollar; shelf prices stay in rupees with the dollar value beside them. Labels: (F) published source, (I) TMC books or earlier Fast Track work, (E) Fast Track estimate, (H) hypothesis to test.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Basis: 107 prices read on 3 October 2026 from brand sites, Nykaa Man and BigBasket; Amazon not read. Home pages, product pages and listings read in October 2026. Packaging rests on trade press and listings, not on seeing the packs. Each price and quote needs one manual check before it goes on a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brands and mass brands overlap at Rs 4 to 8 per ml. There is no price gap between Fogg and Beardo to speak of; the gap is in the story. In dollars: core band $5.3 to 9.4; mass floor $4.8 to 5.7; premium $14 and above.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 counts come from different sites and are not strictly comparable. Wild Stone Edge has about 65,900 ratings on Myntra (I). Sales are the latest filed figures (Chapter A, section 2.2).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brands say the same thing in five costumes, and the brands that say something only they say hold the margin. Chapter A, section 8 covers campaigns; this section covers what each brand tells a buyer on its own page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men's packs are black and look alike. The packs documented as working changed for a commercial reason: to be seen on a shelf, to be read on a phone, to hit an entry price, or to prove a value claim. The evidence here is thinner than in any other section; it rests on trade press and listings, not on seeing the packs.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1110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711200"/>
            <a:ext cx="10566400" cy="365125"/>
          </a:xfrm>
          <a:prstGeom prst="rect">
            <a:avLst/>
          </a:prstGeom>
          <a:noFill/>
          <a:ln/>
        </p:spPr>
        <p:txBody>
          <a:bodyPr wrap="square" lIns="0" tIns="0" rIns="0" bIns="0" rtlCol="0" anchor="t"/>
          <a:lstStyle>
            <a:lvl1pPr marL="0" indent="0" algn="l">
              <a:lnSpc>
                <a:spcPct val="115000"/>
              </a:lnSpc>
              <a:buNone/>
              <a:defRPr lang="en-US" sz="2500" dirty="0">
                <a:solidFill>
                  <a:srgbClr val="F4F0E8"/>
                </a:solidFill>
                <a:latin typeface="Oswald" pitchFamily="34" charset="0"/>
                <a:ea typeface="Oswald" pitchFamily="34" charset="-122"/>
                <a:cs typeface="Oswald" pitchFamily="34" charset="-120"/>
              </a:defRPr>
            </a:lvl1pPr>
          </a:lstStyle>
          <a:p>
            <a:pPr marL="0" indent="0" algn="l">
              <a:lnSpc>
                <a:spcPct val="115000"/>
              </a:lnSpc>
              <a:buNone/>
            </a:pPr>
            <a:endParaRPr lang="en-US" sz="2500" dirty="0"/>
          </a:p>
        </p:txBody>
      </p:sp>
      <p:sp>
        <p:nvSpPr>
          <p:cNvPr id="3" name="Text Placeholder 2"/>
          <p:cNvSpPr>
            <a:spLocks noGrp="1"/>
          </p:cNvSpPr>
          <p:nvPr>
            <p:ph type="body" idx="101"/>
          </p:nvPr>
        </p:nvSpPr>
        <p:spPr>
          <a:xfrm>
            <a:off x="812800" y="1381125"/>
            <a:ext cx="10566400" cy="4664075"/>
          </a:xfrm>
          <a:prstGeom prst="rect">
            <a:avLst/>
          </a:prstGeom>
          <a:noFill/>
          <a:ln/>
        </p:spPr>
        <p:txBody>
          <a:bodyPr wrap="square" lIns="0" tIns="0" rIns="0" bIns="0" rtlCol="0" anchor="t"/>
          <a:lstStyle>
            <a:lvl1pPr marL="0" indent="0" algn="l">
              <a:lnSpc>
                <a:spcPct val="140000"/>
              </a:lnSpc>
              <a:buNone/>
              <a:defRPr lang="en-US" sz="1600" dirty="0">
                <a:solidFill>
                  <a:srgbClr val="F4F0E8"/>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10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711200"/>
            <a:ext cx="10566400" cy="365125"/>
          </a:xfrm>
          <a:prstGeom prst="rect">
            <a:avLst/>
          </a:prstGeom>
          <a:noFill/>
          <a:ln/>
        </p:spPr>
        <p:txBody>
          <a:bodyPr wrap="square" lIns="0" tIns="0" rIns="0" bIns="0" rtlCol="0" anchor="t"/>
          <a:lstStyle>
            <a:lvl1pPr marL="0" indent="0" algn="l">
              <a:lnSpc>
                <a:spcPct val="115000"/>
              </a:lnSpc>
              <a:buNone/>
              <a:defRPr lang="en-US" sz="2500" dirty="0">
                <a:solidFill>
                  <a:srgbClr val="F4F0E8"/>
                </a:solidFill>
                <a:latin typeface="Oswald" pitchFamily="34" charset="0"/>
                <a:ea typeface="Oswald" pitchFamily="34" charset="-122"/>
                <a:cs typeface="Oswald" pitchFamily="34" charset="-120"/>
              </a:defRPr>
            </a:lvl1pPr>
          </a:lstStyle>
          <a:p>
            <a:pPr marL="0" indent="0" algn="l">
              <a:lnSpc>
                <a:spcPct val="115000"/>
              </a:lnSpc>
              <a:buNone/>
            </a:pPr>
            <a:endParaRPr lang="en-US" sz="2500" dirty="0"/>
          </a:p>
        </p:txBody>
      </p:sp>
      <p:sp>
        <p:nvSpPr>
          <p:cNvPr id="3" name="Text Placeholder 2"/>
          <p:cNvSpPr>
            <a:spLocks noGrp="1"/>
          </p:cNvSpPr>
          <p:nvPr>
            <p:ph type="body" idx="101"/>
          </p:nvPr>
        </p:nvSpPr>
        <p:spPr>
          <a:xfrm>
            <a:off x="812800" y="1381125"/>
            <a:ext cx="10566400" cy="4664075"/>
          </a:xfrm>
          <a:prstGeom prst="rect">
            <a:avLst/>
          </a:prstGeom>
          <a:noFill/>
          <a:ln/>
        </p:spPr>
        <p:txBody>
          <a:bodyPr wrap="square" lIns="0" tIns="0" rIns="0" bIns="0" rtlCol="0" anchor="t"/>
          <a:lstStyle>
            <a:lvl1pPr marL="0" indent="0" algn="l">
              <a:lnSpc>
                <a:spcPct val="140000"/>
              </a:lnSpc>
              <a:buNone/>
              <a:defRPr lang="en-US" sz="1600" dirty="0">
                <a:solidFill>
                  <a:srgbClr val="F4F0E8"/>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0F"/>
        </a:solidFill>
        <a:effectLst/>
      </p:bgPr>
    </p:bg>
    <p:spTree>
      <p:nvGrpSpPr>
        <p:cNvPr id="1" name=""/>
        <p:cNvGrpSpPr/>
        <p:nvPr/>
      </p:nvGrpSpPr>
      <p:grpSpPr>
        <a:xfrm>
          <a:off x="0" y="0"/>
          <a:ext cx="0" cy="0"/>
          <a:chOff x="0" y="0"/>
          <a:chExt cx="0" cy="0"/>
        </a:xfrm>
      </p:grpSpPr>
      <p:sp>
        <p:nvSpPr>
          <p:cNvPr id="2" name="Shape 0"/>
          <p:cNvSpPr/>
          <p:nvPr/>
        </p:nvSpPr>
        <p:spPr>
          <a:xfrm>
            <a:off x="812800" y="812800"/>
            <a:ext cx="609600" cy="76200"/>
          </a:xfrm>
          <a:prstGeom prst="rect">
            <a:avLst/>
          </a:prstGeom>
          <a:solidFill>
            <a:srgbClr val="FFF460"/>
          </a:solidFill>
          <a:ln/>
        </p:spPr>
        <p:txBody>
          <a:bodyPr/>
          <a:lstStyle/>
          <a:p>
            <a:endParaRPr lang="en-US"/>
          </a:p>
        </p:txBody>
      </p:sp>
      <p:sp>
        <p:nvSpPr>
          <p:cNvPr id="3" name="Text 1"/>
          <p:cNvSpPr/>
          <p:nvPr/>
        </p:nvSpPr>
        <p:spPr>
          <a:xfrm>
            <a:off x="812800" y="1117600"/>
            <a:ext cx="981075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THE MAN COMPANY  ·  FINAL PRESENTATION  ·  COMPANION TO CHAPTER A</a:t>
            </a:r>
            <a:endParaRPr lang="en-US" sz="1200" dirty="0"/>
          </a:p>
        </p:txBody>
      </p:sp>
      <p:sp>
        <p:nvSpPr>
          <p:cNvPr id="4" name="Text 2"/>
          <p:cNvSpPr>
            <a:spLocks noGrp="1"/>
          </p:cNvSpPr>
          <p:nvPr>
            <p:ph type="title"/>
          </p:nvPr>
        </p:nvSpPr>
        <p:spPr>
          <a:xfrm>
            <a:off x="812800" y="1587500"/>
            <a:ext cx="10883392" cy="1092200"/>
          </a:xfrm>
          <a:prstGeom prst="rect">
            <a:avLst/>
          </a:prstGeom>
          <a:noFill/>
          <a:ln/>
        </p:spPr>
        <p:txBody>
          <a:bodyPr wrap="square" lIns="0" tIns="0" rIns="0" bIns="0" rtlCol="0" anchor="t">
            <a:normAutofit/>
          </a:bodyPr>
          <a:lstStyle/>
          <a:p>
            <a:pPr marL="0" indent="0" algn="l">
              <a:lnSpc>
                <a:spcPts val="8400"/>
              </a:lnSpc>
              <a:buNone/>
            </a:pPr>
            <a:r>
              <a:rPr lang="en-US" sz="8400" b="0" i="0" dirty="0">
                <a:solidFill>
                  <a:srgbClr val="F4F0E8"/>
                </a:solidFill>
                <a:latin typeface="Oswald" pitchFamily="34" charset="0"/>
                <a:ea typeface="Oswald" pitchFamily="34" charset="-122"/>
                <a:cs typeface="Oswald" pitchFamily="34" charset="-120"/>
              </a:rPr>
              <a:t>PRICE, MESSAGE, PACK</a:t>
            </a:r>
            <a:endParaRPr lang="en-US" sz="8400" dirty="0"/>
          </a:p>
        </p:txBody>
      </p:sp>
      <p:sp>
        <p:nvSpPr>
          <p:cNvPr id="5" name="Text 3"/>
          <p:cNvSpPr/>
          <p:nvPr/>
        </p:nvSpPr>
        <p:spPr>
          <a:xfrm>
            <a:off x="812800" y="2921000"/>
            <a:ext cx="9810750" cy="405077"/>
          </a:xfrm>
          <a:prstGeom prst="rect">
            <a:avLst/>
          </a:prstGeom>
          <a:noFill/>
          <a:ln/>
        </p:spPr>
        <p:txBody>
          <a:bodyPr wrap="square" lIns="0" tIns="0" rIns="0" bIns="0" rtlCol="0" anchor="t">
            <a:normAutofit/>
          </a:bodyPr>
          <a:lstStyle/>
          <a:p>
            <a:pPr marL="0" indent="0" algn="l">
              <a:lnSpc>
                <a:spcPts val="2990"/>
              </a:lnSpc>
              <a:buNone/>
            </a:pPr>
            <a:r>
              <a:rPr lang="en-US" sz="2600" dirty="0">
                <a:solidFill>
                  <a:srgbClr val="FFF460"/>
                </a:solidFill>
                <a:latin typeface="Oswald" pitchFamily="34" charset="0"/>
                <a:ea typeface="Oswald" pitchFamily="34" charset="-122"/>
                <a:cs typeface="Oswald" pitchFamily="34" charset="-120"/>
              </a:rPr>
              <a:t>What each brand charges, says and shows, and what works</a:t>
            </a:r>
            <a:endParaRPr lang="en-US" sz="2600" dirty="0"/>
          </a:p>
        </p:txBody>
      </p:sp>
      <p:sp>
        <p:nvSpPr>
          <p:cNvPr id="6" name="Text 4"/>
          <p:cNvSpPr/>
          <p:nvPr/>
        </p:nvSpPr>
        <p:spPr>
          <a:xfrm>
            <a:off x="812800" y="3873500"/>
            <a:ext cx="1137920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5B0A3"/>
                </a:solidFill>
                <a:latin typeface="DM Sans" pitchFamily="34" charset="0"/>
                <a:ea typeface="DM Sans" pitchFamily="34" charset="-122"/>
                <a:cs typeface="DM Sans" pitchFamily="34" charset="-120"/>
              </a:rPr>
              <a:t>Price map  ·  price against sales and brand power  ·  messages  ·  packaging  ·  how the team collects the evidence</a:t>
            </a:r>
            <a:endParaRPr lang="en-US" sz="1400" dirty="0"/>
          </a:p>
        </p:txBody>
      </p:sp>
      <p:sp>
        <p:nvSpPr>
          <p:cNvPr id="7" name="Text 5"/>
          <p:cNvSpPr/>
          <p:nvPr/>
        </p:nvSpPr>
        <p:spPr>
          <a:xfrm>
            <a:off x="812800" y="62611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OCTOBER 2026  ·  CONFIDENTIAL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THE ANSWER FIRST</a:t>
            </a:r>
            <a:endParaRPr lang="en-US" sz="1200" dirty="0"/>
          </a:p>
        </p:txBody>
      </p:sp>
      <p:sp>
        <p:nvSpPr>
          <p:cNvPr id="3" name="Text 1"/>
          <p:cNvSpPr>
            <a:spLocks noGrp="1"/>
          </p:cNvSpPr>
          <p:nvPr>
            <p:ph type="title"/>
          </p:nvPr>
        </p:nvSpPr>
        <p:spPr>
          <a:xfrm>
            <a:off x="812800" y="711200"/>
            <a:ext cx="10883392" cy="755650"/>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The brands that win charge a real price, say one checkable thing, and let the pack prove it; TMC does none of the three yet</a:t>
            </a:r>
            <a:endParaRPr lang="en-US" sz="2500" dirty="0"/>
          </a:p>
        </p:txBody>
      </p:sp>
      <p:sp>
        <p:nvSpPr>
          <p:cNvPr id="4" name="Shape 2"/>
          <p:cNvSpPr/>
          <p:nvPr/>
        </p:nvSpPr>
        <p:spPr>
          <a:xfrm>
            <a:off x="812800" y="2032000"/>
            <a:ext cx="3416300" cy="2095500"/>
          </a:xfrm>
          <a:prstGeom prst="rect">
            <a:avLst/>
          </a:prstGeom>
          <a:solidFill>
            <a:srgbClr val="1D1C19"/>
          </a:solidFill>
          <a:ln/>
        </p:spPr>
        <p:txBody>
          <a:bodyPr/>
          <a:lstStyle/>
          <a:p>
            <a:endParaRPr lang="en-US"/>
          </a:p>
        </p:txBody>
      </p:sp>
      <p:sp>
        <p:nvSpPr>
          <p:cNvPr id="5" name="Text 3"/>
          <p:cNvSpPr/>
          <p:nvPr/>
        </p:nvSpPr>
        <p:spPr>
          <a:xfrm>
            <a:off x="990600" y="2209800"/>
            <a:ext cx="3152521" cy="505420"/>
          </a:xfrm>
          <a:prstGeom prst="rect">
            <a:avLst/>
          </a:prstGeom>
          <a:noFill/>
          <a:ln/>
        </p:spPr>
        <p:txBody>
          <a:bodyPr wrap="none" lIns="0" tIns="0" rIns="0" bIns="0" rtlCol="0" anchor="t">
            <a:normAutofit/>
          </a:bodyPr>
          <a:lstStyle/>
          <a:p>
            <a:pPr marL="0" indent="0" algn="l">
              <a:lnSpc>
                <a:spcPts val="3780"/>
              </a:lnSpc>
              <a:buNone/>
            </a:pPr>
            <a:r>
              <a:rPr lang="en-US" sz="3600" dirty="0">
                <a:solidFill>
                  <a:srgbClr val="FFF460"/>
                </a:solidFill>
                <a:latin typeface="Oswald" pitchFamily="34" charset="0"/>
                <a:ea typeface="Oswald" pitchFamily="34" charset="-122"/>
                <a:cs typeface="Oswald" pitchFamily="34" charset="-120"/>
              </a:rPr>
              <a:t>PRICE</a:t>
            </a:r>
            <a:endParaRPr lang="en-US" sz="3600" dirty="0"/>
          </a:p>
        </p:txBody>
      </p:sp>
      <p:sp>
        <p:nvSpPr>
          <p:cNvPr id="6" name="Text 4"/>
          <p:cNvSpPr/>
          <p:nvPr/>
        </p:nvSpPr>
        <p:spPr>
          <a:xfrm>
            <a:off x="990600" y="2766020"/>
            <a:ext cx="3152521"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Winners sell near list price. TMC's Black shows two list prices and sells from Rs 180 to Rs 740: an 80% discount.</a:t>
            </a:r>
            <a:endParaRPr lang="en-US" sz="1200" dirty="0"/>
          </a:p>
        </p:txBody>
      </p:sp>
      <p:sp>
        <p:nvSpPr>
          <p:cNvPr id="7" name="Shape 5"/>
          <p:cNvSpPr/>
          <p:nvPr/>
        </p:nvSpPr>
        <p:spPr>
          <a:xfrm>
            <a:off x="4381500" y="2032000"/>
            <a:ext cx="3416300" cy="2095500"/>
          </a:xfrm>
          <a:prstGeom prst="rect">
            <a:avLst/>
          </a:prstGeom>
          <a:solidFill>
            <a:srgbClr val="1D1C19"/>
          </a:solidFill>
          <a:ln/>
        </p:spPr>
        <p:txBody>
          <a:bodyPr/>
          <a:lstStyle/>
          <a:p>
            <a:endParaRPr lang="en-US"/>
          </a:p>
        </p:txBody>
      </p:sp>
      <p:sp>
        <p:nvSpPr>
          <p:cNvPr id="8" name="Text 6"/>
          <p:cNvSpPr/>
          <p:nvPr/>
        </p:nvSpPr>
        <p:spPr>
          <a:xfrm>
            <a:off x="4559300" y="2209800"/>
            <a:ext cx="3152521" cy="505420"/>
          </a:xfrm>
          <a:prstGeom prst="rect">
            <a:avLst/>
          </a:prstGeom>
          <a:noFill/>
          <a:ln/>
        </p:spPr>
        <p:txBody>
          <a:bodyPr wrap="none" lIns="0" tIns="0" rIns="0" bIns="0" rtlCol="0" anchor="t">
            <a:normAutofit/>
          </a:bodyPr>
          <a:lstStyle/>
          <a:p>
            <a:pPr marL="0" indent="0" algn="l">
              <a:lnSpc>
                <a:spcPts val="3780"/>
              </a:lnSpc>
              <a:buNone/>
            </a:pPr>
            <a:r>
              <a:rPr lang="en-US" sz="3600" dirty="0">
                <a:solidFill>
                  <a:srgbClr val="FFF460"/>
                </a:solidFill>
                <a:latin typeface="Oswald" pitchFamily="34" charset="0"/>
                <a:ea typeface="Oswald" pitchFamily="34" charset="-122"/>
                <a:cs typeface="Oswald" pitchFamily="34" charset="-120"/>
              </a:rPr>
              <a:t>MESSAGE</a:t>
            </a:r>
            <a:endParaRPr lang="en-US" sz="3600" dirty="0"/>
          </a:p>
        </p:txBody>
      </p:sp>
      <p:sp>
        <p:nvSpPr>
          <p:cNvPr id="9" name="Text 7"/>
          <p:cNvSpPr/>
          <p:nvPr/>
        </p:nvSpPr>
        <p:spPr>
          <a:xfrm>
            <a:off x="4559300" y="2766020"/>
            <a:ext cx="3152521" cy="81782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Winners name a number, a percentage or a guarantee. TMC is one of five persona brands, and its page opens with the discount.</a:t>
            </a:r>
            <a:endParaRPr lang="en-US" sz="1200" dirty="0"/>
          </a:p>
        </p:txBody>
      </p:sp>
      <p:sp>
        <p:nvSpPr>
          <p:cNvPr id="10" name="Shape 8"/>
          <p:cNvSpPr/>
          <p:nvPr/>
        </p:nvSpPr>
        <p:spPr>
          <a:xfrm>
            <a:off x="7950200" y="2032000"/>
            <a:ext cx="3416300" cy="2095500"/>
          </a:xfrm>
          <a:prstGeom prst="rect">
            <a:avLst/>
          </a:prstGeom>
          <a:solidFill>
            <a:srgbClr val="1D1C19"/>
          </a:solidFill>
          <a:ln/>
        </p:spPr>
        <p:txBody>
          <a:bodyPr/>
          <a:lstStyle/>
          <a:p>
            <a:endParaRPr lang="en-US"/>
          </a:p>
        </p:txBody>
      </p:sp>
      <p:sp>
        <p:nvSpPr>
          <p:cNvPr id="11" name="Text 9"/>
          <p:cNvSpPr/>
          <p:nvPr/>
        </p:nvSpPr>
        <p:spPr>
          <a:xfrm>
            <a:off x="8128000" y="2209800"/>
            <a:ext cx="3152521" cy="505420"/>
          </a:xfrm>
          <a:prstGeom prst="rect">
            <a:avLst/>
          </a:prstGeom>
          <a:noFill/>
          <a:ln/>
        </p:spPr>
        <p:txBody>
          <a:bodyPr wrap="none" lIns="0" tIns="0" rIns="0" bIns="0" rtlCol="0" anchor="t">
            <a:normAutofit/>
          </a:bodyPr>
          <a:lstStyle/>
          <a:p>
            <a:pPr marL="0" indent="0" algn="l">
              <a:lnSpc>
                <a:spcPts val="3780"/>
              </a:lnSpc>
              <a:buNone/>
            </a:pPr>
            <a:r>
              <a:rPr lang="en-US" sz="3600" dirty="0">
                <a:solidFill>
                  <a:srgbClr val="FFF460"/>
                </a:solidFill>
                <a:latin typeface="Oswald" pitchFamily="34" charset="0"/>
                <a:ea typeface="Oswald" pitchFamily="34" charset="-122"/>
                <a:cs typeface="Oswald" pitchFamily="34" charset="-120"/>
              </a:rPr>
              <a:t>PACK</a:t>
            </a:r>
            <a:endParaRPr lang="en-US" sz="3600" dirty="0"/>
          </a:p>
        </p:txBody>
      </p:sp>
      <p:sp>
        <p:nvSpPr>
          <p:cNvPr id="12" name="Text 10"/>
          <p:cNvSpPr/>
          <p:nvPr/>
        </p:nvSpPr>
        <p:spPr>
          <a:xfrm>
            <a:off x="8128000" y="2766020"/>
            <a:ext cx="3152521"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Winning packs prove the claim or break the black shelf. Rivals offer a trial at Rs 59 to 149. No TMC mini was found.</a:t>
            </a:r>
            <a:endParaRPr lang="en-US" sz="1200" dirty="0"/>
          </a:p>
        </p:txBody>
      </p:sp>
      <p:sp>
        <p:nvSpPr>
          <p:cNvPr id="13" name="Text 11"/>
          <p:cNvSpPr/>
          <p:nvPr/>
        </p:nvSpPr>
        <p:spPr>
          <a:xfrm>
            <a:off x="812800" y="4546600"/>
            <a:ext cx="10566400" cy="673100"/>
          </a:xfrm>
          <a:prstGeom prst="rect">
            <a:avLst/>
          </a:prstGeom>
          <a:solidFill>
            <a:srgbClr val="FFF460"/>
          </a:solidFill>
          <a:ln/>
        </p:spPr>
        <p:txBody>
          <a:bodyPr wrap="none" lIns="0" tIns="0" rIns="0" bIns="0" rtlCol="0" anchor="ctr">
            <a:normAutofit/>
          </a:bodyPr>
          <a:lstStyle/>
          <a:p>
            <a:pPr marL="0" indent="0" algn="ctr">
              <a:lnSpc>
                <a:spcPts val="1750"/>
              </a:lnSpc>
              <a:buNone/>
            </a:pPr>
            <a:r>
              <a:rPr lang="en-US" sz="1400" b="1" dirty="0">
                <a:solidFill>
                  <a:srgbClr val="14140F"/>
                </a:solidFill>
                <a:latin typeface="DM Sans" pitchFamily="34" charset="0"/>
                <a:ea typeface="DM Sans" pitchFamily="34" charset="-122"/>
                <a:cs typeface="DM Sans" pitchFamily="34" charset="-120"/>
              </a:rPr>
              <a:t>Price level does not explain who sells more. Brand power shows in how little a brand discounts, not in how high it lists.</a:t>
            </a:r>
            <a:endParaRPr lang="en-US" sz="1400" dirty="0"/>
          </a:p>
        </p:txBody>
      </p:sp>
      <p:sp>
        <p:nvSpPr>
          <p:cNvPr id="14" name="Text 12"/>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107 prices read 3 October 2026; brand pages; trade press (F, through a page reader)</a:t>
            </a:r>
            <a:endParaRPr lang="en-US" sz="1200" dirty="0"/>
          </a:p>
        </p:txBody>
      </p:sp>
      <p:sp>
        <p:nvSpPr>
          <p:cNvPr id="15" name="Text 13"/>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2</a:t>
            </a:r>
            <a:endParaRPr lang="en-US" sz="1200" dirty="0"/>
          </a:p>
        </p:txBody>
      </p:sp>
      <p:pic>
        <p:nvPicPr>
          <p:cNvPr id="17" name="Graphic 16" descr="Blueprint with solid fill">
            <a:extLst>
              <a:ext uri="{FF2B5EF4-FFF2-40B4-BE49-F238E27FC236}">
                <a16:creationId xmlns:a16="http://schemas.microsoft.com/office/drawing/2014/main" id="{1557BA70-DB49-C88C-A692-429EE8B99E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Perfume is one band: new brands and mass brands overlap at Rs 449 to 799</a:t>
            </a:r>
            <a:endParaRPr lang="en-US" sz="2500" dirty="0"/>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235458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PERFUME, 100 ML</a:t>
            </a:r>
            <a:endParaRPr lang="en-US" sz="1200" dirty="0"/>
          </a:p>
        </p:txBody>
      </p:sp>
      <p:sp>
        <p:nvSpPr>
          <p:cNvPr id="6" name="Text 4"/>
          <p:cNvSpPr/>
          <p:nvPr/>
        </p:nvSpPr>
        <p:spPr>
          <a:xfrm>
            <a:off x="3225800" y="1879600"/>
            <a:ext cx="5193157"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SELLING PRICE</a:t>
            </a:r>
            <a:endParaRPr lang="en-US" sz="1200" dirty="0"/>
          </a:p>
        </p:txBody>
      </p:sp>
      <p:sp>
        <p:nvSpPr>
          <p:cNvPr id="7" name="Text 5"/>
          <p:cNvSpPr/>
          <p:nvPr/>
        </p:nvSpPr>
        <p:spPr>
          <a:xfrm>
            <a:off x="8394700" y="1879600"/>
            <a:ext cx="307403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NOTE</a:t>
            </a:r>
            <a:endParaRPr lang="en-US" sz="1200" dirty="0"/>
          </a:p>
        </p:txBody>
      </p:sp>
      <p:sp>
        <p:nvSpPr>
          <p:cNvPr id="8" name="Shape 6"/>
          <p:cNvSpPr/>
          <p:nvPr/>
        </p:nvSpPr>
        <p:spPr>
          <a:xfrm>
            <a:off x="812800" y="2447925"/>
            <a:ext cx="10566400" cy="0"/>
          </a:xfrm>
          <a:prstGeom prst="line">
            <a:avLst/>
          </a:prstGeom>
          <a:noFill/>
          <a:ln w="6350">
            <a:solidFill>
              <a:srgbClr val="3A3832"/>
            </a:solidFill>
            <a:prstDash val="solid"/>
          </a:ln>
        </p:spPr>
        <p:txBody>
          <a:bodyPr/>
          <a:lstStyle/>
          <a:p>
            <a:endParaRPr lang="en-US"/>
          </a:p>
        </p:txBody>
      </p:sp>
      <p:sp>
        <p:nvSpPr>
          <p:cNvPr id="9" name="Text 7"/>
          <p:cNvSpPr/>
          <p:nvPr/>
        </p:nvSpPr>
        <p:spPr>
          <a:xfrm>
            <a:off x="812800" y="22140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Titan Skinn (50 ml)</a:t>
            </a:r>
            <a:endParaRPr lang="en-US" sz="1200" dirty="0"/>
          </a:p>
        </p:txBody>
      </p:sp>
      <p:sp>
        <p:nvSpPr>
          <p:cNvPr id="10" name="Shape 8"/>
          <p:cNvSpPr/>
          <p:nvPr/>
        </p:nvSpPr>
        <p:spPr>
          <a:xfrm>
            <a:off x="3225800" y="2239434"/>
            <a:ext cx="4089400" cy="139700"/>
          </a:xfrm>
          <a:prstGeom prst="rect">
            <a:avLst/>
          </a:prstGeom>
          <a:solidFill>
            <a:srgbClr val="8F8A7C"/>
          </a:solidFill>
          <a:ln/>
        </p:spPr>
        <p:txBody>
          <a:bodyPr/>
          <a:lstStyle/>
          <a:p>
            <a:endParaRPr lang="en-US"/>
          </a:p>
        </p:txBody>
      </p:sp>
      <p:sp>
        <p:nvSpPr>
          <p:cNvPr id="11" name="Text 9"/>
          <p:cNvSpPr/>
          <p:nvPr/>
        </p:nvSpPr>
        <p:spPr>
          <a:xfrm>
            <a:off x="7391400" y="2214034"/>
            <a:ext cx="59233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1,716</a:t>
            </a:r>
            <a:endParaRPr lang="en-US" sz="1200" dirty="0"/>
          </a:p>
        </p:txBody>
      </p:sp>
      <p:sp>
        <p:nvSpPr>
          <p:cNvPr id="12" name="Text 10"/>
          <p:cNvSpPr/>
          <p:nvPr/>
        </p:nvSpPr>
        <p:spPr>
          <a:xfrm>
            <a:off x="8394700" y="22140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Premium</a:t>
            </a:r>
            <a:endParaRPr lang="en-US" sz="1200" dirty="0"/>
          </a:p>
        </p:txBody>
      </p:sp>
      <p:sp>
        <p:nvSpPr>
          <p:cNvPr id="13" name="Shape 11"/>
          <p:cNvSpPr/>
          <p:nvPr/>
        </p:nvSpPr>
        <p:spPr>
          <a:xfrm>
            <a:off x="812800" y="2727325"/>
            <a:ext cx="10566400" cy="0"/>
          </a:xfrm>
          <a:prstGeom prst="line">
            <a:avLst/>
          </a:prstGeom>
          <a:noFill/>
          <a:ln w="6350">
            <a:solidFill>
              <a:srgbClr val="3A3832"/>
            </a:solidFill>
            <a:prstDash val="solid"/>
          </a:ln>
        </p:spPr>
        <p:txBody>
          <a:bodyPr/>
          <a:lstStyle/>
          <a:p>
            <a:endParaRPr lang="en-US"/>
          </a:p>
        </p:txBody>
      </p:sp>
      <p:sp>
        <p:nvSpPr>
          <p:cNvPr id="14" name="Text 12"/>
          <p:cNvSpPr/>
          <p:nvPr/>
        </p:nvSpPr>
        <p:spPr>
          <a:xfrm>
            <a:off x="812800" y="24934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Ajmal</a:t>
            </a:r>
            <a:endParaRPr lang="en-US" sz="1200" dirty="0"/>
          </a:p>
        </p:txBody>
      </p:sp>
      <p:sp>
        <p:nvSpPr>
          <p:cNvPr id="15" name="Shape 13"/>
          <p:cNvSpPr/>
          <p:nvPr/>
        </p:nvSpPr>
        <p:spPr>
          <a:xfrm>
            <a:off x="3225800" y="2518834"/>
            <a:ext cx="2857500" cy="139700"/>
          </a:xfrm>
          <a:prstGeom prst="rect">
            <a:avLst/>
          </a:prstGeom>
          <a:solidFill>
            <a:srgbClr val="8F8A7C"/>
          </a:solidFill>
          <a:ln/>
        </p:spPr>
        <p:txBody>
          <a:bodyPr/>
          <a:lstStyle/>
          <a:p>
            <a:endParaRPr lang="en-US"/>
          </a:p>
        </p:txBody>
      </p:sp>
      <p:sp>
        <p:nvSpPr>
          <p:cNvPr id="16" name="Text 14"/>
          <p:cNvSpPr/>
          <p:nvPr/>
        </p:nvSpPr>
        <p:spPr>
          <a:xfrm>
            <a:off x="6159500" y="2493434"/>
            <a:ext cx="657490"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1,200</a:t>
            </a:r>
            <a:endParaRPr lang="en-US" sz="1200" dirty="0"/>
          </a:p>
        </p:txBody>
      </p:sp>
      <p:sp>
        <p:nvSpPr>
          <p:cNvPr id="17" name="Text 15"/>
          <p:cNvSpPr/>
          <p:nvPr/>
        </p:nvSpPr>
        <p:spPr>
          <a:xfrm>
            <a:off x="8394700" y="24934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Premium</a:t>
            </a:r>
            <a:endParaRPr lang="en-US" sz="1200" dirty="0"/>
          </a:p>
        </p:txBody>
      </p:sp>
      <p:sp>
        <p:nvSpPr>
          <p:cNvPr id="18" name="Shape 16"/>
          <p:cNvSpPr/>
          <p:nvPr/>
        </p:nvSpPr>
        <p:spPr>
          <a:xfrm>
            <a:off x="812800" y="3006725"/>
            <a:ext cx="10566400" cy="0"/>
          </a:xfrm>
          <a:prstGeom prst="line">
            <a:avLst/>
          </a:prstGeom>
          <a:noFill/>
          <a:ln w="6350">
            <a:solidFill>
              <a:srgbClr val="3A3832"/>
            </a:solidFill>
            <a:prstDash val="solid"/>
          </a:ln>
        </p:spPr>
        <p:txBody>
          <a:bodyPr/>
          <a:lstStyle/>
          <a:p>
            <a:endParaRPr lang="en-US"/>
          </a:p>
        </p:txBody>
      </p:sp>
      <p:sp>
        <p:nvSpPr>
          <p:cNvPr id="19" name="Text 17"/>
          <p:cNvSpPr/>
          <p:nvPr/>
        </p:nvSpPr>
        <p:spPr>
          <a:xfrm>
            <a:off x="812800" y="27728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Villain</a:t>
            </a:r>
            <a:endParaRPr lang="en-US" sz="1200" dirty="0"/>
          </a:p>
        </p:txBody>
      </p:sp>
      <p:sp>
        <p:nvSpPr>
          <p:cNvPr id="20" name="Shape 18"/>
          <p:cNvSpPr/>
          <p:nvPr/>
        </p:nvSpPr>
        <p:spPr>
          <a:xfrm>
            <a:off x="3225800" y="2798234"/>
            <a:ext cx="1898650" cy="139700"/>
          </a:xfrm>
          <a:prstGeom prst="rect">
            <a:avLst/>
          </a:prstGeom>
          <a:solidFill>
            <a:srgbClr val="8F8A7C"/>
          </a:solidFill>
          <a:ln/>
        </p:spPr>
        <p:txBody>
          <a:bodyPr/>
          <a:lstStyle/>
          <a:p>
            <a:endParaRPr lang="en-US"/>
          </a:p>
        </p:txBody>
      </p:sp>
      <p:sp>
        <p:nvSpPr>
          <p:cNvPr id="21" name="Text 19"/>
          <p:cNvSpPr/>
          <p:nvPr/>
        </p:nvSpPr>
        <p:spPr>
          <a:xfrm>
            <a:off x="5200650" y="2772834"/>
            <a:ext cx="535980"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799</a:t>
            </a:r>
            <a:endParaRPr lang="en-US" sz="1200" dirty="0"/>
          </a:p>
        </p:txBody>
      </p:sp>
      <p:sp>
        <p:nvSpPr>
          <p:cNvPr id="22" name="Shape 20"/>
          <p:cNvSpPr/>
          <p:nvPr/>
        </p:nvSpPr>
        <p:spPr>
          <a:xfrm>
            <a:off x="812800" y="3286125"/>
            <a:ext cx="10566400" cy="0"/>
          </a:xfrm>
          <a:prstGeom prst="line">
            <a:avLst/>
          </a:prstGeom>
          <a:noFill/>
          <a:ln w="6350">
            <a:solidFill>
              <a:srgbClr val="3A3832"/>
            </a:solidFill>
            <a:prstDash val="solid"/>
          </a:ln>
        </p:spPr>
        <p:txBody>
          <a:bodyPr/>
          <a:lstStyle/>
          <a:p>
            <a:endParaRPr lang="en-US"/>
          </a:p>
        </p:txBody>
      </p:sp>
      <p:sp>
        <p:nvSpPr>
          <p:cNvPr id="23" name="Text 21"/>
          <p:cNvSpPr/>
          <p:nvPr/>
        </p:nvSpPr>
        <p:spPr>
          <a:xfrm>
            <a:off x="812800" y="30522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Bombay Shaving Co.</a:t>
            </a:r>
            <a:endParaRPr lang="en-US" sz="1200" dirty="0"/>
          </a:p>
        </p:txBody>
      </p:sp>
      <p:sp>
        <p:nvSpPr>
          <p:cNvPr id="24" name="Shape 22"/>
          <p:cNvSpPr/>
          <p:nvPr/>
        </p:nvSpPr>
        <p:spPr>
          <a:xfrm>
            <a:off x="3225800" y="3077634"/>
            <a:ext cx="1892300" cy="139700"/>
          </a:xfrm>
          <a:prstGeom prst="rect">
            <a:avLst/>
          </a:prstGeom>
          <a:solidFill>
            <a:srgbClr val="8F8A7C"/>
          </a:solidFill>
          <a:ln/>
        </p:spPr>
        <p:txBody>
          <a:bodyPr/>
          <a:lstStyle/>
          <a:p>
            <a:endParaRPr lang="en-US"/>
          </a:p>
        </p:txBody>
      </p:sp>
      <p:sp>
        <p:nvSpPr>
          <p:cNvPr id="25" name="Text 23"/>
          <p:cNvSpPr/>
          <p:nvPr/>
        </p:nvSpPr>
        <p:spPr>
          <a:xfrm>
            <a:off x="5194300" y="3052234"/>
            <a:ext cx="533995"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795</a:t>
            </a:r>
            <a:endParaRPr lang="en-US" sz="1200" dirty="0"/>
          </a:p>
        </p:txBody>
      </p:sp>
      <p:sp>
        <p:nvSpPr>
          <p:cNvPr id="26" name="Text 24"/>
          <p:cNvSpPr/>
          <p:nvPr/>
        </p:nvSpPr>
        <p:spPr>
          <a:xfrm>
            <a:off x="8394700" y="30522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Full price, no discount</a:t>
            </a:r>
            <a:endParaRPr lang="en-US" sz="1200" dirty="0"/>
          </a:p>
        </p:txBody>
      </p:sp>
      <p:sp>
        <p:nvSpPr>
          <p:cNvPr id="27" name="Shape 25"/>
          <p:cNvSpPr/>
          <p:nvPr/>
        </p:nvSpPr>
        <p:spPr>
          <a:xfrm>
            <a:off x="812800" y="3565525"/>
            <a:ext cx="10566400" cy="0"/>
          </a:xfrm>
          <a:prstGeom prst="line">
            <a:avLst/>
          </a:prstGeom>
          <a:noFill/>
          <a:ln w="6350">
            <a:solidFill>
              <a:srgbClr val="3A3832"/>
            </a:solidFill>
            <a:prstDash val="solid"/>
          </a:ln>
        </p:spPr>
        <p:txBody>
          <a:bodyPr/>
          <a:lstStyle/>
          <a:p>
            <a:endParaRPr lang="en-US"/>
          </a:p>
        </p:txBody>
      </p:sp>
      <p:sp>
        <p:nvSpPr>
          <p:cNvPr id="28" name="Text 26"/>
          <p:cNvSpPr/>
          <p:nvPr/>
        </p:nvSpPr>
        <p:spPr>
          <a:xfrm>
            <a:off x="812800" y="33316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Beardo Godfather</a:t>
            </a:r>
            <a:endParaRPr lang="en-US" sz="1200" dirty="0"/>
          </a:p>
        </p:txBody>
      </p:sp>
      <p:sp>
        <p:nvSpPr>
          <p:cNvPr id="29" name="Shape 27"/>
          <p:cNvSpPr/>
          <p:nvPr/>
        </p:nvSpPr>
        <p:spPr>
          <a:xfrm>
            <a:off x="3225800" y="3357034"/>
            <a:ext cx="1663700" cy="139700"/>
          </a:xfrm>
          <a:prstGeom prst="rect">
            <a:avLst/>
          </a:prstGeom>
          <a:solidFill>
            <a:srgbClr val="8F8A7C"/>
          </a:solidFill>
          <a:ln/>
        </p:spPr>
        <p:txBody>
          <a:bodyPr/>
          <a:lstStyle/>
          <a:p>
            <a:endParaRPr lang="en-US"/>
          </a:p>
        </p:txBody>
      </p:sp>
      <p:sp>
        <p:nvSpPr>
          <p:cNvPr id="30" name="Text 28"/>
          <p:cNvSpPr/>
          <p:nvPr/>
        </p:nvSpPr>
        <p:spPr>
          <a:xfrm>
            <a:off x="4965700" y="3331634"/>
            <a:ext cx="549473"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699</a:t>
            </a:r>
            <a:endParaRPr lang="en-US" sz="1200" dirty="0"/>
          </a:p>
        </p:txBody>
      </p:sp>
      <p:sp>
        <p:nvSpPr>
          <p:cNvPr id="31" name="Text 29"/>
          <p:cNvSpPr/>
          <p:nvPr/>
        </p:nvSpPr>
        <p:spPr>
          <a:xfrm>
            <a:off x="8394700" y="33316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42% off list</a:t>
            </a:r>
            <a:endParaRPr lang="en-US" sz="1200" dirty="0"/>
          </a:p>
        </p:txBody>
      </p:sp>
      <p:sp>
        <p:nvSpPr>
          <p:cNvPr id="32" name="Shape 30"/>
          <p:cNvSpPr/>
          <p:nvPr/>
        </p:nvSpPr>
        <p:spPr>
          <a:xfrm>
            <a:off x="812800" y="3844925"/>
            <a:ext cx="10566400" cy="0"/>
          </a:xfrm>
          <a:prstGeom prst="line">
            <a:avLst/>
          </a:prstGeom>
          <a:noFill/>
          <a:ln w="6350">
            <a:solidFill>
              <a:srgbClr val="3A3832"/>
            </a:solidFill>
            <a:prstDash val="solid"/>
          </a:ln>
        </p:spPr>
        <p:txBody>
          <a:bodyPr/>
          <a:lstStyle/>
          <a:p>
            <a:endParaRPr lang="en-US"/>
          </a:p>
        </p:txBody>
      </p:sp>
      <p:sp>
        <p:nvSpPr>
          <p:cNvPr id="33" name="Text 31"/>
          <p:cNvSpPr/>
          <p:nvPr/>
        </p:nvSpPr>
        <p:spPr>
          <a:xfrm>
            <a:off x="812800" y="36110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Engage</a:t>
            </a:r>
            <a:endParaRPr lang="en-US" sz="1200" dirty="0"/>
          </a:p>
        </p:txBody>
      </p:sp>
      <p:sp>
        <p:nvSpPr>
          <p:cNvPr id="34" name="Shape 32"/>
          <p:cNvSpPr/>
          <p:nvPr/>
        </p:nvSpPr>
        <p:spPr>
          <a:xfrm>
            <a:off x="3225800" y="3636434"/>
            <a:ext cx="1568450" cy="139700"/>
          </a:xfrm>
          <a:prstGeom prst="rect">
            <a:avLst/>
          </a:prstGeom>
          <a:solidFill>
            <a:srgbClr val="8F8A7C"/>
          </a:solidFill>
          <a:ln/>
        </p:spPr>
        <p:txBody>
          <a:bodyPr/>
          <a:lstStyle/>
          <a:p>
            <a:endParaRPr lang="en-US"/>
          </a:p>
        </p:txBody>
      </p:sp>
      <p:sp>
        <p:nvSpPr>
          <p:cNvPr id="35" name="Text 33"/>
          <p:cNvSpPr/>
          <p:nvPr/>
        </p:nvSpPr>
        <p:spPr>
          <a:xfrm>
            <a:off x="4870450" y="3611034"/>
            <a:ext cx="543851"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659</a:t>
            </a:r>
            <a:endParaRPr lang="en-US" sz="1200" dirty="0"/>
          </a:p>
        </p:txBody>
      </p:sp>
      <p:sp>
        <p:nvSpPr>
          <p:cNvPr id="36" name="Shape 34"/>
          <p:cNvSpPr/>
          <p:nvPr/>
        </p:nvSpPr>
        <p:spPr>
          <a:xfrm>
            <a:off x="812800" y="4124325"/>
            <a:ext cx="10566400" cy="0"/>
          </a:xfrm>
          <a:prstGeom prst="line">
            <a:avLst/>
          </a:prstGeom>
          <a:noFill/>
          <a:ln w="6350">
            <a:solidFill>
              <a:srgbClr val="3A3832"/>
            </a:solidFill>
            <a:prstDash val="solid"/>
          </a:ln>
        </p:spPr>
        <p:txBody>
          <a:bodyPr/>
          <a:lstStyle/>
          <a:p>
            <a:endParaRPr lang="en-US"/>
          </a:p>
        </p:txBody>
      </p:sp>
      <p:sp>
        <p:nvSpPr>
          <p:cNvPr id="37" name="Text 35"/>
          <p:cNvSpPr/>
          <p:nvPr/>
        </p:nvSpPr>
        <p:spPr>
          <a:xfrm>
            <a:off x="812800" y="38904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Wild Stone CODE</a:t>
            </a:r>
            <a:endParaRPr lang="en-US" sz="1200" dirty="0"/>
          </a:p>
        </p:txBody>
      </p:sp>
      <p:sp>
        <p:nvSpPr>
          <p:cNvPr id="38" name="Shape 36"/>
          <p:cNvSpPr/>
          <p:nvPr/>
        </p:nvSpPr>
        <p:spPr>
          <a:xfrm>
            <a:off x="3225800" y="3915834"/>
            <a:ext cx="1543050" cy="139700"/>
          </a:xfrm>
          <a:prstGeom prst="rect">
            <a:avLst/>
          </a:prstGeom>
          <a:solidFill>
            <a:srgbClr val="8F8A7C"/>
          </a:solidFill>
          <a:ln/>
        </p:spPr>
        <p:txBody>
          <a:bodyPr/>
          <a:lstStyle/>
          <a:p>
            <a:endParaRPr lang="en-US"/>
          </a:p>
        </p:txBody>
      </p:sp>
      <p:sp>
        <p:nvSpPr>
          <p:cNvPr id="39" name="Text 37"/>
          <p:cNvSpPr/>
          <p:nvPr/>
        </p:nvSpPr>
        <p:spPr>
          <a:xfrm>
            <a:off x="4845050" y="3890434"/>
            <a:ext cx="554964"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649</a:t>
            </a:r>
            <a:endParaRPr lang="en-US" sz="1200" dirty="0"/>
          </a:p>
        </p:txBody>
      </p:sp>
      <p:sp>
        <p:nvSpPr>
          <p:cNvPr id="40" name="Text 38"/>
          <p:cNvSpPr/>
          <p:nvPr/>
        </p:nvSpPr>
        <p:spPr>
          <a:xfrm>
            <a:off x="8394700" y="38904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50% off list</a:t>
            </a:r>
            <a:endParaRPr lang="en-US" sz="1200" dirty="0"/>
          </a:p>
        </p:txBody>
      </p:sp>
      <p:sp>
        <p:nvSpPr>
          <p:cNvPr id="41" name="Shape 39"/>
          <p:cNvSpPr/>
          <p:nvPr/>
        </p:nvSpPr>
        <p:spPr>
          <a:xfrm>
            <a:off x="812800" y="4403725"/>
            <a:ext cx="10566400" cy="0"/>
          </a:xfrm>
          <a:prstGeom prst="line">
            <a:avLst/>
          </a:prstGeom>
          <a:noFill/>
          <a:ln w="6350">
            <a:solidFill>
              <a:srgbClr val="3A3832"/>
            </a:solidFill>
            <a:prstDash val="solid"/>
          </a:ln>
        </p:spPr>
        <p:txBody>
          <a:bodyPr/>
          <a:lstStyle/>
          <a:p>
            <a:endParaRPr lang="en-US"/>
          </a:p>
        </p:txBody>
      </p:sp>
      <p:sp>
        <p:nvSpPr>
          <p:cNvPr id="42" name="Text 40"/>
          <p:cNvSpPr/>
          <p:nvPr/>
        </p:nvSpPr>
        <p:spPr>
          <a:xfrm>
            <a:off x="812800" y="41698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Ustraa</a:t>
            </a:r>
            <a:endParaRPr lang="en-US" sz="1200" dirty="0"/>
          </a:p>
        </p:txBody>
      </p:sp>
      <p:sp>
        <p:nvSpPr>
          <p:cNvPr id="43" name="Shape 41"/>
          <p:cNvSpPr/>
          <p:nvPr/>
        </p:nvSpPr>
        <p:spPr>
          <a:xfrm>
            <a:off x="3225800" y="4195234"/>
            <a:ext cx="1390650" cy="139700"/>
          </a:xfrm>
          <a:prstGeom prst="rect">
            <a:avLst/>
          </a:prstGeom>
          <a:solidFill>
            <a:srgbClr val="8F8A7C"/>
          </a:solidFill>
          <a:ln/>
        </p:spPr>
        <p:txBody>
          <a:bodyPr/>
          <a:lstStyle/>
          <a:p>
            <a:endParaRPr lang="en-US"/>
          </a:p>
        </p:txBody>
      </p:sp>
      <p:sp>
        <p:nvSpPr>
          <p:cNvPr id="44" name="Text 42"/>
          <p:cNvSpPr/>
          <p:nvPr/>
        </p:nvSpPr>
        <p:spPr>
          <a:xfrm>
            <a:off x="4692650" y="4169834"/>
            <a:ext cx="552648"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584</a:t>
            </a:r>
            <a:endParaRPr lang="en-US" sz="1200" dirty="0"/>
          </a:p>
        </p:txBody>
      </p:sp>
      <p:sp>
        <p:nvSpPr>
          <p:cNvPr id="45" name="Shape 43"/>
          <p:cNvSpPr/>
          <p:nvPr/>
        </p:nvSpPr>
        <p:spPr>
          <a:xfrm>
            <a:off x="812800" y="4683125"/>
            <a:ext cx="10566400" cy="0"/>
          </a:xfrm>
          <a:prstGeom prst="line">
            <a:avLst/>
          </a:prstGeom>
          <a:noFill/>
          <a:ln w="6350">
            <a:solidFill>
              <a:srgbClr val="3A3832"/>
            </a:solidFill>
            <a:prstDash val="solid"/>
          </a:ln>
        </p:spPr>
        <p:txBody>
          <a:bodyPr/>
          <a:lstStyle/>
          <a:p>
            <a:endParaRPr lang="en-US"/>
          </a:p>
        </p:txBody>
      </p:sp>
      <p:sp>
        <p:nvSpPr>
          <p:cNvPr id="46" name="Text 44"/>
          <p:cNvSpPr/>
          <p:nvPr/>
        </p:nvSpPr>
        <p:spPr>
          <a:xfrm>
            <a:off x="812800" y="44492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Fogg</a:t>
            </a:r>
            <a:endParaRPr lang="en-US" sz="1200" dirty="0"/>
          </a:p>
        </p:txBody>
      </p:sp>
      <p:sp>
        <p:nvSpPr>
          <p:cNvPr id="47" name="Shape 45"/>
          <p:cNvSpPr/>
          <p:nvPr/>
        </p:nvSpPr>
        <p:spPr>
          <a:xfrm>
            <a:off x="3225800" y="4474634"/>
            <a:ext cx="1314450" cy="139700"/>
          </a:xfrm>
          <a:prstGeom prst="rect">
            <a:avLst/>
          </a:prstGeom>
          <a:solidFill>
            <a:srgbClr val="8F8A7C"/>
          </a:solidFill>
          <a:ln/>
        </p:spPr>
        <p:txBody>
          <a:bodyPr/>
          <a:lstStyle/>
          <a:p>
            <a:endParaRPr lang="en-US"/>
          </a:p>
        </p:txBody>
      </p:sp>
      <p:sp>
        <p:nvSpPr>
          <p:cNvPr id="48" name="Text 46"/>
          <p:cNvSpPr/>
          <p:nvPr/>
        </p:nvSpPr>
        <p:spPr>
          <a:xfrm>
            <a:off x="4616450" y="4449234"/>
            <a:ext cx="538824"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552</a:t>
            </a:r>
            <a:endParaRPr lang="en-US" sz="1200" dirty="0"/>
          </a:p>
        </p:txBody>
      </p:sp>
      <p:sp>
        <p:nvSpPr>
          <p:cNvPr id="49" name="Shape 47"/>
          <p:cNvSpPr/>
          <p:nvPr/>
        </p:nvSpPr>
        <p:spPr>
          <a:xfrm>
            <a:off x="812800" y="4962525"/>
            <a:ext cx="10566400" cy="0"/>
          </a:xfrm>
          <a:prstGeom prst="line">
            <a:avLst/>
          </a:prstGeom>
          <a:noFill/>
          <a:ln w="6350">
            <a:solidFill>
              <a:srgbClr val="3A3832"/>
            </a:solidFill>
            <a:prstDash val="solid"/>
          </a:ln>
        </p:spPr>
        <p:txBody>
          <a:bodyPr/>
          <a:lstStyle/>
          <a:p>
            <a:endParaRPr lang="en-US"/>
          </a:p>
        </p:txBody>
      </p:sp>
      <p:sp>
        <p:nvSpPr>
          <p:cNvPr id="50" name="Text 48"/>
          <p:cNvSpPr/>
          <p:nvPr/>
        </p:nvSpPr>
        <p:spPr>
          <a:xfrm>
            <a:off x="812800" y="4728634"/>
            <a:ext cx="2354580"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TMC Black (own site)</a:t>
            </a:r>
            <a:endParaRPr lang="en-US" sz="1200" dirty="0"/>
          </a:p>
        </p:txBody>
      </p:sp>
      <p:sp>
        <p:nvSpPr>
          <p:cNvPr id="51" name="Shape 49"/>
          <p:cNvSpPr/>
          <p:nvPr/>
        </p:nvSpPr>
        <p:spPr>
          <a:xfrm>
            <a:off x="3225800" y="4754034"/>
            <a:ext cx="1187450" cy="139700"/>
          </a:xfrm>
          <a:prstGeom prst="rect">
            <a:avLst/>
          </a:prstGeom>
          <a:solidFill>
            <a:srgbClr val="FF7A6B"/>
          </a:solidFill>
          <a:ln/>
        </p:spPr>
        <p:txBody>
          <a:bodyPr/>
          <a:lstStyle/>
          <a:p>
            <a:endParaRPr lang="en-US"/>
          </a:p>
        </p:txBody>
      </p:sp>
      <p:sp>
        <p:nvSpPr>
          <p:cNvPr id="52" name="Text 50"/>
          <p:cNvSpPr/>
          <p:nvPr/>
        </p:nvSpPr>
        <p:spPr>
          <a:xfrm>
            <a:off x="4489450" y="4728634"/>
            <a:ext cx="554964"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499</a:t>
            </a:r>
            <a:endParaRPr lang="en-US" sz="1200" dirty="0"/>
          </a:p>
        </p:txBody>
      </p:sp>
      <p:sp>
        <p:nvSpPr>
          <p:cNvPr id="53" name="Text 51"/>
          <p:cNvSpPr/>
          <p:nvPr/>
        </p:nvSpPr>
        <p:spPr>
          <a:xfrm>
            <a:off x="8394700" y="47286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80% off a Rs 2,499 list price</a:t>
            </a:r>
            <a:endParaRPr lang="en-US" sz="1200" dirty="0"/>
          </a:p>
        </p:txBody>
      </p:sp>
      <p:sp>
        <p:nvSpPr>
          <p:cNvPr id="54" name="Shape 52"/>
          <p:cNvSpPr/>
          <p:nvPr/>
        </p:nvSpPr>
        <p:spPr>
          <a:xfrm>
            <a:off x="812800" y="5241925"/>
            <a:ext cx="10566400" cy="0"/>
          </a:xfrm>
          <a:prstGeom prst="line">
            <a:avLst/>
          </a:prstGeom>
          <a:noFill/>
          <a:ln w="6350">
            <a:solidFill>
              <a:srgbClr val="3A3832"/>
            </a:solidFill>
            <a:prstDash val="solid"/>
          </a:ln>
        </p:spPr>
        <p:txBody>
          <a:bodyPr/>
          <a:lstStyle/>
          <a:p>
            <a:endParaRPr lang="en-US"/>
          </a:p>
        </p:txBody>
      </p:sp>
      <p:sp>
        <p:nvSpPr>
          <p:cNvPr id="55" name="Text 53"/>
          <p:cNvSpPr/>
          <p:nvPr/>
        </p:nvSpPr>
        <p:spPr>
          <a:xfrm>
            <a:off x="812800" y="50080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Park Avenue</a:t>
            </a:r>
            <a:endParaRPr lang="en-US" sz="1200" dirty="0"/>
          </a:p>
        </p:txBody>
      </p:sp>
      <p:sp>
        <p:nvSpPr>
          <p:cNvPr id="56" name="Shape 54"/>
          <p:cNvSpPr/>
          <p:nvPr/>
        </p:nvSpPr>
        <p:spPr>
          <a:xfrm>
            <a:off x="3225800" y="5033434"/>
            <a:ext cx="1155700" cy="139700"/>
          </a:xfrm>
          <a:prstGeom prst="rect">
            <a:avLst/>
          </a:prstGeom>
          <a:solidFill>
            <a:srgbClr val="8F8A7C"/>
          </a:solidFill>
          <a:ln/>
        </p:spPr>
        <p:txBody>
          <a:bodyPr/>
          <a:lstStyle/>
          <a:p>
            <a:endParaRPr lang="en-US"/>
          </a:p>
        </p:txBody>
      </p:sp>
      <p:sp>
        <p:nvSpPr>
          <p:cNvPr id="57" name="Text 55"/>
          <p:cNvSpPr/>
          <p:nvPr/>
        </p:nvSpPr>
        <p:spPr>
          <a:xfrm>
            <a:off x="4457700" y="5008034"/>
            <a:ext cx="53809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487</a:t>
            </a:r>
            <a:endParaRPr lang="en-US" sz="1200" dirty="0"/>
          </a:p>
        </p:txBody>
      </p:sp>
      <p:sp>
        <p:nvSpPr>
          <p:cNvPr id="58" name="Text 56"/>
          <p:cNvSpPr/>
          <p:nvPr/>
        </p:nvSpPr>
        <p:spPr>
          <a:xfrm>
            <a:off x="8394700" y="50080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Mass floor</a:t>
            </a:r>
            <a:endParaRPr lang="en-US" sz="1200" dirty="0"/>
          </a:p>
        </p:txBody>
      </p:sp>
      <p:sp>
        <p:nvSpPr>
          <p:cNvPr id="59" name="Shape 57"/>
          <p:cNvSpPr/>
          <p:nvPr/>
        </p:nvSpPr>
        <p:spPr>
          <a:xfrm>
            <a:off x="812800" y="5521325"/>
            <a:ext cx="10566400" cy="0"/>
          </a:xfrm>
          <a:prstGeom prst="line">
            <a:avLst/>
          </a:prstGeom>
          <a:noFill/>
          <a:ln w="6350">
            <a:solidFill>
              <a:srgbClr val="3A3832"/>
            </a:solidFill>
            <a:prstDash val="solid"/>
          </a:ln>
        </p:spPr>
        <p:txBody>
          <a:bodyPr/>
          <a:lstStyle/>
          <a:p>
            <a:endParaRPr lang="en-US"/>
          </a:p>
        </p:txBody>
      </p:sp>
      <p:sp>
        <p:nvSpPr>
          <p:cNvPr id="60" name="Text 58"/>
          <p:cNvSpPr/>
          <p:nvPr/>
        </p:nvSpPr>
        <p:spPr>
          <a:xfrm>
            <a:off x="812800" y="52874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Bella Vita</a:t>
            </a:r>
            <a:endParaRPr lang="en-US" sz="1200" dirty="0"/>
          </a:p>
        </p:txBody>
      </p:sp>
      <p:sp>
        <p:nvSpPr>
          <p:cNvPr id="61" name="Shape 59"/>
          <p:cNvSpPr/>
          <p:nvPr/>
        </p:nvSpPr>
        <p:spPr>
          <a:xfrm>
            <a:off x="3225800" y="5312834"/>
            <a:ext cx="1066800" cy="139700"/>
          </a:xfrm>
          <a:prstGeom prst="rect">
            <a:avLst/>
          </a:prstGeom>
          <a:solidFill>
            <a:srgbClr val="FFF460"/>
          </a:solidFill>
          <a:ln/>
        </p:spPr>
        <p:txBody>
          <a:bodyPr/>
          <a:lstStyle/>
          <a:p>
            <a:endParaRPr lang="en-US"/>
          </a:p>
        </p:txBody>
      </p:sp>
      <p:sp>
        <p:nvSpPr>
          <p:cNvPr id="62" name="Text 60"/>
          <p:cNvSpPr/>
          <p:nvPr/>
        </p:nvSpPr>
        <p:spPr>
          <a:xfrm>
            <a:off x="4368800" y="5287434"/>
            <a:ext cx="557411"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FF460"/>
                </a:solidFill>
                <a:latin typeface="DM Sans" pitchFamily="34" charset="0"/>
                <a:ea typeface="DM Sans" pitchFamily="34" charset="-122"/>
                <a:cs typeface="DM Sans" pitchFamily="34" charset="-120"/>
              </a:rPr>
              <a:t>Rs 449</a:t>
            </a:r>
            <a:endParaRPr lang="en-US" sz="1200" dirty="0"/>
          </a:p>
        </p:txBody>
      </p:sp>
      <p:sp>
        <p:nvSpPr>
          <p:cNvPr id="63" name="Text 61"/>
          <p:cNvSpPr/>
          <p:nvPr/>
        </p:nvSpPr>
        <p:spPr>
          <a:xfrm>
            <a:off x="8394700" y="52874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50% off list; the largest seller</a:t>
            </a:r>
            <a:endParaRPr lang="en-US" sz="1200" dirty="0"/>
          </a:p>
        </p:txBody>
      </p:sp>
      <p:sp>
        <p:nvSpPr>
          <p:cNvPr id="64" name="Shape 62"/>
          <p:cNvSpPr/>
          <p:nvPr/>
        </p:nvSpPr>
        <p:spPr>
          <a:xfrm>
            <a:off x="812800" y="5800725"/>
            <a:ext cx="10566400" cy="0"/>
          </a:xfrm>
          <a:prstGeom prst="line">
            <a:avLst/>
          </a:prstGeom>
          <a:noFill/>
          <a:ln w="6350">
            <a:solidFill>
              <a:srgbClr val="3A3832"/>
            </a:solidFill>
            <a:prstDash val="solid"/>
          </a:ln>
        </p:spPr>
        <p:txBody>
          <a:bodyPr/>
          <a:lstStyle/>
          <a:p>
            <a:endParaRPr lang="en-US"/>
          </a:p>
        </p:txBody>
      </p:sp>
      <p:sp>
        <p:nvSpPr>
          <p:cNvPr id="65" name="Text 63"/>
          <p:cNvSpPr/>
          <p:nvPr/>
        </p:nvSpPr>
        <p:spPr>
          <a:xfrm>
            <a:off x="812800" y="5566834"/>
            <a:ext cx="235458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Denver</a:t>
            </a:r>
            <a:endParaRPr lang="en-US" sz="1200" dirty="0"/>
          </a:p>
        </p:txBody>
      </p:sp>
      <p:sp>
        <p:nvSpPr>
          <p:cNvPr id="66" name="Shape 64"/>
          <p:cNvSpPr/>
          <p:nvPr/>
        </p:nvSpPr>
        <p:spPr>
          <a:xfrm>
            <a:off x="3225800" y="5592234"/>
            <a:ext cx="977900" cy="139700"/>
          </a:xfrm>
          <a:prstGeom prst="rect">
            <a:avLst/>
          </a:prstGeom>
          <a:solidFill>
            <a:srgbClr val="8F8A7C"/>
          </a:solidFill>
          <a:ln/>
        </p:spPr>
        <p:txBody>
          <a:bodyPr/>
          <a:lstStyle/>
          <a:p>
            <a:endParaRPr lang="en-US"/>
          </a:p>
        </p:txBody>
      </p:sp>
      <p:sp>
        <p:nvSpPr>
          <p:cNvPr id="67" name="Text 65"/>
          <p:cNvSpPr/>
          <p:nvPr/>
        </p:nvSpPr>
        <p:spPr>
          <a:xfrm>
            <a:off x="4279900" y="5566834"/>
            <a:ext cx="50515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412</a:t>
            </a:r>
            <a:endParaRPr lang="en-US" sz="1200" dirty="0"/>
          </a:p>
        </p:txBody>
      </p:sp>
      <p:sp>
        <p:nvSpPr>
          <p:cNvPr id="68" name="Text 66"/>
          <p:cNvSpPr/>
          <p:nvPr/>
        </p:nvSpPr>
        <p:spPr>
          <a:xfrm>
            <a:off x="8394700" y="5566834"/>
            <a:ext cx="307403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Mass floor</a:t>
            </a:r>
            <a:endParaRPr lang="en-US" sz="1200" dirty="0"/>
          </a:p>
        </p:txBody>
      </p:sp>
      <p:sp>
        <p:nvSpPr>
          <p:cNvPr id="69" name="Text 67"/>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brand sites, Nykaa Man, BigBasket, read 3 October 2026 (F)</a:t>
            </a:r>
            <a:endParaRPr lang="en-US" sz="1200" dirty="0"/>
          </a:p>
        </p:txBody>
      </p:sp>
      <p:sp>
        <p:nvSpPr>
          <p:cNvPr id="70" name="Text 68"/>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fontScale="90000"/>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Price map by category (1 of 2): every category sits in a narrow band – </a:t>
            </a:r>
            <a:r>
              <a:rPr lang="en-US" sz="2500" b="0" i="0" dirty="0">
                <a:solidFill>
                  <a:srgbClr val="0070C0"/>
                </a:solidFill>
                <a:latin typeface="Oswald" pitchFamily="34" charset="0"/>
                <a:ea typeface="Oswald" pitchFamily="34" charset="-122"/>
                <a:cs typeface="Oswald" pitchFamily="34" charset="-120"/>
              </a:rPr>
              <a:t>the difference between the core and premium </a:t>
            </a:r>
            <a:r>
              <a:rPr lang="en-US" dirty="0">
                <a:solidFill>
                  <a:srgbClr val="0070C0"/>
                </a:solidFill>
              </a:rPr>
              <a:t>p</a:t>
            </a:r>
            <a:r>
              <a:rPr lang="en-US" sz="2500" b="0" i="0" dirty="0">
                <a:solidFill>
                  <a:srgbClr val="0070C0"/>
                </a:solidFill>
                <a:latin typeface="Oswald" pitchFamily="34" charset="0"/>
                <a:ea typeface="Oswald" pitchFamily="34" charset="-122"/>
                <a:cs typeface="Oswald" pitchFamily="34" charset="-120"/>
              </a:rPr>
              <a:t>er category and where </a:t>
            </a:r>
            <a:r>
              <a:rPr lang="en-US" sz="2500" b="0" i="0" dirty="0" err="1">
                <a:solidFill>
                  <a:srgbClr val="0070C0"/>
                </a:solidFill>
                <a:latin typeface="Oswald" pitchFamily="34" charset="0"/>
                <a:ea typeface="Oswald" pitchFamily="34" charset="-122"/>
                <a:cs typeface="Oswald" pitchFamily="34" charset="-120"/>
              </a:rPr>
              <a:t>tmc</a:t>
            </a:r>
            <a:r>
              <a:rPr lang="en-US" sz="2500" b="0" i="0" dirty="0">
                <a:solidFill>
                  <a:srgbClr val="0070C0"/>
                </a:solidFill>
                <a:latin typeface="Oswald" pitchFamily="34" charset="0"/>
                <a:ea typeface="Oswald" pitchFamily="34" charset="-122"/>
                <a:cs typeface="Oswald" pitchFamily="34" charset="-120"/>
              </a:rPr>
              <a:t> sits</a:t>
            </a:r>
            <a:endParaRPr lang="en-US" sz="2500" dirty="0">
              <a:solidFill>
                <a:srgbClr val="0070C0"/>
              </a:solidFill>
            </a:endParaRPr>
          </a:p>
        </p:txBody>
      </p:sp>
      <p:sp>
        <p:nvSpPr>
          <p:cNvPr id="4" name="Shape 2"/>
          <p:cNvSpPr/>
          <p:nvPr/>
        </p:nvSpPr>
        <p:spPr>
          <a:xfrm>
            <a:off x="812800" y="1860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625600"/>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CATEGORY</a:t>
            </a:r>
            <a:endParaRPr lang="en-US" sz="1200" dirty="0"/>
          </a:p>
        </p:txBody>
      </p:sp>
      <p:sp>
        <p:nvSpPr>
          <p:cNvPr id="6" name="Text 4"/>
          <p:cNvSpPr/>
          <p:nvPr/>
        </p:nvSpPr>
        <p:spPr>
          <a:xfrm>
            <a:off x="2552700" y="1625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MASS FLOOR</a:t>
            </a:r>
            <a:endParaRPr lang="en-US" sz="1200" dirty="0"/>
          </a:p>
        </p:txBody>
      </p:sp>
      <p:sp>
        <p:nvSpPr>
          <p:cNvPr id="7" name="Text 5"/>
          <p:cNvSpPr/>
          <p:nvPr/>
        </p:nvSpPr>
        <p:spPr>
          <a:xfrm>
            <a:off x="4800600" y="1625600"/>
            <a:ext cx="340106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CORE BAND</a:t>
            </a:r>
            <a:endParaRPr lang="en-US" sz="1200" dirty="0"/>
          </a:p>
        </p:txBody>
      </p:sp>
      <p:sp>
        <p:nvSpPr>
          <p:cNvPr id="8" name="Text 6"/>
          <p:cNvSpPr/>
          <p:nvPr/>
        </p:nvSpPr>
        <p:spPr>
          <a:xfrm>
            <a:off x="8255000" y="1625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PREMIUM AND HOLDER</a:t>
            </a:r>
            <a:endParaRPr lang="en-US" sz="1200" dirty="0"/>
          </a:p>
        </p:txBody>
      </p:sp>
      <p:sp>
        <p:nvSpPr>
          <p:cNvPr id="9" name="Text 7"/>
          <p:cNvSpPr/>
          <p:nvPr/>
        </p:nvSpPr>
        <p:spPr>
          <a:xfrm>
            <a:off x="10502900" y="1625600"/>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TMC</a:t>
            </a:r>
            <a:endParaRPr lang="en-US" sz="1200" dirty="0"/>
          </a:p>
        </p:txBody>
      </p:sp>
      <p:sp>
        <p:nvSpPr>
          <p:cNvPr id="10" name="Shape 8"/>
          <p:cNvSpPr/>
          <p:nvPr/>
        </p:nvSpPr>
        <p:spPr>
          <a:xfrm>
            <a:off x="812800" y="2562225"/>
            <a:ext cx="10566400" cy="0"/>
          </a:xfrm>
          <a:prstGeom prst="line">
            <a:avLst/>
          </a:prstGeom>
          <a:noFill/>
          <a:ln w="6350">
            <a:solidFill>
              <a:srgbClr val="3A3832"/>
            </a:solidFill>
            <a:prstDash val="solid"/>
          </a:ln>
        </p:spPr>
        <p:txBody>
          <a:bodyPr/>
          <a:lstStyle/>
          <a:p>
            <a:endParaRPr lang="en-US"/>
          </a:p>
        </p:txBody>
      </p:sp>
      <p:sp>
        <p:nvSpPr>
          <p:cNvPr id="11" name="Text 9"/>
          <p:cNvSpPr/>
          <p:nvPr/>
        </p:nvSpPr>
        <p:spPr>
          <a:xfrm>
            <a:off x="812800" y="2118784"/>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Perfume, 100 ml</a:t>
            </a:r>
            <a:endParaRPr lang="en-US" sz="1200" dirty="0"/>
          </a:p>
        </p:txBody>
      </p:sp>
      <p:sp>
        <p:nvSpPr>
          <p:cNvPr id="12" name="Text 10"/>
          <p:cNvSpPr/>
          <p:nvPr/>
        </p:nvSpPr>
        <p:spPr>
          <a:xfrm>
            <a:off x="2552700" y="2023534"/>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412 to 487 ($4.8 to 5.7): Denver, Park Avenue</a:t>
            </a:r>
            <a:endParaRPr lang="en-US" sz="1200" dirty="0"/>
          </a:p>
        </p:txBody>
      </p:sp>
      <p:sp>
        <p:nvSpPr>
          <p:cNvPr id="13" name="Text 11"/>
          <p:cNvSpPr/>
          <p:nvPr/>
        </p:nvSpPr>
        <p:spPr>
          <a:xfrm>
            <a:off x="4800600" y="1928284"/>
            <a:ext cx="3401060"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449 to 799 ($5.3 to 9.4): Bella Vita, Fogg, Ustraa, CODE, Engage, Beardo, Bombay Shaving, Villain</a:t>
            </a:r>
            <a:endParaRPr lang="en-US" sz="1200" dirty="0"/>
          </a:p>
        </p:txBody>
      </p:sp>
      <p:sp>
        <p:nvSpPr>
          <p:cNvPr id="14" name="Text 12"/>
          <p:cNvSpPr/>
          <p:nvPr/>
        </p:nvSpPr>
        <p:spPr>
          <a:xfrm>
            <a:off x="8255000" y="2023534"/>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1,200+ ($14+): Ajmal; Titan Skinn Rs 1,716 for 50 ml</a:t>
            </a:r>
            <a:endParaRPr lang="en-US" sz="1200" dirty="0"/>
          </a:p>
        </p:txBody>
      </p:sp>
      <p:sp>
        <p:nvSpPr>
          <p:cNvPr id="15" name="Text 13"/>
          <p:cNvSpPr/>
          <p:nvPr/>
        </p:nvSpPr>
        <p:spPr>
          <a:xfrm>
            <a:off x="10502900" y="2118784"/>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499</a:t>
            </a:r>
            <a:endParaRPr lang="en-US" sz="1200" dirty="0"/>
          </a:p>
        </p:txBody>
      </p:sp>
      <p:sp>
        <p:nvSpPr>
          <p:cNvPr id="16" name="Shape 14"/>
          <p:cNvSpPr/>
          <p:nvPr/>
        </p:nvSpPr>
        <p:spPr>
          <a:xfrm>
            <a:off x="812800" y="3070225"/>
            <a:ext cx="10566400" cy="0"/>
          </a:xfrm>
          <a:prstGeom prst="line">
            <a:avLst/>
          </a:prstGeom>
          <a:noFill/>
          <a:ln w="6350">
            <a:solidFill>
              <a:srgbClr val="3A3832"/>
            </a:solidFill>
            <a:prstDash val="solid"/>
          </a:ln>
        </p:spPr>
        <p:txBody>
          <a:bodyPr/>
          <a:lstStyle/>
          <a:p>
            <a:endParaRPr lang="en-US"/>
          </a:p>
        </p:txBody>
      </p:sp>
      <p:sp>
        <p:nvSpPr>
          <p:cNvPr id="17" name="Text 15"/>
          <p:cNvSpPr/>
          <p:nvPr/>
        </p:nvSpPr>
        <p:spPr>
          <a:xfrm>
            <a:off x="812800" y="2722034"/>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Deodorant, 150 ml</a:t>
            </a:r>
            <a:endParaRPr lang="en-US" sz="1200" dirty="0"/>
          </a:p>
        </p:txBody>
      </p:sp>
      <p:sp>
        <p:nvSpPr>
          <p:cNvPr id="18" name="Text 16"/>
          <p:cNvSpPr/>
          <p:nvPr/>
        </p:nvSpPr>
        <p:spPr>
          <a:xfrm>
            <a:off x="2552700" y="2722034"/>
            <a:ext cx="22479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135 ($1.6): Axe at half price</a:t>
            </a:r>
            <a:endParaRPr lang="en-US" sz="1200" dirty="0"/>
          </a:p>
        </p:txBody>
      </p:sp>
      <p:sp>
        <p:nvSpPr>
          <p:cNvPr id="19" name="Text 17"/>
          <p:cNvSpPr/>
          <p:nvPr/>
        </p:nvSpPr>
        <p:spPr>
          <a:xfrm>
            <a:off x="4800600" y="2626784"/>
            <a:ext cx="340106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172 to 255 ($2.0 to 3.0): Denver, Engage, Wild Stone, Nivea, TMC, Fogg, Ustraa</a:t>
            </a:r>
            <a:endParaRPr lang="en-US" sz="1200" dirty="0"/>
          </a:p>
        </p:txBody>
      </p:sp>
      <p:sp>
        <p:nvSpPr>
          <p:cNvPr id="20" name="Text 18"/>
          <p:cNvSpPr/>
          <p:nvPr/>
        </p:nvSpPr>
        <p:spPr>
          <a:xfrm>
            <a:off x="8255000" y="2626784"/>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299 to 355 ($3.5 to 4.2): Beardo, Bombay Shaving</a:t>
            </a:r>
            <a:endParaRPr lang="en-US" sz="1200" dirty="0"/>
          </a:p>
        </p:txBody>
      </p:sp>
      <p:sp>
        <p:nvSpPr>
          <p:cNvPr id="21" name="Text 19"/>
          <p:cNvSpPr/>
          <p:nvPr/>
        </p:nvSpPr>
        <p:spPr>
          <a:xfrm>
            <a:off x="10502900" y="2722034"/>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209</a:t>
            </a:r>
            <a:endParaRPr lang="en-US" sz="1200" dirty="0"/>
          </a:p>
        </p:txBody>
      </p:sp>
      <p:sp>
        <p:nvSpPr>
          <p:cNvPr id="22" name="Shape 20"/>
          <p:cNvSpPr/>
          <p:nvPr/>
        </p:nvSpPr>
        <p:spPr>
          <a:xfrm>
            <a:off x="812800" y="3768725"/>
            <a:ext cx="10566400" cy="0"/>
          </a:xfrm>
          <a:prstGeom prst="line">
            <a:avLst/>
          </a:prstGeom>
          <a:noFill/>
          <a:ln w="6350">
            <a:solidFill>
              <a:srgbClr val="3A3832"/>
            </a:solidFill>
            <a:prstDash val="solid"/>
          </a:ln>
        </p:spPr>
        <p:txBody>
          <a:bodyPr/>
          <a:lstStyle/>
          <a:p>
            <a:endParaRPr lang="en-US"/>
          </a:p>
        </p:txBody>
      </p:sp>
      <p:sp>
        <p:nvSpPr>
          <p:cNvPr id="23" name="Text 21"/>
          <p:cNvSpPr/>
          <p:nvPr/>
        </p:nvSpPr>
        <p:spPr>
          <a:xfrm>
            <a:off x="812800" y="3325284"/>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Face wash, 100 g</a:t>
            </a:r>
            <a:endParaRPr lang="en-US" sz="1200" dirty="0"/>
          </a:p>
        </p:txBody>
      </p:sp>
      <p:sp>
        <p:nvSpPr>
          <p:cNvPr id="24" name="Text 22"/>
          <p:cNvSpPr/>
          <p:nvPr/>
        </p:nvSpPr>
        <p:spPr>
          <a:xfrm>
            <a:off x="2552700" y="3230034"/>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166 to 184 ($2.0 to 2.2): Himalaya, Garnier</a:t>
            </a:r>
            <a:endParaRPr lang="en-US" sz="1200" dirty="0"/>
          </a:p>
        </p:txBody>
      </p:sp>
      <p:sp>
        <p:nvSpPr>
          <p:cNvPr id="25" name="Text 23"/>
          <p:cNvSpPr/>
          <p:nvPr/>
        </p:nvSpPr>
        <p:spPr>
          <a:xfrm>
            <a:off x="4800600" y="3134784"/>
            <a:ext cx="3401060"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219 to 269 ($2.6 to 3.2): Nivea, TMC, Emami, Bombay Shaving, Pond's, Derma Co, Muuchstac, Minimalist</a:t>
            </a:r>
            <a:endParaRPr lang="en-US" sz="1200" dirty="0"/>
          </a:p>
        </p:txBody>
      </p:sp>
      <p:sp>
        <p:nvSpPr>
          <p:cNvPr id="26" name="Text 24"/>
          <p:cNvSpPr/>
          <p:nvPr/>
        </p:nvSpPr>
        <p:spPr>
          <a:xfrm>
            <a:off x="8255000" y="3325284"/>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299 ($3.5): Beardo</a:t>
            </a:r>
            <a:endParaRPr lang="en-US" sz="1200" dirty="0"/>
          </a:p>
        </p:txBody>
      </p:sp>
      <p:sp>
        <p:nvSpPr>
          <p:cNvPr id="27" name="Text 25"/>
          <p:cNvSpPr/>
          <p:nvPr/>
        </p:nvSpPr>
        <p:spPr>
          <a:xfrm>
            <a:off x="10502900" y="3325284"/>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219</a:t>
            </a:r>
            <a:endParaRPr lang="en-US" sz="1200" dirty="0"/>
          </a:p>
        </p:txBody>
      </p:sp>
      <p:sp>
        <p:nvSpPr>
          <p:cNvPr id="28" name="Shape 26"/>
          <p:cNvSpPr/>
          <p:nvPr/>
        </p:nvSpPr>
        <p:spPr>
          <a:xfrm>
            <a:off x="812800" y="4276725"/>
            <a:ext cx="10566400" cy="0"/>
          </a:xfrm>
          <a:prstGeom prst="line">
            <a:avLst/>
          </a:prstGeom>
          <a:noFill/>
          <a:ln w="6350">
            <a:solidFill>
              <a:srgbClr val="3A3832"/>
            </a:solidFill>
            <a:prstDash val="solid"/>
          </a:ln>
        </p:spPr>
        <p:txBody>
          <a:bodyPr/>
          <a:lstStyle/>
          <a:p>
            <a:endParaRPr lang="en-US"/>
          </a:p>
        </p:txBody>
      </p:sp>
      <p:sp>
        <p:nvSpPr>
          <p:cNvPr id="29" name="Text 27"/>
          <p:cNvSpPr/>
          <p:nvPr/>
        </p:nvSpPr>
        <p:spPr>
          <a:xfrm>
            <a:off x="812800" y="3928534"/>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Sunscreen, 50 g</a:t>
            </a:r>
            <a:endParaRPr lang="en-US" sz="1200" dirty="0"/>
          </a:p>
        </p:txBody>
      </p:sp>
      <p:sp>
        <p:nvSpPr>
          <p:cNvPr id="30" name="Text 28"/>
          <p:cNvSpPr/>
          <p:nvPr/>
        </p:nvSpPr>
        <p:spPr>
          <a:xfrm>
            <a:off x="2552700" y="3928534"/>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162 ($1.9): Pond's Men</a:t>
            </a:r>
            <a:endParaRPr lang="en-US" sz="1200" dirty="0"/>
          </a:p>
        </p:txBody>
      </p:sp>
      <p:sp>
        <p:nvSpPr>
          <p:cNvPr id="31" name="Text 29"/>
          <p:cNvSpPr/>
          <p:nvPr/>
        </p:nvSpPr>
        <p:spPr>
          <a:xfrm>
            <a:off x="4800600" y="3833284"/>
            <a:ext cx="340106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335 to 425 ($3.9 to 5.0): TMC, Bombay Shaving, Minimalist, Beardo, Derma Co</a:t>
            </a:r>
            <a:endParaRPr lang="en-US" sz="1200" dirty="0"/>
          </a:p>
        </p:txBody>
      </p:sp>
      <p:sp>
        <p:nvSpPr>
          <p:cNvPr id="32" name="Text 30"/>
          <p:cNvSpPr/>
          <p:nvPr/>
        </p:nvSpPr>
        <p:spPr>
          <a:xfrm>
            <a:off x="8255000" y="3833284"/>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850 ($10): Reginald Men, no discount</a:t>
            </a:r>
            <a:endParaRPr lang="en-US" sz="1200" dirty="0"/>
          </a:p>
        </p:txBody>
      </p:sp>
      <p:sp>
        <p:nvSpPr>
          <p:cNvPr id="33" name="Text 31"/>
          <p:cNvSpPr/>
          <p:nvPr/>
        </p:nvSpPr>
        <p:spPr>
          <a:xfrm>
            <a:off x="10502900" y="3833284"/>
            <a:ext cx="9271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335 to 599</a:t>
            </a:r>
            <a:endParaRPr lang="en-US" sz="1200" dirty="0"/>
          </a:p>
        </p:txBody>
      </p:sp>
      <p:sp>
        <p:nvSpPr>
          <p:cNvPr id="34" name="Shape 32"/>
          <p:cNvSpPr/>
          <p:nvPr/>
        </p:nvSpPr>
        <p:spPr>
          <a:xfrm>
            <a:off x="812800" y="4784725"/>
            <a:ext cx="10566400" cy="0"/>
          </a:xfrm>
          <a:prstGeom prst="line">
            <a:avLst/>
          </a:prstGeom>
          <a:noFill/>
          <a:ln w="6350">
            <a:solidFill>
              <a:srgbClr val="3A3832"/>
            </a:solidFill>
            <a:prstDash val="solid"/>
          </a:ln>
        </p:spPr>
        <p:txBody>
          <a:bodyPr/>
          <a:lstStyle/>
          <a:p>
            <a:endParaRPr lang="en-US"/>
          </a:p>
        </p:txBody>
      </p:sp>
      <p:sp>
        <p:nvSpPr>
          <p:cNvPr id="35" name="Text 33"/>
          <p:cNvSpPr/>
          <p:nvPr/>
        </p:nvSpPr>
        <p:spPr>
          <a:xfrm>
            <a:off x="812800" y="4436534"/>
            <a:ext cx="17399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Beard oil, 30 to 50 ml</a:t>
            </a:r>
            <a:endParaRPr lang="en-US" sz="1200" dirty="0"/>
          </a:p>
        </p:txBody>
      </p:sp>
      <p:sp>
        <p:nvSpPr>
          <p:cNvPr id="36" name="Text 34"/>
          <p:cNvSpPr/>
          <p:nvPr/>
        </p:nvSpPr>
        <p:spPr>
          <a:xfrm>
            <a:off x="2552700" y="4436534"/>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none</a:t>
            </a:r>
            <a:endParaRPr lang="en-US" sz="1200" dirty="0"/>
          </a:p>
        </p:txBody>
      </p:sp>
      <p:sp>
        <p:nvSpPr>
          <p:cNvPr id="37" name="Text 35"/>
          <p:cNvSpPr/>
          <p:nvPr/>
        </p:nvSpPr>
        <p:spPr>
          <a:xfrm>
            <a:off x="4800600" y="4436534"/>
            <a:ext cx="340106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10 to 11.5 per ml for all five brands</a:t>
            </a:r>
            <a:endParaRPr lang="en-US" sz="1200" dirty="0"/>
          </a:p>
        </p:txBody>
      </p:sp>
      <p:sp>
        <p:nvSpPr>
          <p:cNvPr id="38" name="Text 36"/>
          <p:cNvSpPr/>
          <p:nvPr/>
        </p:nvSpPr>
        <p:spPr>
          <a:xfrm>
            <a:off x="8255000" y="4341284"/>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15 per ml: Man Matters serum</a:t>
            </a:r>
            <a:endParaRPr lang="en-US" sz="1200" dirty="0"/>
          </a:p>
        </p:txBody>
      </p:sp>
      <p:sp>
        <p:nvSpPr>
          <p:cNvPr id="39" name="Text 37"/>
          <p:cNvSpPr/>
          <p:nvPr/>
        </p:nvSpPr>
        <p:spPr>
          <a:xfrm>
            <a:off x="10502900" y="4341284"/>
            <a:ext cx="9271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9.9 per ml</a:t>
            </a:r>
            <a:endParaRPr lang="en-US" sz="1200" dirty="0"/>
          </a:p>
        </p:txBody>
      </p:sp>
      <p:sp>
        <p:nvSpPr>
          <p:cNvPr id="40" name="Text 38"/>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brand sites, Nykaa Man, BigBasket, read 3 October 2026 (F)</a:t>
            </a:r>
            <a:endParaRPr lang="en-US" sz="1200" dirty="0"/>
          </a:p>
        </p:txBody>
      </p:sp>
      <p:sp>
        <p:nvSpPr>
          <p:cNvPr id="41" name="Text 39"/>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4</a:t>
            </a:r>
            <a:endParaRPr lang="en-US" sz="1200" dirty="0"/>
          </a:p>
        </p:txBody>
      </p:sp>
      <p:pic>
        <p:nvPicPr>
          <p:cNvPr id="43" name="Graphic 42" descr="Bar graph with upward trend with solid fill">
            <a:extLst>
              <a:ext uri="{FF2B5EF4-FFF2-40B4-BE49-F238E27FC236}">
                <a16:creationId xmlns:a16="http://schemas.microsoft.com/office/drawing/2014/main" id="{D4E9C69B-5B72-7B34-7057-D4E0AE865F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0" y="56618"/>
            <a:ext cx="699563" cy="6995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11200"/>
            <a:ext cx="10883392" cy="755650"/>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Price map by category (2 of 2): a premium exists only where a result or a system is sold</a:t>
            </a:r>
            <a:endParaRPr lang="en-US" sz="2500" dirty="0"/>
          </a:p>
        </p:txBody>
      </p:sp>
      <p:sp>
        <p:nvSpPr>
          <p:cNvPr id="4" name="Shape 2"/>
          <p:cNvSpPr/>
          <p:nvPr/>
        </p:nvSpPr>
        <p:spPr>
          <a:xfrm>
            <a:off x="812800" y="1860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625600"/>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CATEGORY</a:t>
            </a:r>
            <a:endParaRPr lang="en-US" sz="1200" dirty="0"/>
          </a:p>
        </p:txBody>
      </p:sp>
      <p:sp>
        <p:nvSpPr>
          <p:cNvPr id="6" name="Text 4"/>
          <p:cNvSpPr/>
          <p:nvPr/>
        </p:nvSpPr>
        <p:spPr>
          <a:xfrm>
            <a:off x="2552700" y="1625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MASS FLOOR</a:t>
            </a:r>
            <a:endParaRPr lang="en-US" sz="1200" dirty="0"/>
          </a:p>
        </p:txBody>
      </p:sp>
      <p:sp>
        <p:nvSpPr>
          <p:cNvPr id="7" name="Text 5"/>
          <p:cNvSpPr/>
          <p:nvPr/>
        </p:nvSpPr>
        <p:spPr>
          <a:xfrm>
            <a:off x="4800600" y="1625600"/>
            <a:ext cx="340106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CORE BAND</a:t>
            </a:r>
            <a:endParaRPr lang="en-US" sz="1200" dirty="0"/>
          </a:p>
        </p:txBody>
      </p:sp>
      <p:sp>
        <p:nvSpPr>
          <p:cNvPr id="8" name="Text 6"/>
          <p:cNvSpPr/>
          <p:nvPr/>
        </p:nvSpPr>
        <p:spPr>
          <a:xfrm>
            <a:off x="8255000" y="1625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PREMIUM AND HOLDER</a:t>
            </a:r>
            <a:endParaRPr lang="en-US" sz="1200" dirty="0"/>
          </a:p>
        </p:txBody>
      </p:sp>
      <p:sp>
        <p:nvSpPr>
          <p:cNvPr id="9" name="Text 7"/>
          <p:cNvSpPr/>
          <p:nvPr/>
        </p:nvSpPr>
        <p:spPr>
          <a:xfrm>
            <a:off x="10502900" y="1625600"/>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TMC</a:t>
            </a:r>
            <a:endParaRPr lang="en-US" sz="1200" dirty="0"/>
          </a:p>
        </p:txBody>
      </p:sp>
      <p:sp>
        <p:nvSpPr>
          <p:cNvPr id="10" name="Shape 8"/>
          <p:cNvSpPr/>
          <p:nvPr/>
        </p:nvSpPr>
        <p:spPr>
          <a:xfrm>
            <a:off x="812800" y="2562225"/>
            <a:ext cx="10566400" cy="0"/>
          </a:xfrm>
          <a:prstGeom prst="line">
            <a:avLst/>
          </a:prstGeom>
          <a:noFill/>
          <a:ln w="6350">
            <a:solidFill>
              <a:srgbClr val="3A3832"/>
            </a:solidFill>
            <a:prstDash val="solid"/>
          </a:ln>
        </p:spPr>
        <p:txBody>
          <a:bodyPr/>
          <a:lstStyle/>
          <a:p>
            <a:endParaRPr lang="en-US"/>
          </a:p>
        </p:txBody>
      </p:sp>
      <p:sp>
        <p:nvSpPr>
          <p:cNvPr id="11" name="Text 9"/>
          <p:cNvSpPr/>
          <p:nvPr/>
        </p:nvSpPr>
        <p:spPr>
          <a:xfrm>
            <a:off x="812800" y="2023535"/>
            <a:ext cx="16383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Shampoo, 200 to 250 ml</a:t>
            </a:r>
            <a:endParaRPr lang="en-US" sz="1200" dirty="0"/>
          </a:p>
        </p:txBody>
      </p:sp>
      <p:sp>
        <p:nvSpPr>
          <p:cNvPr id="12" name="Text 10"/>
          <p:cNvSpPr/>
          <p:nvPr/>
        </p:nvSpPr>
        <p:spPr>
          <a:xfrm>
            <a:off x="2552700" y="2023535"/>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1.2 per ml: Head and Shoulders</a:t>
            </a:r>
            <a:endParaRPr lang="en-US" sz="1200" dirty="0"/>
          </a:p>
        </p:txBody>
      </p:sp>
      <p:sp>
        <p:nvSpPr>
          <p:cNvPr id="13" name="Text 11"/>
          <p:cNvSpPr/>
          <p:nvPr/>
        </p:nvSpPr>
        <p:spPr>
          <a:xfrm>
            <a:off x="4800600" y="2118785"/>
            <a:ext cx="340106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1.3 to 1.5 per ml: Ustraa, TMC, Beardo</a:t>
            </a:r>
            <a:endParaRPr lang="en-US" sz="1200" dirty="0"/>
          </a:p>
        </p:txBody>
      </p:sp>
      <p:sp>
        <p:nvSpPr>
          <p:cNvPr id="14" name="Text 12"/>
          <p:cNvSpPr/>
          <p:nvPr/>
        </p:nvSpPr>
        <p:spPr>
          <a:xfrm>
            <a:off x="8255000" y="1928285"/>
            <a:ext cx="2158365"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2.7 per ml: Man Matters, Traya; plans at Rs 1,198 to 2,000 a month ($14 to 24)</a:t>
            </a:r>
            <a:endParaRPr lang="en-US" sz="1200" dirty="0"/>
          </a:p>
        </p:txBody>
      </p:sp>
      <p:sp>
        <p:nvSpPr>
          <p:cNvPr id="15" name="Text 13"/>
          <p:cNvSpPr/>
          <p:nvPr/>
        </p:nvSpPr>
        <p:spPr>
          <a:xfrm>
            <a:off x="10502900" y="2023535"/>
            <a:ext cx="9271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1.4 per ml</a:t>
            </a:r>
            <a:endParaRPr lang="en-US" sz="1200" dirty="0"/>
          </a:p>
        </p:txBody>
      </p:sp>
      <p:sp>
        <p:nvSpPr>
          <p:cNvPr id="16" name="Shape 14"/>
          <p:cNvSpPr/>
          <p:nvPr/>
        </p:nvSpPr>
        <p:spPr>
          <a:xfrm>
            <a:off x="812800" y="2879725"/>
            <a:ext cx="10566400" cy="0"/>
          </a:xfrm>
          <a:prstGeom prst="line">
            <a:avLst/>
          </a:prstGeom>
          <a:noFill/>
          <a:ln w="6350">
            <a:solidFill>
              <a:srgbClr val="3A3832"/>
            </a:solidFill>
            <a:prstDash val="solid"/>
          </a:ln>
        </p:spPr>
        <p:txBody>
          <a:bodyPr/>
          <a:lstStyle/>
          <a:p>
            <a:endParaRPr lang="en-US"/>
          </a:p>
        </p:txBody>
      </p:sp>
      <p:sp>
        <p:nvSpPr>
          <p:cNvPr id="17" name="Text 15"/>
          <p:cNvSpPr/>
          <p:nvPr/>
        </p:nvSpPr>
        <p:spPr>
          <a:xfrm>
            <a:off x="812800" y="26267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Styling wax, 100 g</a:t>
            </a:r>
            <a:endParaRPr lang="en-US" sz="1200" dirty="0"/>
          </a:p>
        </p:txBody>
      </p:sp>
      <p:sp>
        <p:nvSpPr>
          <p:cNvPr id="18" name="Text 16"/>
          <p:cNvSpPr/>
          <p:nvPr/>
        </p:nvSpPr>
        <p:spPr>
          <a:xfrm>
            <a:off x="2552700" y="26267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100 ($1.2): Set Wet gel</a:t>
            </a:r>
            <a:endParaRPr lang="en-US" sz="1200" dirty="0"/>
          </a:p>
        </p:txBody>
      </p:sp>
      <p:sp>
        <p:nvSpPr>
          <p:cNvPr id="19" name="Text 17"/>
          <p:cNvSpPr/>
          <p:nvPr/>
        </p:nvSpPr>
        <p:spPr>
          <a:xfrm>
            <a:off x="4800600" y="2626785"/>
            <a:ext cx="340106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299 to 449 ($3.5 to 5.3)</a:t>
            </a:r>
            <a:endParaRPr lang="en-US" sz="1200" dirty="0"/>
          </a:p>
        </p:txBody>
      </p:sp>
      <p:sp>
        <p:nvSpPr>
          <p:cNvPr id="20" name="Text 18"/>
          <p:cNvSpPr/>
          <p:nvPr/>
        </p:nvSpPr>
        <p:spPr>
          <a:xfrm>
            <a:off x="8255000" y="26267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none</a:t>
            </a:r>
            <a:endParaRPr lang="en-US" sz="1200" dirty="0"/>
          </a:p>
        </p:txBody>
      </p:sp>
      <p:sp>
        <p:nvSpPr>
          <p:cNvPr id="21" name="Text 19"/>
          <p:cNvSpPr/>
          <p:nvPr/>
        </p:nvSpPr>
        <p:spPr>
          <a:xfrm>
            <a:off x="10502900" y="2626785"/>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299</a:t>
            </a:r>
            <a:endParaRPr lang="en-US" sz="1200" dirty="0"/>
          </a:p>
        </p:txBody>
      </p:sp>
      <p:sp>
        <p:nvSpPr>
          <p:cNvPr id="22" name="Shape 20"/>
          <p:cNvSpPr/>
          <p:nvPr/>
        </p:nvSpPr>
        <p:spPr>
          <a:xfrm>
            <a:off x="812800" y="3387725"/>
            <a:ext cx="10566400" cy="0"/>
          </a:xfrm>
          <a:prstGeom prst="line">
            <a:avLst/>
          </a:prstGeom>
          <a:noFill/>
          <a:ln w="6350">
            <a:solidFill>
              <a:srgbClr val="3A3832"/>
            </a:solidFill>
            <a:prstDash val="solid"/>
          </a:ln>
        </p:spPr>
        <p:txBody>
          <a:bodyPr/>
          <a:lstStyle/>
          <a:p>
            <a:endParaRPr lang="en-US"/>
          </a:p>
        </p:txBody>
      </p:sp>
      <p:sp>
        <p:nvSpPr>
          <p:cNvPr id="23" name="Text 21"/>
          <p:cNvSpPr/>
          <p:nvPr/>
        </p:nvSpPr>
        <p:spPr>
          <a:xfrm>
            <a:off x="812800" y="2944285"/>
            <a:ext cx="16383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Razor cartridges, each</a:t>
            </a:r>
            <a:endParaRPr lang="en-US" sz="1200" dirty="0"/>
          </a:p>
        </p:txBody>
      </p:sp>
      <p:sp>
        <p:nvSpPr>
          <p:cNvPr id="24" name="Text 22"/>
          <p:cNvSpPr/>
          <p:nvPr/>
        </p:nvSpPr>
        <p:spPr>
          <a:xfrm>
            <a:off x="2552700" y="303953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13 ($0.15): Gillette Guard</a:t>
            </a:r>
            <a:endParaRPr lang="en-US" sz="1200" dirty="0"/>
          </a:p>
        </p:txBody>
      </p:sp>
      <p:sp>
        <p:nvSpPr>
          <p:cNvPr id="25" name="Text 23"/>
          <p:cNvSpPr/>
          <p:nvPr/>
        </p:nvSpPr>
        <p:spPr>
          <a:xfrm>
            <a:off x="4800600" y="2944285"/>
            <a:ext cx="340106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125 to 175 ($1.5 to 2.1): Bombay Shaving, Mach3, LetsShave</a:t>
            </a:r>
            <a:endParaRPr lang="en-US" sz="1200" dirty="0"/>
          </a:p>
        </p:txBody>
      </p:sp>
      <p:sp>
        <p:nvSpPr>
          <p:cNvPr id="26" name="Text 24"/>
          <p:cNvSpPr/>
          <p:nvPr/>
        </p:nvSpPr>
        <p:spPr>
          <a:xfrm>
            <a:off x="8255000" y="2944285"/>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273 to 375 ($3.2 to 4.4): Gillette Fusion</a:t>
            </a:r>
            <a:endParaRPr lang="en-US" sz="1200" dirty="0"/>
          </a:p>
        </p:txBody>
      </p:sp>
      <p:sp>
        <p:nvSpPr>
          <p:cNvPr id="27" name="Text 25"/>
          <p:cNvSpPr/>
          <p:nvPr/>
        </p:nvSpPr>
        <p:spPr>
          <a:xfrm>
            <a:off x="10502900" y="3039535"/>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not present</a:t>
            </a:r>
            <a:endParaRPr lang="en-US" sz="1200" dirty="0"/>
          </a:p>
        </p:txBody>
      </p:sp>
      <p:sp>
        <p:nvSpPr>
          <p:cNvPr id="28" name="Shape 26"/>
          <p:cNvSpPr/>
          <p:nvPr/>
        </p:nvSpPr>
        <p:spPr>
          <a:xfrm>
            <a:off x="812800" y="3895725"/>
            <a:ext cx="10566400" cy="0"/>
          </a:xfrm>
          <a:prstGeom prst="line">
            <a:avLst/>
          </a:prstGeom>
          <a:noFill/>
          <a:ln w="6350">
            <a:solidFill>
              <a:srgbClr val="3A3832"/>
            </a:solidFill>
            <a:prstDash val="solid"/>
          </a:ln>
        </p:spPr>
        <p:txBody>
          <a:bodyPr/>
          <a:lstStyle/>
          <a:p>
            <a:endParaRPr lang="en-US"/>
          </a:p>
        </p:txBody>
      </p:sp>
      <p:sp>
        <p:nvSpPr>
          <p:cNvPr id="29" name="Text 27"/>
          <p:cNvSpPr/>
          <p:nvPr/>
        </p:nvSpPr>
        <p:spPr>
          <a:xfrm>
            <a:off x="812800" y="35475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Trimmer</a:t>
            </a:r>
            <a:endParaRPr lang="en-US" sz="1200" dirty="0"/>
          </a:p>
        </p:txBody>
      </p:sp>
      <p:sp>
        <p:nvSpPr>
          <p:cNvPr id="30" name="Text 28"/>
          <p:cNvSpPr/>
          <p:nvPr/>
        </p:nvSpPr>
        <p:spPr>
          <a:xfrm>
            <a:off x="2552700" y="3452285"/>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549 ($6.5): Bombay Shaving</a:t>
            </a:r>
            <a:endParaRPr lang="en-US" sz="1200" dirty="0"/>
          </a:p>
        </p:txBody>
      </p:sp>
      <p:sp>
        <p:nvSpPr>
          <p:cNvPr id="31" name="Text 29"/>
          <p:cNvSpPr/>
          <p:nvPr/>
        </p:nvSpPr>
        <p:spPr>
          <a:xfrm>
            <a:off x="4800600" y="3452285"/>
            <a:ext cx="340106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669 to 1,182 ($7.9 to 13.9): Philips, Beardo, Havells</a:t>
            </a:r>
            <a:endParaRPr lang="en-US" sz="1200" dirty="0"/>
          </a:p>
        </p:txBody>
      </p:sp>
      <p:sp>
        <p:nvSpPr>
          <p:cNvPr id="32" name="Text 30"/>
          <p:cNvSpPr/>
          <p:nvPr/>
        </p:nvSpPr>
        <p:spPr>
          <a:xfrm>
            <a:off x="8255000" y="3452285"/>
            <a:ext cx="215836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2,899 ($34): Ustraa Chrome</a:t>
            </a:r>
            <a:endParaRPr lang="en-US" sz="1200" dirty="0"/>
          </a:p>
        </p:txBody>
      </p:sp>
      <p:sp>
        <p:nvSpPr>
          <p:cNvPr id="33" name="Text 31"/>
          <p:cNvSpPr/>
          <p:nvPr/>
        </p:nvSpPr>
        <p:spPr>
          <a:xfrm>
            <a:off x="10502900" y="3547535"/>
            <a:ext cx="9271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not present</a:t>
            </a:r>
            <a:endParaRPr lang="en-US" sz="1200" dirty="0"/>
          </a:p>
        </p:txBody>
      </p:sp>
      <p:sp>
        <p:nvSpPr>
          <p:cNvPr id="34" name="Shape 32"/>
          <p:cNvSpPr/>
          <p:nvPr/>
        </p:nvSpPr>
        <p:spPr>
          <a:xfrm>
            <a:off x="812800" y="4594225"/>
            <a:ext cx="10566400" cy="0"/>
          </a:xfrm>
          <a:prstGeom prst="line">
            <a:avLst/>
          </a:prstGeom>
          <a:noFill/>
          <a:ln w="6350">
            <a:solidFill>
              <a:srgbClr val="3A3832"/>
            </a:solidFill>
            <a:prstDash val="solid"/>
          </a:ln>
        </p:spPr>
        <p:txBody>
          <a:bodyPr/>
          <a:lstStyle/>
          <a:p>
            <a:endParaRPr lang="en-US"/>
          </a:p>
        </p:txBody>
      </p:sp>
      <p:sp>
        <p:nvSpPr>
          <p:cNvPr id="35" name="Text 33"/>
          <p:cNvSpPr/>
          <p:nvPr/>
        </p:nvSpPr>
        <p:spPr>
          <a:xfrm>
            <a:off x="812800" y="41507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Gift kit</a:t>
            </a:r>
            <a:endParaRPr lang="en-US" sz="1200" dirty="0"/>
          </a:p>
        </p:txBody>
      </p:sp>
      <p:sp>
        <p:nvSpPr>
          <p:cNvPr id="36" name="Text 34"/>
          <p:cNvSpPr/>
          <p:nvPr/>
        </p:nvSpPr>
        <p:spPr>
          <a:xfrm>
            <a:off x="2552700" y="3960285"/>
            <a:ext cx="2158365"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499 ($5.9): four 20 ml perfumes from TMC, Bella Vita, Bombay Shaving</a:t>
            </a:r>
            <a:endParaRPr lang="en-US" sz="1200" dirty="0"/>
          </a:p>
        </p:txBody>
      </p:sp>
      <p:sp>
        <p:nvSpPr>
          <p:cNvPr id="37" name="Text 35"/>
          <p:cNvSpPr/>
          <p:nvPr/>
        </p:nvSpPr>
        <p:spPr>
          <a:xfrm>
            <a:off x="4800600" y="4150785"/>
            <a:ext cx="340106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599 to 999 ($7 to 11.8)</a:t>
            </a:r>
            <a:endParaRPr lang="en-US" sz="1200" dirty="0"/>
          </a:p>
        </p:txBody>
      </p:sp>
      <p:sp>
        <p:nvSpPr>
          <p:cNvPr id="38" name="Text 36"/>
          <p:cNvSpPr/>
          <p:nvPr/>
        </p:nvSpPr>
        <p:spPr>
          <a:xfrm>
            <a:off x="8255000" y="41507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Rs 1,399 to 1,530 ($16 to 18)</a:t>
            </a:r>
            <a:endParaRPr lang="en-US" sz="1200" dirty="0"/>
          </a:p>
        </p:txBody>
      </p:sp>
      <p:sp>
        <p:nvSpPr>
          <p:cNvPr id="39" name="Text 37"/>
          <p:cNvSpPr/>
          <p:nvPr/>
        </p:nvSpPr>
        <p:spPr>
          <a:xfrm>
            <a:off x="10502900" y="4055535"/>
            <a:ext cx="9271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499 to 1,399</a:t>
            </a:r>
            <a:endParaRPr lang="en-US" sz="1200" dirty="0"/>
          </a:p>
        </p:txBody>
      </p:sp>
      <p:sp>
        <p:nvSpPr>
          <p:cNvPr id="40" name="Text 38"/>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brand sites, Nykaa Man, BigBasket, read 3 October 2026 (F)</a:t>
            </a:r>
            <a:endParaRPr lang="en-US" sz="1200" dirty="0"/>
          </a:p>
        </p:txBody>
      </p:sp>
      <p:sp>
        <p:nvSpPr>
          <p:cNvPr id="41" name="Text 39"/>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5</a:t>
            </a:r>
            <a:endParaRPr lang="en-US" sz="1200" dirty="0"/>
          </a:p>
        </p:txBody>
      </p:sp>
      <p:pic>
        <p:nvPicPr>
          <p:cNvPr id="43" name="Graphic 42" descr="Bar graph with upward trend with solid fill">
            <a:extLst>
              <a:ext uri="{FF2B5EF4-FFF2-40B4-BE49-F238E27FC236}">
                <a16:creationId xmlns:a16="http://schemas.microsoft.com/office/drawing/2014/main" id="{51551332-A502-F7E2-EC3A-669C4BB9D9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0" y="56618"/>
            <a:ext cx="699563" cy="6995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the category maps show </a:t>
            </a:r>
            <a:r>
              <a:rPr lang="en-US" sz="2500" b="0" i="0" dirty="0">
                <a:solidFill>
                  <a:srgbClr val="00B050"/>
                </a:solidFill>
                <a:latin typeface="Oswald" pitchFamily="34" charset="0"/>
                <a:ea typeface="Oswald" pitchFamily="34" charset="-122"/>
                <a:cs typeface="Oswald" pitchFamily="34" charset="-120"/>
              </a:rPr>
              <a:t>– logic (</a:t>
            </a:r>
            <a:r>
              <a:rPr lang="en-US" sz="2500" b="0" i="0" dirty="0" err="1">
                <a:solidFill>
                  <a:srgbClr val="00B050"/>
                </a:solidFill>
                <a:latin typeface="Oswald" pitchFamily="34" charset="0"/>
                <a:ea typeface="Oswald" pitchFamily="34" charset="-122"/>
                <a:cs typeface="Oswald" pitchFamily="34" charset="-120"/>
              </a:rPr>
              <a:t>conlcusions</a:t>
            </a:r>
            <a:r>
              <a:rPr lang="en-US" sz="2500" b="0" i="0" dirty="0">
                <a:solidFill>
                  <a:srgbClr val="00B050"/>
                </a:solidFill>
                <a:latin typeface="Oswald" pitchFamily="34" charset="0"/>
                <a:ea typeface="Oswald" pitchFamily="34" charset="-122"/>
                <a:cs typeface="Oswald" pitchFamily="34" charset="-120"/>
              </a:rPr>
              <a:t>)</a:t>
            </a:r>
            <a:endParaRPr lang="en-US" sz="2500" dirty="0">
              <a:solidFill>
                <a:srgbClr val="00B050"/>
              </a:solidFill>
            </a:endParaRPr>
          </a:p>
        </p:txBody>
      </p:sp>
      <p:sp>
        <p:nvSpPr>
          <p:cNvPr id="4" name="Shape 2"/>
          <p:cNvSpPr/>
          <p:nvPr/>
        </p:nvSpPr>
        <p:spPr>
          <a:xfrm>
            <a:off x="812800" y="1841500"/>
            <a:ext cx="5207000" cy="1238250"/>
          </a:xfrm>
          <a:prstGeom prst="rect">
            <a:avLst/>
          </a:prstGeom>
          <a:solidFill>
            <a:srgbClr val="1D1C19"/>
          </a:solidFill>
          <a:ln/>
        </p:spPr>
        <p:txBody>
          <a:bodyPr/>
          <a:lstStyle/>
          <a:p>
            <a:endParaRPr lang="en-US"/>
          </a:p>
        </p:txBody>
      </p:sp>
      <p:sp>
        <p:nvSpPr>
          <p:cNvPr id="5" name="Text 3"/>
          <p:cNvSpPr/>
          <p:nvPr/>
        </p:nvSpPr>
        <p:spPr>
          <a:xfrm>
            <a:off x="990600" y="2019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1</a:t>
            </a:r>
            <a:endParaRPr lang="en-US" sz="2200" dirty="0"/>
          </a:p>
        </p:txBody>
      </p:sp>
      <p:sp>
        <p:nvSpPr>
          <p:cNvPr id="6" name="Text 4"/>
          <p:cNvSpPr/>
          <p:nvPr/>
        </p:nvSpPr>
        <p:spPr>
          <a:xfrm>
            <a:off x="1498600" y="20193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Perfume is one band</a:t>
            </a:r>
            <a:endParaRPr lang="en-US" sz="1400" dirty="0"/>
          </a:p>
        </p:txBody>
      </p:sp>
      <p:sp>
        <p:nvSpPr>
          <p:cNvPr id="7" name="Text 5"/>
          <p:cNvSpPr/>
          <p:nvPr/>
        </p:nvSpPr>
        <p:spPr>
          <a:xfrm>
            <a:off x="1498600" y="2283420"/>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New brands and mass brands overlap at Rs 4 to 8 per ml. There is no price gap between Fogg and Beardo to speak of; the gap is in the story.</a:t>
            </a:r>
            <a:endParaRPr lang="en-US" sz="1200" dirty="0"/>
          </a:p>
        </p:txBody>
      </p:sp>
      <p:sp>
        <p:nvSpPr>
          <p:cNvPr id="8" name="Shape 6"/>
          <p:cNvSpPr/>
          <p:nvPr/>
        </p:nvSpPr>
        <p:spPr>
          <a:xfrm>
            <a:off x="6172200" y="1841500"/>
            <a:ext cx="5207000" cy="1238250"/>
          </a:xfrm>
          <a:prstGeom prst="rect">
            <a:avLst/>
          </a:prstGeom>
          <a:solidFill>
            <a:srgbClr val="1D1C19"/>
          </a:solidFill>
          <a:ln/>
        </p:spPr>
        <p:txBody>
          <a:bodyPr/>
          <a:lstStyle/>
          <a:p>
            <a:endParaRPr lang="en-US"/>
          </a:p>
        </p:txBody>
      </p:sp>
      <p:sp>
        <p:nvSpPr>
          <p:cNvPr id="9" name="Text 7"/>
          <p:cNvSpPr/>
          <p:nvPr/>
        </p:nvSpPr>
        <p:spPr>
          <a:xfrm>
            <a:off x="6350000" y="2019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2</a:t>
            </a:r>
            <a:endParaRPr lang="en-US" sz="2200" dirty="0"/>
          </a:p>
        </p:txBody>
      </p:sp>
      <p:sp>
        <p:nvSpPr>
          <p:cNvPr id="10" name="Text 8"/>
          <p:cNvSpPr/>
          <p:nvPr/>
        </p:nvSpPr>
        <p:spPr>
          <a:xfrm>
            <a:off x="6858000" y="2019300"/>
            <a:ext cx="4521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Face wash and beard oil have no price room at all</a:t>
            </a:r>
            <a:endParaRPr lang="en-US" sz="1400" dirty="0"/>
          </a:p>
        </p:txBody>
      </p:sp>
      <p:sp>
        <p:nvSpPr>
          <p:cNvPr id="11" name="Text 9"/>
          <p:cNvSpPr/>
          <p:nvPr/>
        </p:nvSpPr>
        <p:spPr>
          <a:xfrm>
            <a:off x="6858000" y="2283420"/>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Everything sits within Rs 100 of everything else. Muuchstac and Minimalist charge the same Rs 269. Profit comes from low selling cost, not price.</a:t>
            </a:r>
            <a:endParaRPr lang="en-US" sz="1200" dirty="0"/>
          </a:p>
        </p:txBody>
      </p:sp>
      <p:sp>
        <p:nvSpPr>
          <p:cNvPr id="12" name="Shape 10"/>
          <p:cNvSpPr/>
          <p:nvPr/>
        </p:nvSpPr>
        <p:spPr>
          <a:xfrm>
            <a:off x="812800" y="3232150"/>
            <a:ext cx="5207000" cy="1447800"/>
          </a:xfrm>
          <a:prstGeom prst="rect">
            <a:avLst/>
          </a:prstGeom>
          <a:solidFill>
            <a:srgbClr val="1D1C19"/>
          </a:solidFill>
          <a:ln/>
        </p:spPr>
        <p:txBody>
          <a:bodyPr/>
          <a:lstStyle/>
          <a:p>
            <a:endParaRPr lang="en-US"/>
          </a:p>
        </p:txBody>
      </p:sp>
      <p:sp>
        <p:nvSpPr>
          <p:cNvPr id="13" name="Text 11"/>
          <p:cNvSpPr/>
          <p:nvPr/>
        </p:nvSpPr>
        <p:spPr>
          <a:xfrm>
            <a:off x="990600" y="340995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3</a:t>
            </a:r>
            <a:endParaRPr lang="en-US" sz="2200" dirty="0"/>
          </a:p>
        </p:txBody>
      </p:sp>
      <p:sp>
        <p:nvSpPr>
          <p:cNvPr id="14" name="Text 12"/>
          <p:cNvSpPr/>
          <p:nvPr/>
        </p:nvSpPr>
        <p:spPr>
          <a:xfrm>
            <a:off x="1498600" y="3409950"/>
            <a:ext cx="4473702"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A premium of two to three times exists in three places only</a:t>
            </a:r>
            <a:endParaRPr lang="en-US" sz="1400" dirty="0"/>
          </a:p>
        </p:txBody>
      </p:sp>
      <p:sp>
        <p:nvSpPr>
          <p:cNvPr id="15" name="Text 13"/>
          <p:cNvSpPr/>
          <p:nvPr/>
        </p:nvSpPr>
        <p:spPr>
          <a:xfrm>
            <a:off x="1498600" y="3887391"/>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Reginald's sunscreen, the hair-loss plans, and Gillette's top cartridges (20 to 29 times Guard per blade). Each is tied to a result or a system.</a:t>
            </a:r>
            <a:endParaRPr lang="en-US" sz="1200" dirty="0"/>
          </a:p>
        </p:txBody>
      </p:sp>
      <p:sp>
        <p:nvSpPr>
          <p:cNvPr id="16" name="Shape 14"/>
          <p:cNvSpPr/>
          <p:nvPr/>
        </p:nvSpPr>
        <p:spPr>
          <a:xfrm>
            <a:off x="6172200" y="3232150"/>
            <a:ext cx="5207000" cy="1447800"/>
          </a:xfrm>
          <a:prstGeom prst="rect">
            <a:avLst/>
          </a:prstGeom>
          <a:solidFill>
            <a:srgbClr val="1D1C19"/>
          </a:solidFill>
          <a:ln/>
        </p:spPr>
        <p:txBody>
          <a:bodyPr/>
          <a:lstStyle/>
          <a:p>
            <a:endParaRPr lang="en-US"/>
          </a:p>
        </p:txBody>
      </p:sp>
      <p:sp>
        <p:nvSpPr>
          <p:cNvPr id="17" name="Text 15"/>
          <p:cNvSpPr/>
          <p:nvPr/>
        </p:nvSpPr>
        <p:spPr>
          <a:xfrm>
            <a:off x="6350000" y="340995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4</a:t>
            </a:r>
            <a:endParaRPr lang="en-US" sz="2200" dirty="0"/>
          </a:p>
        </p:txBody>
      </p:sp>
      <p:sp>
        <p:nvSpPr>
          <p:cNvPr id="18" name="Text 16"/>
          <p:cNvSpPr/>
          <p:nvPr/>
        </p:nvSpPr>
        <p:spPr>
          <a:xfrm>
            <a:off x="6858000" y="340995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The Rs 499 perfume gift set is a commodity</a:t>
            </a:r>
            <a:endParaRPr lang="en-US" sz="1400" dirty="0"/>
          </a:p>
        </p:txBody>
      </p:sp>
      <p:sp>
        <p:nvSpPr>
          <p:cNvPr id="19" name="Text 17"/>
          <p:cNvSpPr/>
          <p:nvPr/>
        </p:nvSpPr>
        <p:spPr>
          <a:xfrm>
            <a:off x="6858000" y="3674070"/>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Three brands sell the same four-by-20 ml box at the same price.</a:t>
            </a:r>
            <a:endParaRPr lang="en-US" sz="1200" dirty="0"/>
          </a:p>
        </p:txBody>
      </p:sp>
      <p:sp>
        <p:nvSpPr>
          <p:cNvPr id="20" name="Shape 18"/>
          <p:cNvSpPr/>
          <p:nvPr/>
        </p:nvSpPr>
        <p:spPr>
          <a:xfrm>
            <a:off x="812800" y="4832350"/>
            <a:ext cx="10566400" cy="838200"/>
          </a:xfrm>
          <a:prstGeom prst="rect">
            <a:avLst/>
          </a:prstGeom>
          <a:solidFill>
            <a:srgbClr val="1D1C19"/>
          </a:solidFill>
          <a:ln/>
        </p:spPr>
        <p:txBody>
          <a:bodyPr/>
          <a:lstStyle/>
          <a:p>
            <a:endParaRPr lang="en-US"/>
          </a:p>
        </p:txBody>
      </p:sp>
      <p:sp>
        <p:nvSpPr>
          <p:cNvPr id="21" name="Text 19"/>
          <p:cNvSpPr/>
          <p:nvPr/>
        </p:nvSpPr>
        <p:spPr>
          <a:xfrm>
            <a:off x="990600" y="501015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5</a:t>
            </a:r>
            <a:endParaRPr lang="en-US" sz="2200" dirty="0"/>
          </a:p>
        </p:txBody>
      </p:sp>
      <p:sp>
        <p:nvSpPr>
          <p:cNvPr id="22" name="Text 20"/>
          <p:cNvSpPr/>
          <p:nvPr/>
        </p:nvSpPr>
        <p:spPr>
          <a:xfrm>
            <a:off x="1498600" y="5010150"/>
            <a:ext cx="999388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TMC is priced mid-pack in every category</a:t>
            </a:r>
            <a:endParaRPr lang="en-US" sz="1400" dirty="0"/>
          </a:p>
        </p:txBody>
      </p:sp>
      <p:sp>
        <p:nvSpPr>
          <p:cNvPr id="23" name="Text 21"/>
          <p:cNvSpPr/>
          <p:nvPr/>
        </p:nvSpPr>
        <p:spPr>
          <a:xfrm>
            <a:off x="1498600" y="5274270"/>
            <a:ext cx="9993884"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It has no category where it holds a premium and none where it is the value choice.</a:t>
            </a:r>
            <a:endParaRPr lang="en-US" sz="1200" dirty="0"/>
          </a:p>
        </p:txBody>
      </p:sp>
      <p:sp>
        <p:nvSpPr>
          <p:cNvPr id="24" name="Text 22"/>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Companion document, section 1.2</a:t>
            </a:r>
            <a:endParaRPr lang="en-US" sz="1200" dirty="0"/>
          </a:p>
        </p:txBody>
      </p:sp>
      <p:sp>
        <p:nvSpPr>
          <p:cNvPr id="25" name="Text 23"/>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6</a:t>
            </a:r>
            <a:endParaRPr lang="en-US" sz="1200" dirty="0"/>
          </a:p>
        </p:txBody>
      </p:sp>
      <p:pic>
        <p:nvPicPr>
          <p:cNvPr id="27" name="Graphic 26" descr="Blueprint with solid fill">
            <a:extLst>
              <a:ext uri="{FF2B5EF4-FFF2-40B4-BE49-F238E27FC236}">
                <a16:creationId xmlns:a16="http://schemas.microsoft.com/office/drawing/2014/main" id="{DD38843A-0AFE-CF47-C72B-DF6476A41B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fontScale="90000"/>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Price map by brand: brand power shows in how little a brand discounts – </a:t>
            </a:r>
            <a:r>
              <a:rPr lang="en-US" sz="2500" b="0" i="0" dirty="0">
                <a:solidFill>
                  <a:srgbClr val="0070C0"/>
                </a:solidFill>
                <a:latin typeface="Oswald" pitchFamily="34" charset="0"/>
                <a:ea typeface="Oswald" pitchFamily="34" charset="-122"/>
                <a:cs typeface="Oswald" pitchFamily="34" charset="-120"/>
              </a:rPr>
              <a:t>show that less discount is better &amp; how </a:t>
            </a:r>
            <a:r>
              <a:rPr lang="en-US" sz="2500" b="0" i="0" dirty="0" err="1">
                <a:solidFill>
                  <a:srgbClr val="0070C0"/>
                </a:solidFill>
                <a:latin typeface="Oswald" pitchFamily="34" charset="0"/>
                <a:ea typeface="Oswald" pitchFamily="34" charset="-122"/>
                <a:cs typeface="Oswald" pitchFamily="34" charset="-120"/>
              </a:rPr>
              <a:t>tmc</a:t>
            </a:r>
            <a:r>
              <a:rPr lang="en-US" sz="2500" b="0" i="0" dirty="0">
                <a:solidFill>
                  <a:srgbClr val="0070C0"/>
                </a:solidFill>
                <a:latin typeface="Oswald" pitchFamily="34" charset="0"/>
                <a:ea typeface="Oswald" pitchFamily="34" charset="-122"/>
                <a:cs typeface="Oswald" pitchFamily="34" charset="-120"/>
              </a:rPr>
              <a:t> discounts too much compared to others (graphic showing the diff between normal pric</a:t>
            </a:r>
            <a:r>
              <a:rPr lang="en-US" dirty="0">
                <a:solidFill>
                  <a:srgbClr val="0070C0"/>
                </a:solidFill>
              </a:rPr>
              <a:t>e and discount)</a:t>
            </a:r>
            <a:endParaRPr lang="en-US" sz="2500" dirty="0">
              <a:solidFill>
                <a:srgbClr val="0070C0"/>
              </a:solidFill>
            </a:endParaRPr>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274701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 AND HERO PRODUCT</a:t>
            </a:r>
            <a:endParaRPr lang="en-US" sz="1200" dirty="0"/>
          </a:p>
        </p:txBody>
      </p:sp>
      <p:sp>
        <p:nvSpPr>
          <p:cNvPr id="6" name="Text 4"/>
          <p:cNvSpPr/>
          <p:nvPr/>
        </p:nvSpPr>
        <p:spPr>
          <a:xfrm>
            <a:off x="3606800" y="1879600"/>
            <a:ext cx="1257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LIST</a:t>
            </a:r>
            <a:endParaRPr lang="en-US" sz="1200" dirty="0"/>
          </a:p>
        </p:txBody>
      </p:sp>
      <p:sp>
        <p:nvSpPr>
          <p:cNvPr id="7" name="Text 5"/>
          <p:cNvSpPr/>
          <p:nvPr/>
        </p:nvSpPr>
        <p:spPr>
          <a:xfrm>
            <a:off x="4940300" y="1879600"/>
            <a:ext cx="1257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SELLING</a:t>
            </a:r>
            <a:endParaRPr lang="en-US" sz="1200" dirty="0"/>
          </a:p>
        </p:txBody>
      </p:sp>
      <p:sp>
        <p:nvSpPr>
          <p:cNvPr id="8" name="Text 6"/>
          <p:cNvSpPr/>
          <p:nvPr/>
        </p:nvSpPr>
        <p:spPr>
          <a:xfrm>
            <a:off x="6273800" y="1879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DISCOUNT</a:t>
            </a:r>
            <a:endParaRPr lang="en-US" sz="1200" dirty="0"/>
          </a:p>
        </p:txBody>
      </p:sp>
      <p:sp>
        <p:nvSpPr>
          <p:cNvPr id="9" name="Text 7"/>
          <p:cNvSpPr/>
          <p:nvPr/>
        </p:nvSpPr>
        <p:spPr>
          <a:xfrm>
            <a:off x="8496300" y="1879600"/>
            <a:ext cx="2969387"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READING</a:t>
            </a:r>
            <a:endParaRPr lang="en-US" sz="1200" dirty="0"/>
          </a:p>
        </p:txBody>
      </p:sp>
      <p:sp>
        <p:nvSpPr>
          <p:cNvPr id="10" name="Shape 8"/>
          <p:cNvSpPr/>
          <p:nvPr/>
        </p:nvSpPr>
        <p:spPr>
          <a:xfrm>
            <a:off x="812800" y="2486025"/>
            <a:ext cx="10566400" cy="0"/>
          </a:xfrm>
          <a:prstGeom prst="line">
            <a:avLst/>
          </a:prstGeom>
          <a:noFill/>
          <a:ln w="6350">
            <a:solidFill>
              <a:srgbClr val="3A3832"/>
            </a:solidFill>
            <a:prstDash val="solid"/>
          </a:ln>
        </p:spPr>
        <p:txBody>
          <a:bodyPr/>
          <a:lstStyle/>
          <a:p>
            <a:endParaRPr lang="en-US"/>
          </a:p>
        </p:txBody>
      </p:sp>
      <p:sp>
        <p:nvSpPr>
          <p:cNvPr id="11" name="Text 9"/>
          <p:cNvSpPr/>
          <p:nvPr/>
        </p:nvSpPr>
        <p:spPr>
          <a:xfrm>
            <a:off x="812800" y="22330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Reginald Men · sunscreen 50 g</a:t>
            </a:r>
            <a:endParaRPr lang="en-US" sz="1200" dirty="0"/>
          </a:p>
        </p:txBody>
      </p:sp>
      <p:sp>
        <p:nvSpPr>
          <p:cNvPr id="12" name="Text 10"/>
          <p:cNvSpPr/>
          <p:nvPr/>
        </p:nvSpPr>
        <p:spPr>
          <a:xfrm>
            <a:off x="3606800" y="2233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850</a:t>
            </a:r>
            <a:endParaRPr lang="en-US" sz="1200" dirty="0"/>
          </a:p>
        </p:txBody>
      </p:sp>
      <p:sp>
        <p:nvSpPr>
          <p:cNvPr id="13" name="Text 11"/>
          <p:cNvSpPr/>
          <p:nvPr/>
        </p:nvSpPr>
        <p:spPr>
          <a:xfrm>
            <a:off x="4940300" y="2233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850</a:t>
            </a:r>
            <a:endParaRPr lang="en-US" sz="1200" dirty="0"/>
          </a:p>
        </p:txBody>
      </p:sp>
      <p:sp>
        <p:nvSpPr>
          <p:cNvPr id="14" name="Shape 12"/>
          <p:cNvSpPr/>
          <p:nvPr/>
        </p:nvSpPr>
        <p:spPr>
          <a:xfrm>
            <a:off x="6273800" y="2252135"/>
            <a:ext cx="19050" cy="152400"/>
          </a:xfrm>
          <a:prstGeom prst="rect">
            <a:avLst/>
          </a:prstGeom>
          <a:solidFill>
            <a:srgbClr val="6FD08C"/>
          </a:solidFill>
          <a:ln/>
        </p:spPr>
        <p:txBody>
          <a:bodyPr/>
          <a:lstStyle/>
          <a:p>
            <a:endParaRPr lang="en-US"/>
          </a:p>
        </p:txBody>
      </p:sp>
      <p:sp>
        <p:nvSpPr>
          <p:cNvPr id="15" name="Text 13"/>
          <p:cNvSpPr/>
          <p:nvPr/>
        </p:nvSpPr>
        <p:spPr>
          <a:xfrm>
            <a:off x="6356350" y="2233085"/>
            <a:ext cx="29560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0%</a:t>
            </a:r>
            <a:endParaRPr lang="en-US" sz="1200" dirty="0"/>
          </a:p>
        </p:txBody>
      </p:sp>
      <p:sp>
        <p:nvSpPr>
          <p:cNvPr id="16" name="Text 14"/>
          <p:cNvSpPr/>
          <p:nvPr/>
        </p:nvSpPr>
        <p:spPr>
          <a:xfrm>
            <a:off x="8496300" y="22330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Full price at twice the category</a:t>
            </a:r>
            <a:endParaRPr lang="en-US" sz="1200" dirty="0"/>
          </a:p>
        </p:txBody>
      </p:sp>
      <p:sp>
        <p:nvSpPr>
          <p:cNvPr id="17" name="Shape 15"/>
          <p:cNvSpPr/>
          <p:nvPr/>
        </p:nvSpPr>
        <p:spPr>
          <a:xfrm>
            <a:off x="812800" y="2803525"/>
            <a:ext cx="10566400" cy="0"/>
          </a:xfrm>
          <a:prstGeom prst="line">
            <a:avLst/>
          </a:prstGeom>
          <a:noFill/>
          <a:ln w="6350">
            <a:solidFill>
              <a:srgbClr val="3A3832"/>
            </a:solidFill>
            <a:prstDash val="solid"/>
          </a:ln>
        </p:spPr>
        <p:txBody>
          <a:bodyPr/>
          <a:lstStyle/>
          <a:p>
            <a:endParaRPr lang="en-US"/>
          </a:p>
        </p:txBody>
      </p:sp>
      <p:sp>
        <p:nvSpPr>
          <p:cNvPr id="18" name="Text 16"/>
          <p:cNvSpPr/>
          <p:nvPr/>
        </p:nvSpPr>
        <p:spPr>
          <a:xfrm>
            <a:off x="812800" y="25505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Bombay Shaving Co. · perfume</a:t>
            </a:r>
            <a:endParaRPr lang="en-US" sz="1200" dirty="0"/>
          </a:p>
        </p:txBody>
      </p:sp>
      <p:sp>
        <p:nvSpPr>
          <p:cNvPr id="19" name="Text 17"/>
          <p:cNvSpPr/>
          <p:nvPr/>
        </p:nvSpPr>
        <p:spPr>
          <a:xfrm>
            <a:off x="3606800" y="2550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795</a:t>
            </a:r>
            <a:endParaRPr lang="en-US" sz="1200" dirty="0"/>
          </a:p>
        </p:txBody>
      </p:sp>
      <p:sp>
        <p:nvSpPr>
          <p:cNvPr id="20" name="Text 18"/>
          <p:cNvSpPr/>
          <p:nvPr/>
        </p:nvSpPr>
        <p:spPr>
          <a:xfrm>
            <a:off x="4940300" y="2550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795</a:t>
            </a:r>
            <a:endParaRPr lang="en-US" sz="1200" dirty="0"/>
          </a:p>
        </p:txBody>
      </p:sp>
      <p:sp>
        <p:nvSpPr>
          <p:cNvPr id="21" name="Shape 19"/>
          <p:cNvSpPr/>
          <p:nvPr/>
        </p:nvSpPr>
        <p:spPr>
          <a:xfrm>
            <a:off x="6273800" y="2569635"/>
            <a:ext cx="19050" cy="152400"/>
          </a:xfrm>
          <a:prstGeom prst="rect">
            <a:avLst/>
          </a:prstGeom>
          <a:solidFill>
            <a:srgbClr val="6FD08C"/>
          </a:solidFill>
          <a:ln/>
        </p:spPr>
        <p:txBody>
          <a:bodyPr/>
          <a:lstStyle/>
          <a:p>
            <a:endParaRPr lang="en-US"/>
          </a:p>
        </p:txBody>
      </p:sp>
      <p:sp>
        <p:nvSpPr>
          <p:cNvPr id="22" name="Text 20"/>
          <p:cNvSpPr/>
          <p:nvPr/>
        </p:nvSpPr>
        <p:spPr>
          <a:xfrm>
            <a:off x="6356350" y="2550585"/>
            <a:ext cx="29560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0%</a:t>
            </a:r>
            <a:endParaRPr lang="en-US" sz="1200" dirty="0"/>
          </a:p>
        </p:txBody>
      </p:sp>
      <p:sp>
        <p:nvSpPr>
          <p:cNvPr id="23" name="Text 21"/>
          <p:cNvSpPr/>
          <p:nvPr/>
        </p:nvSpPr>
        <p:spPr>
          <a:xfrm>
            <a:off x="8496300" y="25505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0% on perfume; 40 to 45% on trimmers</a:t>
            </a:r>
            <a:endParaRPr lang="en-US" sz="1200" dirty="0"/>
          </a:p>
        </p:txBody>
      </p:sp>
      <p:sp>
        <p:nvSpPr>
          <p:cNvPr id="24" name="Shape 22"/>
          <p:cNvSpPr/>
          <p:nvPr/>
        </p:nvSpPr>
        <p:spPr>
          <a:xfrm>
            <a:off x="812800" y="3121025"/>
            <a:ext cx="10566400" cy="0"/>
          </a:xfrm>
          <a:prstGeom prst="line">
            <a:avLst/>
          </a:prstGeom>
          <a:noFill/>
          <a:ln w="6350">
            <a:solidFill>
              <a:srgbClr val="3A3832"/>
            </a:solidFill>
            <a:prstDash val="solid"/>
          </a:ln>
        </p:spPr>
        <p:txBody>
          <a:bodyPr/>
          <a:lstStyle/>
          <a:p>
            <a:endParaRPr lang="en-US"/>
          </a:p>
        </p:txBody>
      </p:sp>
      <p:sp>
        <p:nvSpPr>
          <p:cNvPr id="25" name="Text 23"/>
          <p:cNvSpPr/>
          <p:nvPr/>
        </p:nvSpPr>
        <p:spPr>
          <a:xfrm>
            <a:off x="812800" y="28680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Minimalist · cleanser 100 ml</a:t>
            </a:r>
            <a:endParaRPr lang="en-US" sz="1200" dirty="0"/>
          </a:p>
        </p:txBody>
      </p:sp>
      <p:sp>
        <p:nvSpPr>
          <p:cNvPr id="26" name="Text 24"/>
          <p:cNvSpPr/>
          <p:nvPr/>
        </p:nvSpPr>
        <p:spPr>
          <a:xfrm>
            <a:off x="3606800" y="2868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299</a:t>
            </a:r>
            <a:endParaRPr lang="en-US" sz="1200" dirty="0"/>
          </a:p>
        </p:txBody>
      </p:sp>
      <p:sp>
        <p:nvSpPr>
          <p:cNvPr id="27" name="Text 25"/>
          <p:cNvSpPr/>
          <p:nvPr/>
        </p:nvSpPr>
        <p:spPr>
          <a:xfrm>
            <a:off x="4940300" y="2868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269</a:t>
            </a:r>
            <a:endParaRPr lang="en-US" sz="1200" dirty="0"/>
          </a:p>
        </p:txBody>
      </p:sp>
      <p:sp>
        <p:nvSpPr>
          <p:cNvPr id="28" name="Shape 26"/>
          <p:cNvSpPr/>
          <p:nvPr/>
        </p:nvSpPr>
        <p:spPr>
          <a:xfrm>
            <a:off x="6273800" y="2887135"/>
            <a:ext cx="165100" cy="152400"/>
          </a:xfrm>
          <a:prstGeom prst="rect">
            <a:avLst/>
          </a:prstGeom>
          <a:solidFill>
            <a:srgbClr val="6FD08C"/>
          </a:solidFill>
          <a:ln/>
        </p:spPr>
        <p:txBody>
          <a:bodyPr/>
          <a:lstStyle/>
          <a:p>
            <a:endParaRPr lang="en-US"/>
          </a:p>
        </p:txBody>
      </p:sp>
      <p:sp>
        <p:nvSpPr>
          <p:cNvPr id="29" name="Text 27"/>
          <p:cNvSpPr/>
          <p:nvPr/>
        </p:nvSpPr>
        <p:spPr>
          <a:xfrm>
            <a:off x="6502400" y="2868085"/>
            <a:ext cx="35103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10%</a:t>
            </a:r>
            <a:endParaRPr lang="en-US" sz="1200" dirty="0"/>
          </a:p>
        </p:txBody>
      </p:sp>
      <p:sp>
        <p:nvSpPr>
          <p:cNvPr id="30" name="Text 28"/>
          <p:cNvSpPr/>
          <p:nvPr/>
        </p:nvSpPr>
        <p:spPr>
          <a:xfrm>
            <a:off x="8496300" y="28680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Near list</a:t>
            </a:r>
            <a:endParaRPr lang="en-US" sz="1200" dirty="0"/>
          </a:p>
        </p:txBody>
      </p:sp>
      <p:sp>
        <p:nvSpPr>
          <p:cNvPr id="31" name="Shape 29"/>
          <p:cNvSpPr/>
          <p:nvPr/>
        </p:nvSpPr>
        <p:spPr>
          <a:xfrm>
            <a:off x="812800" y="3438525"/>
            <a:ext cx="10566400" cy="0"/>
          </a:xfrm>
          <a:prstGeom prst="line">
            <a:avLst/>
          </a:prstGeom>
          <a:noFill/>
          <a:ln w="6350">
            <a:solidFill>
              <a:srgbClr val="3A3832"/>
            </a:solidFill>
            <a:prstDash val="solid"/>
          </a:ln>
        </p:spPr>
        <p:txBody>
          <a:bodyPr/>
          <a:lstStyle/>
          <a:p>
            <a:endParaRPr lang="en-US"/>
          </a:p>
        </p:txBody>
      </p:sp>
      <p:sp>
        <p:nvSpPr>
          <p:cNvPr id="32" name="Text 30"/>
          <p:cNvSpPr/>
          <p:nvPr/>
        </p:nvSpPr>
        <p:spPr>
          <a:xfrm>
            <a:off x="812800" y="31855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Muuchstac · face wash 100 ml</a:t>
            </a:r>
            <a:endParaRPr lang="en-US" sz="1200" dirty="0"/>
          </a:p>
        </p:txBody>
      </p:sp>
      <p:sp>
        <p:nvSpPr>
          <p:cNvPr id="33" name="Text 31"/>
          <p:cNvSpPr/>
          <p:nvPr/>
        </p:nvSpPr>
        <p:spPr>
          <a:xfrm>
            <a:off x="3606800" y="3185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299</a:t>
            </a:r>
            <a:endParaRPr lang="en-US" sz="1200" dirty="0"/>
          </a:p>
        </p:txBody>
      </p:sp>
      <p:sp>
        <p:nvSpPr>
          <p:cNvPr id="34" name="Text 32"/>
          <p:cNvSpPr/>
          <p:nvPr/>
        </p:nvSpPr>
        <p:spPr>
          <a:xfrm>
            <a:off x="4940300" y="3185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249 to 269</a:t>
            </a:r>
            <a:endParaRPr lang="en-US" sz="1200" dirty="0"/>
          </a:p>
        </p:txBody>
      </p:sp>
      <p:sp>
        <p:nvSpPr>
          <p:cNvPr id="35" name="Shape 33"/>
          <p:cNvSpPr/>
          <p:nvPr/>
        </p:nvSpPr>
        <p:spPr>
          <a:xfrm>
            <a:off x="6273800" y="3204635"/>
            <a:ext cx="222250" cy="152400"/>
          </a:xfrm>
          <a:prstGeom prst="rect">
            <a:avLst/>
          </a:prstGeom>
          <a:solidFill>
            <a:srgbClr val="6FD08C"/>
          </a:solidFill>
          <a:ln/>
        </p:spPr>
        <p:txBody>
          <a:bodyPr/>
          <a:lstStyle/>
          <a:p>
            <a:endParaRPr lang="en-US"/>
          </a:p>
        </p:txBody>
      </p:sp>
      <p:sp>
        <p:nvSpPr>
          <p:cNvPr id="36" name="Text 34"/>
          <p:cNvSpPr/>
          <p:nvPr/>
        </p:nvSpPr>
        <p:spPr>
          <a:xfrm>
            <a:off x="6559550" y="3185585"/>
            <a:ext cx="717153"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10 to 17%</a:t>
            </a:r>
            <a:endParaRPr lang="en-US" sz="1200" dirty="0"/>
          </a:p>
        </p:txBody>
      </p:sp>
      <p:sp>
        <p:nvSpPr>
          <p:cNvPr id="37" name="Text 35"/>
          <p:cNvSpPr/>
          <p:nvPr/>
        </p:nvSpPr>
        <p:spPr>
          <a:xfrm>
            <a:off x="8496300" y="31855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Near list</a:t>
            </a:r>
            <a:endParaRPr lang="en-US" sz="1200" dirty="0"/>
          </a:p>
        </p:txBody>
      </p:sp>
      <p:sp>
        <p:nvSpPr>
          <p:cNvPr id="38" name="Shape 36"/>
          <p:cNvSpPr/>
          <p:nvPr/>
        </p:nvSpPr>
        <p:spPr>
          <a:xfrm>
            <a:off x="812800" y="3756025"/>
            <a:ext cx="10566400" cy="0"/>
          </a:xfrm>
          <a:prstGeom prst="line">
            <a:avLst/>
          </a:prstGeom>
          <a:noFill/>
          <a:ln w="6350">
            <a:solidFill>
              <a:srgbClr val="3A3832"/>
            </a:solidFill>
            <a:prstDash val="solid"/>
          </a:ln>
        </p:spPr>
        <p:txBody>
          <a:bodyPr/>
          <a:lstStyle/>
          <a:p>
            <a:endParaRPr lang="en-US"/>
          </a:p>
        </p:txBody>
      </p:sp>
      <p:sp>
        <p:nvSpPr>
          <p:cNvPr id="39" name="Text 37"/>
          <p:cNvSpPr/>
          <p:nvPr/>
        </p:nvSpPr>
        <p:spPr>
          <a:xfrm>
            <a:off x="812800" y="35030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Fogg · deodorant 150 ml</a:t>
            </a:r>
            <a:endParaRPr lang="en-US" sz="1200" dirty="0"/>
          </a:p>
        </p:txBody>
      </p:sp>
      <p:sp>
        <p:nvSpPr>
          <p:cNvPr id="40" name="Text 38"/>
          <p:cNvSpPr/>
          <p:nvPr/>
        </p:nvSpPr>
        <p:spPr>
          <a:xfrm>
            <a:off x="3606800" y="3503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299</a:t>
            </a:r>
            <a:endParaRPr lang="en-US" sz="1200" dirty="0"/>
          </a:p>
        </p:txBody>
      </p:sp>
      <p:sp>
        <p:nvSpPr>
          <p:cNvPr id="41" name="Text 39"/>
          <p:cNvSpPr/>
          <p:nvPr/>
        </p:nvSpPr>
        <p:spPr>
          <a:xfrm>
            <a:off x="4940300" y="3503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254</a:t>
            </a:r>
            <a:endParaRPr lang="en-US" sz="1200" dirty="0"/>
          </a:p>
        </p:txBody>
      </p:sp>
      <p:sp>
        <p:nvSpPr>
          <p:cNvPr id="42" name="Shape 40"/>
          <p:cNvSpPr/>
          <p:nvPr/>
        </p:nvSpPr>
        <p:spPr>
          <a:xfrm>
            <a:off x="6273800" y="3522135"/>
            <a:ext cx="247650" cy="152400"/>
          </a:xfrm>
          <a:prstGeom prst="rect">
            <a:avLst/>
          </a:prstGeom>
          <a:solidFill>
            <a:srgbClr val="6FD08C"/>
          </a:solidFill>
          <a:ln/>
        </p:spPr>
        <p:txBody>
          <a:bodyPr/>
          <a:lstStyle/>
          <a:p>
            <a:endParaRPr lang="en-US"/>
          </a:p>
        </p:txBody>
      </p:sp>
      <p:sp>
        <p:nvSpPr>
          <p:cNvPr id="43" name="Text 41"/>
          <p:cNvSpPr/>
          <p:nvPr/>
        </p:nvSpPr>
        <p:spPr>
          <a:xfrm>
            <a:off x="6584950" y="3503085"/>
            <a:ext cx="338402"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15%</a:t>
            </a:r>
            <a:endParaRPr lang="en-US" sz="1200" dirty="0"/>
          </a:p>
        </p:txBody>
      </p:sp>
      <p:sp>
        <p:nvSpPr>
          <p:cNvPr id="44" name="Text 42"/>
          <p:cNvSpPr/>
          <p:nvPr/>
        </p:nvSpPr>
        <p:spPr>
          <a:xfrm>
            <a:off x="8496300" y="35030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Near list</a:t>
            </a:r>
            <a:endParaRPr lang="en-US" sz="1200" dirty="0"/>
          </a:p>
        </p:txBody>
      </p:sp>
      <p:sp>
        <p:nvSpPr>
          <p:cNvPr id="45" name="Shape 43"/>
          <p:cNvSpPr/>
          <p:nvPr/>
        </p:nvSpPr>
        <p:spPr>
          <a:xfrm>
            <a:off x="812800" y="4073525"/>
            <a:ext cx="10566400" cy="0"/>
          </a:xfrm>
          <a:prstGeom prst="line">
            <a:avLst/>
          </a:prstGeom>
          <a:noFill/>
          <a:ln w="6350">
            <a:solidFill>
              <a:srgbClr val="3A3832"/>
            </a:solidFill>
            <a:prstDash val="solid"/>
          </a:ln>
        </p:spPr>
        <p:txBody>
          <a:bodyPr/>
          <a:lstStyle/>
          <a:p>
            <a:endParaRPr lang="en-US"/>
          </a:p>
        </p:txBody>
      </p:sp>
      <p:sp>
        <p:nvSpPr>
          <p:cNvPr id="46" name="Text 44"/>
          <p:cNvSpPr/>
          <p:nvPr/>
        </p:nvSpPr>
        <p:spPr>
          <a:xfrm>
            <a:off x="812800" y="38205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Gillette · Mach3 razor</a:t>
            </a:r>
            <a:endParaRPr lang="en-US" sz="1200" dirty="0"/>
          </a:p>
        </p:txBody>
      </p:sp>
      <p:sp>
        <p:nvSpPr>
          <p:cNvPr id="47" name="Text 45"/>
          <p:cNvSpPr/>
          <p:nvPr/>
        </p:nvSpPr>
        <p:spPr>
          <a:xfrm>
            <a:off x="3606800" y="3820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474</a:t>
            </a:r>
            <a:endParaRPr lang="en-US" sz="1200" dirty="0"/>
          </a:p>
        </p:txBody>
      </p:sp>
      <p:sp>
        <p:nvSpPr>
          <p:cNvPr id="48" name="Text 46"/>
          <p:cNvSpPr/>
          <p:nvPr/>
        </p:nvSpPr>
        <p:spPr>
          <a:xfrm>
            <a:off x="4940300" y="3820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384</a:t>
            </a:r>
            <a:endParaRPr lang="en-US" sz="1200" dirty="0"/>
          </a:p>
        </p:txBody>
      </p:sp>
      <p:sp>
        <p:nvSpPr>
          <p:cNvPr id="49" name="Shape 47"/>
          <p:cNvSpPr/>
          <p:nvPr/>
        </p:nvSpPr>
        <p:spPr>
          <a:xfrm>
            <a:off x="6273800" y="3839635"/>
            <a:ext cx="311150" cy="152400"/>
          </a:xfrm>
          <a:prstGeom prst="rect">
            <a:avLst/>
          </a:prstGeom>
          <a:solidFill>
            <a:srgbClr val="6FD08C"/>
          </a:solidFill>
          <a:ln/>
        </p:spPr>
        <p:txBody>
          <a:bodyPr/>
          <a:lstStyle/>
          <a:p>
            <a:endParaRPr lang="en-US"/>
          </a:p>
        </p:txBody>
      </p:sp>
      <p:sp>
        <p:nvSpPr>
          <p:cNvPr id="50" name="Text 48"/>
          <p:cNvSpPr/>
          <p:nvPr/>
        </p:nvSpPr>
        <p:spPr>
          <a:xfrm>
            <a:off x="6648450" y="3820585"/>
            <a:ext cx="34038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19%</a:t>
            </a:r>
            <a:endParaRPr lang="en-US" sz="1200" dirty="0"/>
          </a:p>
        </p:txBody>
      </p:sp>
      <p:sp>
        <p:nvSpPr>
          <p:cNvPr id="51" name="Text 49"/>
          <p:cNvSpPr/>
          <p:nvPr/>
        </p:nvSpPr>
        <p:spPr>
          <a:xfrm>
            <a:off x="8496300" y="38205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Near list</a:t>
            </a:r>
            <a:endParaRPr lang="en-US" sz="1200" dirty="0"/>
          </a:p>
        </p:txBody>
      </p:sp>
      <p:sp>
        <p:nvSpPr>
          <p:cNvPr id="52" name="Shape 50"/>
          <p:cNvSpPr/>
          <p:nvPr/>
        </p:nvSpPr>
        <p:spPr>
          <a:xfrm>
            <a:off x="812800" y="4391025"/>
            <a:ext cx="10566400" cy="0"/>
          </a:xfrm>
          <a:prstGeom prst="line">
            <a:avLst/>
          </a:prstGeom>
          <a:noFill/>
          <a:ln w="6350">
            <a:solidFill>
              <a:srgbClr val="3A3832"/>
            </a:solidFill>
            <a:prstDash val="solid"/>
          </a:ln>
        </p:spPr>
        <p:txBody>
          <a:bodyPr/>
          <a:lstStyle/>
          <a:p>
            <a:endParaRPr lang="en-US"/>
          </a:p>
        </p:txBody>
      </p:sp>
      <p:sp>
        <p:nvSpPr>
          <p:cNvPr id="53" name="Text 51"/>
          <p:cNvSpPr/>
          <p:nvPr/>
        </p:nvSpPr>
        <p:spPr>
          <a:xfrm>
            <a:off x="812800" y="41380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Beardo · Godfather 100 ml</a:t>
            </a:r>
            <a:endParaRPr lang="en-US" sz="1200" dirty="0"/>
          </a:p>
        </p:txBody>
      </p:sp>
      <p:sp>
        <p:nvSpPr>
          <p:cNvPr id="54" name="Text 52"/>
          <p:cNvSpPr/>
          <p:nvPr/>
        </p:nvSpPr>
        <p:spPr>
          <a:xfrm>
            <a:off x="3606800" y="4138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1,200</a:t>
            </a:r>
            <a:endParaRPr lang="en-US" sz="1200" dirty="0"/>
          </a:p>
        </p:txBody>
      </p:sp>
      <p:sp>
        <p:nvSpPr>
          <p:cNvPr id="55" name="Text 53"/>
          <p:cNvSpPr/>
          <p:nvPr/>
        </p:nvSpPr>
        <p:spPr>
          <a:xfrm>
            <a:off x="4940300" y="4138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699</a:t>
            </a:r>
            <a:endParaRPr lang="en-US" sz="1200" dirty="0"/>
          </a:p>
        </p:txBody>
      </p:sp>
      <p:sp>
        <p:nvSpPr>
          <p:cNvPr id="56" name="Shape 54"/>
          <p:cNvSpPr/>
          <p:nvPr/>
        </p:nvSpPr>
        <p:spPr>
          <a:xfrm>
            <a:off x="6273800" y="4157135"/>
            <a:ext cx="692150" cy="152400"/>
          </a:xfrm>
          <a:prstGeom prst="rect">
            <a:avLst/>
          </a:prstGeom>
          <a:solidFill>
            <a:srgbClr val="8F8A7C"/>
          </a:solidFill>
          <a:ln/>
        </p:spPr>
        <p:txBody>
          <a:bodyPr/>
          <a:lstStyle/>
          <a:p>
            <a:endParaRPr lang="en-US"/>
          </a:p>
        </p:txBody>
      </p:sp>
      <p:sp>
        <p:nvSpPr>
          <p:cNvPr id="57" name="Text 55"/>
          <p:cNvSpPr/>
          <p:nvPr/>
        </p:nvSpPr>
        <p:spPr>
          <a:xfrm>
            <a:off x="7029450" y="4138085"/>
            <a:ext cx="375311"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42%</a:t>
            </a:r>
            <a:endParaRPr lang="en-US" sz="1200" dirty="0"/>
          </a:p>
        </p:txBody>
      </p:sp>
      <p:sp>
        <p:nvSpPr>
          <p:cNvPr id="58" name="Text 56"/>
          <p:cNvSpPr/>
          <p:nvPr/>
        </p:nvSpPr>
        <p:spPr>
          <a:xfrm>
            <a:off x="8496300" y="41380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Standing discount</a:t>
            </a:r>
            <a:endParaRPr lang="en-US" sz="1200" dirty="0"/>
          </a:p>
        </p:txBody>
      </p:sp>
      <p:sp>
        <p:nvSpPr>
          <p:cNvPr id="59" name="Shape 57"/>
          <p:cNvSpPr/>
          <p:nvPr/>
        </p:nvSpPr>
        <p:spPr>
          <a:xfrm>
            <a:off x="812800" y="4708525"/>
            <a:ext cx="10566400" cy="0"/>
          </a:xfrm>
          <a:prstGeom prst="line">
            <a:avLst/>
          </a:prstGeom>
          <a:noFill/>
          <a:ln w="6350">
            <a:solidFill>
              <a:srgbClr val="3A3832"/>
            </a:solidFill>
            <a:prstDash val="solid"/>
          </a:ln>
        </p:spPr>
        <p:txBody>
          <a:bodyPr/>
          <a:lstStyle/>
          <a:p>
            <a:endParaRPr lang="en-US"/>
          </a:p>
        </p:txBody>
      </p:sp>
      <p:sp>
        <p:nvSpPr>
          <p:cNvPr id="60" name="Text 58"/>
          <p:cNvSpPr/>
          <p:nvPr/>
        </p:nvSpPr>
        <p:spPr>
          <a:xfrm>
            <a:off x="812800" y="44555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Bella Vita · CEO Man 100 ml</a:t>
            </a:r>
            <a:endParaRPr lang="en-US" sz="1200" dirty="0"/>
          </a:p>
        </p:txBody>
      </p:sp>
      <p:sp>
        <p:nvSpPr>
          <p:cNvPr id="61" name="Text 59"/>
          <p:cNvSpPr/>
          <p:nvPr/>
        </p:nvSpPr>
        <p:spPr>
          <a:xfrm>
            <a:off x="3606800" y="4455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899</a:t>
            </a:r>
            <a:endParaRPr lang="en-US" sz="1200" dirty="0"/>
          </a:p>
        </p:txBody>
      </p:sp>
      <p:sp>
        <p:nvSpPr>
          <p:cNvPr id="62" name="Text 60"/>
          <p:cNvSpPr/>
          <p:nvPr/>
        </p:nvSpPr>
        <p:spPr>
          <a:xfrm>
            <a:off x="4940300" y="4455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449</a:t>
            </a:r>
            <a:endParaRPr lang="en-US" sz="1200" dirty="0"/>
          </a:p>
        </p:txBody>
      </p:sp>
      <p:sp>
        <p:nvSpPr>
          <p:cNvPr id="63" name="Shape 61"/>
          <p:cNvSpPr/>
          <p:nvPr/>
        </p:nvSpPr>
        <p:spPr>
          <a:xfrm>
            <a:off x="6273800" y="4474635"/>
            <a:ext cx="825500" cy="152400"/>
          </a:xfrm>
          <a:prstGeom prst="rect">
            <a:avLst/>
          </a:prstGeom>
          <a:solidFill>
            <a:srgbClr val="8F8A7C"/>
          </a:solidFill>
          <a:ln/>
        </p:spPr>
        <p:txBody>
          <a:bodyPr/>
          <a:lstStyle/>
          <a:p>
            <a:endParaRPr lang="en-US"/>
          </a:p>
        </p:txBody>
      </p:sp>
      <p:sp>
        <p:nvSpPr>
          <p:cNvPr id="64" name="Text 62"/>
          <p:cNvSpPr/>
          <p:nvPr/>
        </p:nvSpPr>
        <p:spPr>
          <a:xfrm>
            <a:off x="7162800" y="4455585"/>
            <a:ext cx="390260"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50%</a:t>
            </a:r>
            <a:endParaRPr lang="en-US" sz="1200" dirty="0"/>
          </a:p>
        </p:txBody>
      </p:sp>
      <p:sp>
        <p:nvSpPr>
          <p:cNvPr id="65" name="Text 63"/>
          <p:cNvSpPr/>
          <p:nvPr/>
        </p:nvSpPr>
        <p:spPr>
          <a:xfrm>
            <a:off x="8496300" y="44555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low price is the promise</a:t>
            </a:r>
            <a:endParaRPr lang="en-US" sz="1200" dirty="0"/>
          </a:p>
        </p:txBody>
      </p:sp>
      <p:sp>
        <p:nvSpPr>
          <p:cNvPr id="66" name="Shape 64"/>
          <p:cNvSpPr/>
          <p:nvPr/>
        </p:nvSpPr>
        <p:spPr>
          <a:xfrm>
            <a:off x="812800" y="5026025"/>
            <a:ext cx="10566400" cy="0"/>
          </a:xfrm>
          <a:prstGeom prst="line">
            <a:avLst/>
          </a:prstGeom>
          <a:noFill/>
          <a:ln w="6350">
            <a:solidFill>
              <a:srgbClr val="3A3832"/>
            </a:solidFill>
            <a:prstDash val="solid"/>
          </a:ln>
        </p:spPr>
        <p:txBody>
          <a:bodyPr/>
          <a:lstStyle/>
          <a:p>
            <a:endParaRPr lang="en-US"/>
          </a:p>
        </p:txBody>
      </p:sp>
      <p:sp>
        <p:nvSpPr>
          <p:cNvPr id="67" name="Text 65"/>
          <p:cNvSpPr/>
          <p:nvPr/>
        </p:nvSpPr>
        <p:spPr>
          <a:xfrm>
            <a:off x="812800" y="47730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Wild Stone · CODE 100 ml</a:t>
            </a:r>
            <a:endParaRPr lang="en-US" sz="1200" dirty="0"/>
          </a:p>
        </p:txBody>
      </p:sp>
      <p:sp>
        <p:nvSpPr>
          <p:cNvPr id="68" name="Text 66"/>
          <p:cNvSpPr/>
          <p:nvPr/>
        </p:nvSpPr>
        <p:spPr>
          <a:xfrm>
            <a:off x="3606800" y="4773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1,299</a:t>
            </a:r>
            <a:endParaRPr lang="en-US" sz="1200" dirty="0"/>
          </a:p>
        </p:txBody>
      </p:sp>
      <p:sp>
        <p:nvSpPr>
          <p:cNvPr id="69" name="Text 67"/>
          <p:cNvSpPr/>
          <p:nvPr/>
        </p:nvSpPr>
        <p:spPr>
          <a:xfrm>
            <a:off x="4940300" y="47730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649</a:t>
            </a:r>
            <a:endParaRPr lang="en-US" sz="1200" dirty="0"/>
          </a:p>
        </p:txBody>
      </p:sp>
      <p:sp>
        <p:nvSpPr>
          <p:cNvPr id="70" name="Shape 68"/>
          <p:cNvSpPr/>
          <p:nvPr/>
        </p:nvSpPr>
        <p:spPr>
          <a:xfrm>
            <a:off x="6273800" y="4792135"/>
            <a:ext cx="825500" cy="152400"/>
          </a:xfrm>
          <a:prstGeom prst="rect">
            <a:avLst/>
          </a:prstGeom>
          <a:solidFill>
            <a:srgbClr val="8F8A7C"/>
          </a:solidFill>
          <a:ln/>
        </p:spPr>
        <p:txBody>
          <a:bodyPr/>
          <a:lstStyle/>
          <a:p>
            <a:endParaRPr lang="en-US"/>
          </a:p>
        </p:txBody>
      </p:sp>
      <p:sp>
        <p:nvSpPr>
          <p:cNvPr id="71" name="Text 69"/>
          <p:cNvSpPr/>
          <p:nvPr/>
        </p:nvSpPr>
        <p:spPr>
          <a:xfrm>
            <a:off x="7162800" y="4773085"/>
            <a:ext cx="390260"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50%</a:t>
            </a:r>
            <a:endParaRPr lang="en-US" sz="1200" dirty="0"/>
          </a:p>
        </p:txBody>
      </p:sp>
      <p:sp>
        <p:nvSpPr>
          <p:cNvPr id="72" name="Text 70"/>
          <p:cNvSpPr/>
          <p:nvPr/>
        </p:nvSpPr>
        <p:spPr>
          <a:xfrm>
            <a:off x="8496300" y="47730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Standing discount</a:t>
            </a:r>
            <a:endParaRPr lang="en-US" sz="1200" dirty="0"/>
          </a:p>
        </p:txBody>
      </p:sp>
      <p:sp>
        <p:nvSpPr>
          <p:cNvPr id="73" name="Shape 71"/>
          <p:cNvSpPr/>
          <p:nvPr/>
        </p:nvSpPr>
        <p:spPr>
          <a:xfrm>
            <a:off x="812800" y="5343525"/>
            <a:ext cx="10566400" cy="0"/>
          </a:xfrm>
          <a:prstGeom prst="line">
            <a:avLst/>
          </a:prstGeom>
          <a:noFill/>
          <a:ln w="6350">
            <a:solidFill>
              <a:srgbClr val="3A3832"/>
            </a:solidFill>
            <a:prstDash val="solid"/>
          </a:ln>
        </p:spPr>
        <p:txBody>
          <a:bodyPr/>
          <a:lstStyle/>
          <a:p>
            <a:endParaRPr lang="en-US"/>
          </a:p>
        </p:txBody>
      </p:sp>
      <p:sp>
        <p:nvSpPr>
          <p:cNvPr id="74" name="Text 72"/>
          <p:cNvSpPr/>
          <p:nvPr/>
        </p:nvSpPr>
        <p:spPr>
          <a:xfrm>
            <a:off x="812800" y="5090585"/>
            <a:ext cx="274701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The Man Company · Black 100 ml</a:t>
            </a:r>
            <a:endParaRPr lang="en-US" sz="1200" dirty="0"/>
          </a:p>
        </p:txBody>
      </p:sp>
      <p:sp>
        <p:nvSpPr>
          <p:cNvPr id="75" name="Text 73"/>
          <p:cNvSpPr/>
          <p:nvPr/>
        </p:nvSpPr>
        <p:spPr>
          <a:xfrm>
            <a:off x="3606800" y="5090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2,499 or 899</a:t>
            </a:r>
            <a:endParaRPr lang="en-US" sz="1200" dirty="0"/>
          </a:p>
        </p:txBody>
      </p:sp>
      <p:sp>
        <p:nvSpPr>
          <p:cNvPr id="76" name="Text 74"/>
          <p:cNvSpPr/>
          <p:nvPr/>
        </p:nvSpPr>
        <p:spPr>
          <a:xfrm>
            <a:off x="4940300" y="5090585"/>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180 to 740</a:t>
            </a:r>
            <a:endParaRPr lang="en-US" sz="1200" dirty="0"/>
          </a:p>
        </p:txBody>
      </p:sp>
      <p:sp>
        <p:nvSpPr>
          <p:cNvPr id="77" name="Shape 75"/>
          <p:cNvSpPr/>
          <p:nvPr/>
        </p:nvSpPr>
        <p:spPr>
          <a:xfrm>
            <a:off x="6273800" y="5109635"/>
            <a:ext cx="1320800" cy="152400"/>
          </a:xfrm>
          <a:prstGeom prst="rect">
            <a:avLst/>
          </a:prstGeom>
          <a:solidFill>
            <a:srgbClr val="FF7A6B"/>
          </a:solidFill>
          <a:ln/>
        </p:spPr>
        <p:txBody>
          <a:bodyPr/>
          <a:lstStyle/>
          <a:p>
            <a:endParaRPr lang="en-US"/>
          </a:p>
        </p:txBody>
      </p:sp>
      <p:sp>
        <p:nvSpPr>
          <p:cNvPr id="78" name="Text 76"/>
          <p:cNvSpPr/>
          <p:nvPr/>
        </p:nvSpPr>
        <p:spPr>
          <a:xfrm>
            <a:off x="7658100" y="5090585"/>
            <a:ext cx="391914"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80%</a:t>
            </a:r>
            <a:endParaRPr lang="en-US" sz="1200" dirty="0"/>
          </a:p>
        </p:txBody>
      </p:sp>
      <p:sp>
        <p:nvSpPr>
          <p:cNvPr id="79" name="Text 77"/>
          <p:cNvSpPr/>
          <p:nvPr/>
        </p:nvSpPr>
        <p:spPr>
          <a:xfrm>
            <a:off x="8496300" y="5090585"/>
            <a:ext cx="2969387"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Two list prices, three selling prices</a:t>
            </a:r>
            <a:endParaRPr lang="en-US" sz="1200" dirty="0"/>
          </a:p>
        </p:txBody>
      </p:sp>
      <p:sp>
        <p:nvSpPr>
          <p:cNvPr id="80" name="Text 78"/>
          <p:cNvSpPr/>
          <p:nvPr/>
        </p:nvSpPr>
        <p:spPr>
          <a:xfrm>
            <a:off x="812800" y="5435600"/>
            <a:ext cx="10566400" cy="450850"/>
          </a:xfrm>
          <a:prstGeom prst="rect">
            <a:avLst/>
          </a:prstGeom>
          <a:solidFill>
            <a:srgbClr val="FFF460"/>
          </a:solidFill>
          <a:ln/>
        </p:spPr>
        <p:txBody>
          <a:bodyPr wrap="square" lIns="203200" tIns="0" rIns="0" bIns="0" rtlCol="0" anchor="ctr">
            <a:normAutofit/>
          </a:bodyPr>
          <a:lstStyle/>
          <a:p>
            <a:pPr marL="0" indent="0" algn="l">
              <a:lnSpc>
                <a:spcPts val="1750"/>
              </a:lnSpc>
              <a:buNone/>
            </a:pPr>
            <a:r>
              <a:rPr lang="en-US" sz="1400" b="1" dirty="0">
                <a:solidFill>
                  <a:srgbClr val="14140F"/>
                </a:solidFill>
                <a:latin typeface="DM Sans" pitchFamily="34" charset="0"/>
                <a:ea typeface="DM Sans" pitchFamily="34" charset="-122"/>
                <a:cs typeface="DM Sans" pitchFamily="34" charset="-120"/>
              </a:rPr>
              <a:t>Six brands sell near list price. Three run a standing discount of 42 to 50%. TMC stands alone at 80%.</a:t>
            </a:r>
            <a:endParaRPr lang="en-US" sz="1400" dirty="0"/>
          </a:p>
        </p:txBody>
      </p:sp>
      <p:sp>
        <p:nvSpPr>
          <p:cNvPr id="81" name="Text 79"/>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brand sites, Nykaa Man, BigBasket, read 3 October 2026 (F); Nykaa August audit (I)</a:t>
            </a:r>
            <a:endParaRPr lang="en-US" sz="1200" dirty="0"/>
          </a:p>
        </p:txBody>
      </p:sp>
      <p:sp>
        <p:nvSpPr>
          <p:cNvPr id="82" name="Text 80"/>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7</a:t>
            </a:r>
            <a:endParaRPr lang="en-US" sz="1200" dirty="0"/>
          </a:p>
        </p:txBody>
      </p:sp>
      <p:pic>
        <p:nvPicPr>
          <p:cNvPr id="84" name="Graphic 83" descr="Bar graph with upward trend with solid fill">
            <a:extLst>
              <a:ext uri="{FF2B5EF4-FFF2-40B4-BE49-F238E27FC236}">
                <a16:creationId xmlns:a16="http://schemas.microsoft.com/office/drawing/2014/main" id="{50BBF614-E868-69EA-D6DE-F176290EDD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0" y="56618"/>
            <a:ext cx="699563" cy="6995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84820"/>
            <a:ext cx="10883392" cy="390525"/>
          </a:xfrm>
          <a:prstGeom prst="rect">
            <a:avLst/>
          </a:prstGeom>
          <a:noFill/>
          <a:ln/>
        </p:spPr>
        <p:txBody>
          <a:bodyPr wrap="square" lIns="0" tIns="0" rIns="0" bIns="0" rtlCol="0" anchor="t">
            <a:normAutofit fontScale="90000"/>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TMC's price problem is coherence, not level: one bottle of Black, five prices -&gt; </a:t>
            </a:r>
            <a:r>
              <a:rPr lang="en-US" sz="2500" b="0" i="0" dirty="0">
                <a:solidFill>
                  <a:srgbClr val="0070C0"/>
                </a:solidFill>
                <a:latin typeface="Oswald" pitchFamily="34" charset="0"/>
                <a:ea typeface="Oswald" pitchFamily="34" charset="-122"/>
                <a:cs typeface="Oswald" pitchFamily="34" charset="-120"/>
              </a:rPr>
              <a:t>the difference between </a:t>
            </a:r>
            <a:r>
              <a:rPr lang="en-US" sz="2500" b="0" i="0" dirty="0" err="1">
                <a:solidFill>
                  <a:srgbClr val="0070C0"/>
                </a:solidFill>
                <a:latin typeface="Oswald" pitchFamily="34" charset="0"/>
                <a:ea typeface="Oswald" pitchFamily="34" charset="-122"/>
                <a:cs typeface="Oswald" pitchFamily="34" charset="-120"/>
              </a:rPr>
              <a:t>brices</a:t>
            </a:r>
            <a:r>
              <a:rPr lang="en-US" sz="2500" b="0" i="0" dirty="0">
                <a:solidFill>
                  <a:srgbClr val="0070C0"/>
                </a:solidFill>
                <a:latin typeface="Oswald" pitchFamily="34" charset="0"/>
                <a:ea typeface="Oswald" pitchFamily="34" charset="-122"/>
                <a:cs typeface="Oswald" pitchFamily="34" charset="-120"/>
              </a:rPr>
              <a:t> on different platforms</a:t>
            </a:r>
            <a:endParaRPr lang="en-US" sz="2500" dirty="0">
              <a:solidFill>
                <a:srgbClr val="0070C0"/>
              </a:solidFill>
            </a:endParaRPr>
          </a:p>
        </p:txBody>
      </p:sp>
      <p:sp>
        <p:nvSpPr>
          <p:cNvPr id="4" name="Shape 2"/>
          <p:cNvSpPr/>
          <p:nvPr/>
        </p:nvSpPr>
        <p:spPr>
          <a:xfrm>
            <a:off x="812800" y="1968500"/>
            <a:ext cx="1987550" cy="1651000"/>
          </a:xfrm>
          <a:prstGeom prst="rect">
            <a:avLst/>
          </a:prstGeom>
          <a:solidFill>
            <a:srgbClr val="1D1C19"/>
          </a:solidFill>
          <a:ln/>
        </p:spPr>
        <p:txBody>
          <a:bodyPr/>
          <a:lstStyle/>
          <a:p>
            <a:endParaRPr lang="en-US"/>
          </a:p>
        </p:txBody>
      </p:sp>
      <p:sp>
        <p:nvSpPr>
          <p:cNvPr id="5" name="Text 3"/>
          <p:cNvSpPr/>
          <p:nvPr/>
        </p:nvSpPr>
        <p:spPr>
          <a:xfrm>
            <a:off x="990600" y="2146300"/>
            <a:ext cx="1682750" cy="438745"/>
          </a:xfrm>
          <a:prstGeom prst="rect">
            <a:avLst/>
          </a:prstGeom>
          <a:noFill/>
          <a:ln/>
        </p:spPr>
        <p:txBody>
          <a:bodyPr wrap="none" lIns="0" tIns="0" rIns="0" bIns="0" rtlCol="0" anchor="t">
            <a:normAutofit/>
          </a:bodyPr>
          <a:lstStyle/>
          <a:p>
            <a:pPr marL="0" indent="0" algn="l">
              <a:lnSpc>
                <a:spcPts val="3255"/>
              </a:lnSpc>
              <a:buNone/>
            </a:pPr>
            <a:r>
              <a:rPr lang="en-US" sz="3100" dirty="0">
                <a:solidFill>
                  <a:srgbClr val="F4F0E8"/>
                </a:solidFill>
                <a:latin typeface="Oswald" pitchFamily="34" charset="0"/>
                <a:ea typeface="Oswald" pitchFamily="34" charset="-122"/>
                <a:cs typeface="Oswald" pitchFamily="34" charset="-120"/>
              </a:rPr>
              <a:t>Rs 2,499</a:t>
            </a:r>
            <a:endParaRPr lang="en-US" sz="3100" dirty="0"/>
          </a:p>
        </p:txBody>
      </p:sp>
      <p:sp>
        <p:nvSpPr>
          <p:cNvPr id="6" name="Text 4"/>
          <p:cNvSpPr/>
          <p:nvPr/>
        </p:nvSpPr>
        <p:spPr>
          <a:xfrm>
            <a:off x="990600" y="2635845"/>
            <a:ext cx="1682750"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List price on TMC's own site</a:t>
            </a:r>
            <a:endParaRPr lang="en-US" sz="1200" dirty="0"/>
          </a:p>
        </p:txBody>
      </p:sp>
      <p:sp>
        <p:nvSpPr>
          <p:cNvPr id="7" name="Shape 5"/>
          <p:cNvSpPr/>
          <p:nvPr/>
        </p:nvSpPr>
        <p:spPr>
          <a:xfrm>
            <a:off x="2952750" y="1968500"/>
            <a:ext cx="1987550" cy="1651000"/>
          </a:xfrm>
          <a:prstGeom prst="rect">
            <a:avLst/>
          </a:prstGeom>
          <a:solidFill>
            <a:srgbClr val="1D1C19"/>
          </a:solidFill>
          <a:ln/>
        </p:spPr>
        <p:txBody>
          <a:bodyPr/>
          <a:lstStyle/>
          <a:p>
            <a:endParaRPr lang="en-US"/>
          </a:p>
        </p:txBody>
      </p:sp>
      <p:sp>
        <p:nvSpPr>
          <p:cNvPr id="8" name="Text 6"/>
          <p:cNvSpPr/>
          <p:nvPr/>
        </p:nvSpPr>
        <p:spPr>
          <a:xfrm>
            <a:off x="3130550" y="2146300"/>
            <a:ext cx="1682750" cy="438745"/>
          </a:xfrm>
          <a:prstGeom prst="rect">
            <a:avLst/>
          </a:prstGeom>
          <a:noFill/>
          <a:ln/>
        </p:spPr>
        <p:txBody>
          <a:bodyPr wrap="none" lIns="0" tIns="0" rIns="0" bIns="0" rtlCol="0" anchor="t">
            <a:normAutofit/>
          </a:bodyPr>
          <a:lstStyle/>
          <a:p>
            <a:pPr marL="0" indent="0" algn="l">
              <a:lnSpc>
                <a:spcPts val="3255"/>
              </a:lnSpc>
              <a:buNone/>
            </a:pPr>
            <a:r>
              <a:rPr lang="en-US" sz="3100" dirty="0">
                <a:solidFill>
                  <a:srgbClr val="F4F0E8"/>
                </a:solidFill>
                <a:latin typeface="Oswald" pitchFamily="34" charset="0"/>
                <a:ea typeface="Oswald" pitchFamily="34" charset="-122"/>
                <a:cs typeface="Oswald" pitchFamily="34" charset="-120"/>
              </a:rPr>
              <a:t>Rs 899</a:t>
            </a:r>
            <a:endParaRPr lang="en-US" sz="3100" dirty="0"/>
          </a:p>
        </p:txBody>
      </p:sp>
      <p:sp>
        <p:nvSpPr>
          <p:cNvPr id="9" name="Text 7"/>
          <p:cNvSpPr/>
          <p:nvPr/>
        </p:nvSpPr>
        <p:spPr>
          <a:xfrm>
            <a:off x="3130550" y="2635845"/>
            <a:ext cx="1809750"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List price on BigBasket</a:t>
            </a:r>
            <a:endParaRPr lang="en-US" sz="1200" dirty="0"/>
          </a:p>
        </p:txBody>
      </p:sp>
      <p:sp>
        <p:nvSpPr>
          <p:cNvPr id="10" name="Shape 8"/>
          <p:cNvSpPr/>
          <p:nvPr/>
        </p:nvSpPr>
        <p:spPr>
          <a:xfrm>
            <a:off x="5092700" y="1968500"/>
            <a:ext cx="1987550" cy="1651000"/>
          </a:xfrm>
          <a:prstGeom prst="rect">
            <a:avLst/>
          </a:prstGeom>
          <a:solidFill>
            <a:srgbClr val="1D1C19"/>
          </a:solidFill>
          <a:ln/>
        </p:spPr>
        <p:txBody>
          <a:bodyPr/>
          <a:lstStyle/>
          <a:p>
            <a:endParaRPr lang="en-US"/>
          </a:p>
        </p:txBody>
      </p:sp>
      <p:sp>
        <p:nvSpPr>
          <p:cNvPr id="11" name="Text 9"/>
          <p:cNvSpPr/>
          <p:nvPr/>
        </p:nvSpPr>
        <p:spPr>
          <a:xfrm>
            <a:off x="5270500" y="2146300"/>
            <a:ext cx="1682750" cy="438745"/>
          </a:xfrm>
          <a:prstGeom prst="rect">
            <a:avLst/>
          </a:prstGeom>
          <a:noFill/>
          <a:ln/>
        </p:spPr>
        <p:txBody>
          <a:bodyPr wrap="none" lIns="0" tIns="0" rIns="0" bIns="0" rtlCol="0" anchor="t">
            <a:normAutofit/>
          </a:bodyPr>
          <a:lstStyle/>
          <a:p>
            <a:pPr marL="0" indent="0" algn="l">
              <a:lnSpc>
                <a:spcPts val="3255"/>
              </a:lnSpc>
              <a:buNone/>
            </a:pPr>
            <a:r>
              <a:rPr lang="en-US" sz="3100" dirty="0">
                <a:solidFill>
                  <a:srgbClr val="FF7A6B"/>
                </a:solidFill>
                <a:latin typeface="Oswald" pitchFamily="34" charset="0"/>
                <a:ea typeface="Oswald" pitchFamily="34" charset="-122"/>
                <a:cs typeface="Oswald" pitchFamily="34" charset="-120"/>
              </a:rPr>
              <a:t>Rs 499</a:t>
            </a:r>
            <a:endParaRPr lang="en-US" sz="3100" dirty="0"/>
          </a:p>
        </p:txBody>
      </p:sp>
      <p:sp>
        <p:nvSpPr>
          <p:cNvPr id="12" name="Text 10"/>
          <p:cNvSpPr/>
          <p:nvPr/>
        </p:nvSpPr>
        <p:spPr>
          <a:xfrm>
            <a:off x="5270500" y="2635845"/>
            <a:ext cx="1682750"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Selling price on TMC's own site ($5.9)</a:t>
            </a:r>
            <a:endParaRPr lang="en-US" sz="1200" dirty="0"/>
          </a:p>
        </p:txBody>
      </p:sp>
      <p:sp>
        <p:nvSpPr>
          <p:cNvPr id="13" name="Shape 11"/>
          <p:cNvSpPr/>
          <p:nvPr/>
        </p:nvSpPr>
        <p:spPr>
          <a:xfrm>
            <a:off x="7232650" y="1968500"/>
            <a:ext cx="1987550" cy="1651000"/>
          </a:xfrm>
          <a:prstGeom prst="rect">
            <a:avLst/>
          </a:prstGeom>
          <a:solidFill>
            <a:srgbClr val="1D1C19"/>
          </a:solidFill>
          <a:ln/>
        </p:spPr>
        <p:txBody>
          <a:bodyPr/>
          <a:lstStyle/>
          <a:p>
            <a:endParaRPr lang="en-US"/>
          </a:p>
        </p:txBody>
      </p:sp>
      <p:sp>
        <p:nvSpPr>
          <p:cNvPr id="14" name="Text 12"/>
          <p:cNvSpPr/>
          <p:nvPr/>
        </p:nvSpPr>
        <p:spPr>
          <a:xfrm>
            <a:off x="7410450" y="2146300"/>
            <a:ext cx="1682750" cy="438745"/>
          </a:xfrm>
          <a:prstGeom prst="rect">
            <a:avLst/>
          </a:prstGeom>
          <a:noFill/>
          <a:ln/>
        </p:spPr>
        <p:txBody>
          <a:bodyPr wrap="none" lIns="0" tIns="0" rIns="0" bIns="0" rtlCol="0" anchor="t">
            <a:normAutofit/>
          </a:bodyPr>
          <a:lstStyle/>
          <a:p>
            <a:pPr marL="0" indent="0" algn="l">
              <a:lnSpc>
                <a:spcPts val="3255"/>
              </a:lnSpc>
              <a:buNone/>
            </a:pPr>
            <a:r>
              <a:rPr lang="en-US" sz="3100" dirty="0">
                <a:solidFill>
                  <a:srgbClr val="FF7A6B"/>
                </a:solidFill>
                <a:latin typeface="Oswald" pitchFamily="34" charset="0"/>
                <a:ea typeface="Oswald" pitchFamily="34" charset="-122"/>
                <a:cs typeface="Oswald" pitchFamily="34" charset="-120"/>
              </a:rPr>
              <a:t>Rs 180</a:t>
            </a:r>
            <a:endParaRPr lang="en-US" sz="3100" dirty="0"/>
          </a:p>
        </p:txBody>
      </p:sp>
      <p:sp>
        <p:nvSpPr>
          <p:cNvPr id="15" name="Text 13"/>
          <p:cNvSpPr/>
          <p:nvPr/>
        </p:nvSpPr>
        <p:spPr>
          <a:xfrm>
            <a:off x="7410450" y="2635845"/>
            <a:ext cx="1682750"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Selling price on BigBasket ($2.1)</a:t>
            </a:r>
            <a:endParaRPr lang="en-US" sz="1200" dirty="0"/>
          </a:p>
        </p:txBody>
      </p:sp>
      <p:sp>
        <p:nvSpPr>
          <p:cNvPr id="16" name="Shape 14"/>
          <p:cNvSpPr/>
          <p:nvPr/>
        </p:nvSpPr>
        <p:spPr>
          <a:xfrm>
            <a:off x="9372600" y="1968500"/>
            <a:ext cx="1987550" cy="1651000"/>
          </a:xfrm>
          <a:prstGeom prst="rect">
            <a:avLst/>
          </a:prstGeom>
          <a:solidFill>
            <a:srgbClr val="1D1C19"/>
          </a:solidFill>
          <a:ln/>
        </p:spPr>
        <p:txBody>
          <a:bodyPr/>
          <a:lstStyle/>
          <a:p>
            <a:endParaRPr lang="en-US"/>
          </a:p>
        </p:txBody>
      </p:sp>
      <p:sp>
        <p:nvSpPr>
          <p:cNvPr id="17" name="Text 15"/>
          <p:cNvSpPr/>
          <p:nvPr/>
        </p:nvSpPr>
        <p:spPr>
          <a:xfrm>
            <a:off x="9550400" y="2146300"/>
            <a:ext cx="1682750" cy="438745"/>
          </a:xfrm>
          <a:prstGeom prst="rect">
            <a:avLst/>
          </a:prstGeom>
          <a:noFill/>
          <a:ln/>
        </p:spPr>
        <p:txBody>
          <a:bodyPr wrap="none" lIns="0" tIns="0" rIns="0" bIns="0" rtlCol="0" anchor="t">
            <a:normAutofit/>
          </a:bodyPr>
          <a:lstStyle/>
          <a:p>
            <a:pPr marL="0" indent="0" algn="l">
              <a:lnSpc>
                <a:spcPts val="3255"/>
              </a:lnSpc>
              <a:buNone/>
            </a:pPr>
            <a:r>
              <a:rPr lang="en-US" sz="3100" dirty="0">
                <a:solidFill>
                  <a:srgbClr val="FF7A6B"/>
                </a:solidFill>
                <a:latin typeface="Oswald" pitchFamily="34" charset="0"/>
                <a:ea typeface="Oswald" pitchFamily="34" charset="-122"/>
                <a:cs typeface="Oswald" pitchFamily="34" charset="-120"/>
              </a:rPr>
              <a:t>~Rs 740</a:t>
            </a:r>
            <a:endParaRPr lang="en-US" sz="3100" dirty="0"/>
          </a:p>
        </p:txBody>
      </p:sp>
      <p:sp>
        <p:nvSpPr>
          <p:cNvPr id="18" name="Text 16"/>
          <p:cNvSpPr/>
          <p:nvPr/>
        </p:nvSpPr>
        <p:spPr>
          <a:xfrm>
            <a:off x="9550400" y="2635845"/>
            <a:ext cx="1682750"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Selling price on Nykaa in August (I)</a:t>
            </a:r>
            <a:endParaRPr lang="en-US" sz="1200" dirty="0"/>
          </a:p>
        </p:txBody>
      </p:sp>
      <p:sp>
        <p:nvSpPr>
          <p:cNvPr id="19" name="Text 17"/>
          <p:cNvSpPr/>
          <p:nvPr/>
        </p:nvSpPr>
        <p:spPr>
          <a:xfrm>
            <a:off x="812800" y="4127500"/>
            <a:ext cx="10566400" cy="673100"/>
          </a:xfrm>
          <a:prstGeom prst="rect">
            <a:avLst/>
          </a:prstGeom>
          <a:solidFill>
            <a:srgbClr val="FFF460"/>
          </a:solidFill>
          <a:ln/>
        </p:spPr>
        <p:txBody>
          <a:bodyPr wrap="square" lIns="203200" tIns="0" rIns="0" bIns="0" rtlCol="0" anchor="ctr">
            <a:normAutofit/>
          </a:bodyPr>
          <a:lstStyle/>
          <a:p>
            <a:pPr marL="0" indent="0" algn="l">
              <a:lnSpc>
                <a:spcPts val="1750"/>
              </a:lnSpc>
              <a:buNone/>
            </a:pPr>
            <a:r>
              <a:rPr lang="en-US" sz="1400" b="1" dirty="0">
                <a:solidFill>
                  <a:srgbClr val="14140F"/>
                </a:solidFill>
                <a:latin typeface="DM Sans" pitchFamily="34" charset="0"/>
                <a:ea typeface="DM Sans" pitchFamily="34" charset="-122"/>
                <a:cs typeface="DM Sans" pitchFamily="34" charset="-120"/>
              </a:rPr>
              <a:t>One bottle with two list prices and selling prices from Rs 180 to Rs 740 teaches the buyer that no price is real. Confirm on the live pages, then fix it before any price increase.</a:t>
            </a:r>
            <a:endParaRPr lang="en-US" sz="1400" dirty="0"/>
          </a:p>
        </p:txBody>
      </p:sp>
      <p:sp>
        <p:nvSpPr>
          <p:cNvPr id="20" name="Text 18"/>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themancompany.com, BigBasket, read 3 October 2026 (F); Nykaa August audit (I). Needs a manual check</a:t>
            </a:r>
            <a:endParaRPr lang="en-US" sz="1200" dirty="0"/>
          </a:p>
        </p:txBody>
      </p:sp>
      <p:sp>
        <p:nvSpPr>
          <p:cNvPr id="21" name="Text 19"/>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8</a:t>
            </a:r>
            <a:endParaRPr lang="en-US" sz="1200" dirty="0"/>
          </a:p>
        </p:txBody>
      </p:sp>
      <p:pic>
        <p:nvPicPr>
          <p:cNvPr id="23" name="Graphic 22" descr="Bar graph with upward trend with solid fill">
            <a:extLst>
              <a:ext uri="{FF2B5EF4-FFF2-40B4-BE49-F238E27FC236}">
                <a16:creationId xmlns:a16="http://schemas.microsoft.com/office/drawing/2014/main" id="{89D7C449-0117-B1C3-3A6D-2AD9F0A08E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0" y="56618"/>
            <a:ext cx="699563" cy="6995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11200"/>
            <a:ext cx="10883392" cy="755650"/>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Price against sales and brand power: price does not predict sales; engagement and discount do </a:t>
            </a:r>
            <a:r>
              <a:rPr lang="en-US" sz="2500" b="0" i="0" dirty="0">
                <a:solidFill>
                  <a:srgbClr val="00B050"/>
                </a:solidFill>
                <a:latin typeface="Oswald" pitchFamily="34" charset="0"/>
                <a:ea typeface="Oswald" pitchFamily="34" charset="-122"/>
                <a:cs typeface="Oswald" pitchFamily="34" charset="-120"/>
              </a:rPr>
              <a:t>– move the focus from discount to engagement and who the correlation to </a:t>
            </a:r>
            <a:r>
              <a:rPr lang="en-US" sz="2500" b="0" i="0" dirty="0" err="1">
                <a:solidFill>
                  <a:srgbClr val="00B050"/>
                </a:solidFill>
                <a:latin typeface="Oswald" pitchFamily="34" charset="0"/>
                <a:ea typeface="Oswald" pitchFamily="34" charset="-122"/>
                <a:cs typeface="Oswald" pitchFamily="34" charset="-120"/>
              </a:rPr>
              <a:t>slaes</a:t>
            </a:r>
            <a:r>
              <a:rPr lang="en-US" sz="2500" b="0" i="0" dirty="0">
                <a:solidFill>
                  <a:srgbClr val="00B050"/>
                </a:solidFill>
                <a:latin typeface="Oswald" pitchFamily="34" charset="0"/>
                <a:ea typeface="Oswald" pitchFamily="34" charset="-122"/>
                <a:cs typeface="Oswald" pitchFamily="34" charset="-120"/>
              </a:rPr>
              <a:t> </a:t>
            </a:r>
            <a:endParaRPr lang="en-US" sz="2500" dirty="0">
              <a:solidFill>
                <a:srgbClr val="00B050"/>
              </a:solidFill>
            </a:endParaRPr>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a:t>
            </a:r>
            <a:endParaRPr lang="en-US" sz="1200" dirty="0"/>
          </a:p>
        </p:txBody>
      </p:sp>
      <p:sp>
        <p:nvSpPr>
          <p:cNvPr id="6" name="Text 4"/>
          <p:cNvSpPr/>
          <p:nvPr/>
        </p:nvSpPr>
        <p:spPr>
          <a:xfrm>
            <a:off x="3035300" y="1879600"/>
            <a:ext cx="196215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SALES, $M</a:t>
            </a:r>
            <a:endParaRPr lang="en-US" sz="1200" dirty="0"/>
          </a:p>
        </p:txBody>
      </p:sp>
      <p:sp>
        <p:nvSpPr>
          <p:cNvPr id="7" name="Text 5"/>
          <p:cNvSpPr/>
          <p:nvPr/>
        </p:nvSpPr>
        <p:spPr>
          <a:xfrm>
            <a:off x="5067300" y="1879600"/>
            <a:ext cx="1384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HERO PRICE</a:t>
            </a:r>
            <a:endParaRPr lang="en-US" sz="1200" dirty="0"/>
          </a:p>
        </p:txBody>
      </p:sp>
      <p:sp>
        <p:nvSpPr>
          <p:cNvPr id="8" name="Text 6"/>
          <p:cNvSpPr/>
          <p:nvPr/>
        </p:nvSpPr>
        <p:spPr>
          <a:xfrm>
            <a:off x="6527800" y="1879600"/>
            <a:ext cx="1003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DISCOUNT</a:t>
            </a:r>
            <a:endParaRPr lang="en-US" sz="1200" dirty="0"/>
          </a:p>
        </p:txBody>
      </p:sp>
      <p:sp>
        <p:nvSpPr>
          <p:cNvPr id="9" name="Text 7"/>
          <p:cNvSpPr/>
          <p:nvPr/>
        </p:nvSpPr>
        <p:spPr>
          <a:xfrm>
            <a:off x="7607300" y="1879600"/>
            <a:ext cx="189674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HERO RATINGS</a:t>
            </a:r>
            <a:endParaRPr lang="en-US" sz="1200" dirty="0"/>
          </a:p>
        </p:txBody>
      </p:sp>
      <p:sp>
        <p:nvSpPr>
          <p:cNvPr id="10" name="Text 8"/>
          <p:cNvSpPr/>
          <p:nvPr/>
        </p:nvSpPr>
        <p:spPr>
          <a:xfrm>
            <a:off x="9575800" y="1879600"/>
            <a:ext cx="1857502"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INSTAGRAM (I)</a:t>
            </a:r>
            <a:endParaRPr lang="en-US" sz="1200" dirty="0"/>
          </a:p>
        </p:txBody>
      </p:sp>
      <p:sp>
        <p:nvSpPr>
          <p:cNvPr id="11" name="Shape 9"/>
          <p:cNvSpPr/>
          <p:nvPr/>
        </p:nvSpPr>
        <p:spPr>
          <a:xfrm>
            <a:off x="812800" y="2587625"/>
            <a:ext cx="10566400" cy="0"/>
          </a:xfrm>
          <a:prstGeom prst="line">
            <a:avLst/>
          </a:prstGeom>
          <a:noFill/>
          <a:ln w="6350">
            <a:solidFill>
              <a:srgbClr val="3A3832"/>
            </a:solidFill>
            <a:prstDash val="solid"/>
          </a:ln>
        </p:spPr>
        <p:txBody>
          <a:bodyPr/>
          <a:lstStyle/>
          <a:p>
            <a:endParaRPr lang="en-US"/>
          </a:p>
        </p:txBody>
      </p:sp>
      <p:sp>
        <p:nvSpPr>
          <p:cNvPr id="12" name="Text 10"/>
          <p:cNvSpPr/>
          <p:nvPr/>
        </p:nvSpPr>
        <p:spPr>
          <a:xfrm>
            <a:off x="812800" y="22838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Bombay Shaving Co.</a:t>
            </a:r>
            <a:endParaRPr lang="en-US" sz="1200" dirty="0"/>
          </a:p>
        </p:txBody>
      </p:sp>
      <p:sp>
        <p:nvSpPr>
          <p:cNvPr id="13" name="Shape 11"/>
          <p:cNvSpPr/>
          <p:nvPr/>
        </p:nvSpPr>
        <p:spPr>
          <a:xfrm>
            <a:off x="3035300" y="2302935"/>
            <a:ext cx="1238250" cy="152400"/>
          </a:xfrm>
          <a:prstGeom prst="rect">
            <a:avLst/>
          </a:prstGeom>
          <a:solidFill>
            <a:srgbClr val="8F8A7C"/>
          </a:solidFill>
          <a:ln/>
        </p:spPr>
        <p:txBody>
          <a:bodyPr/>
          <a:lstStyle/>
          <a:p>
            <a:endParaRPr lang="en-US"/>
          </a:p>
        </p:txBody>
      </p:sp>
      <p:sp>
        <p:nvSpPr>
          <p:cNvPr id="14" name="Text 12"/>
          <p:cNvSpPr/>
          <p:nvPr/>
        </p:nvSpPr>
        <p:spPr>
          <a:xfrm>
            <a:off x="4337050" y="2283885"/>
            <a:ext cx="654050"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75 (claim)</a:t>
            </a:r>
            <a:endParaRPr lang="en-US" sz="1200" dirty="0"/>
          </a:p>
        </p:txBody>
      </p:sp>
      <p:sp>
        <p:nvSpPr>
          <p:cNvPr id="15" name="Text 13"/>
          <p:cNvSpPr/>
          <p:nvPr/>
        </p:nvSpPr>
        <p:spPr>
          <a:xfrm>
            <a:off x="5067300" y="2283885"/>
            <a:ext cx="1384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795</a:t>
            </a:r>
            <a:endParaRPr lang="en-US" sz="1200" dirty="0"/>
          </a:p>
        </p:txBody>
      </p:sp>
      <p:sp>
        <p:nvSpPr>
          <p:cNvPr id="16" name="Text 14"/>
          <p:cNvSpPr/>
          <p:nvPr/>
        </p:nvSpPr>
        <p:spPr>
          <a:xfrm>
            <a:off x="6527800" y="2283885"/>
            <a:ext cx="1003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0%</a:t>
            </a:r>
            <a:endParaRPr lang="en-US" sz="1200" dirty="0"/>
          </a:p>
        </p:txBody>
      </p:sp>
      <p:sp>
        <p:nvSpPr>
          <p:cNvPr id="17" name="Text 15"/>
          <p:cNvSpPr/>
          <p:nvPr/>
        </p:nvSpPr>
        <p:spPr>
          <a:xfrm>
            <a:off x="7607300" y="2283885"/>
            <a:ext cx="189674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low hundreds</a:t>
            </a:r>
            <a:endParaRPr lang="en-US" sz="1200" dirty="0"/>
          </a:p>
        </p:txBody>
      </p:sp>
      <p:sp>
        <p:nvSpPr>
          <p:cNvPr id="18" name="Text 16"/>
          <p:cNvSpPr/>
          <p:nvPr/>
        </p:nvSpPr>
        <p:spPr>
          <a:xfrm>
            <a:off x="9575800" y="2283885"/>
            <a:ext cx="1857502"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289,000</a:t>
            </a:r>
            <a:endParaRPr lang="en-US" sz="1200" dirty="0"/>
          </a:p>
        </p:txBody>
      </p:sp>
      <p:sp>
        <p:nvSpPr>
          <p:cNvPr id="19" name="Shape 17"/>
          <p:cNvSpPr/>
          <p:nvPr/>
        </p:nvSpPr>
        <p:spPr>
          <a:xfrm>
            <a:off x="812800" y="3006725"/>
            <a:ext cx="10566400" cy="0"/>
          </a:xfrm>
          <a:prstGeom prst="line">
            <a:avLst/>
          </a:prstGeom>
          <a:noFill/>
          <a:ln w="6350">
            <a:solidFill>
              <a:srgbClr val="3A3832"/>
            </a:solidFill>
            <a:prstDash val="solid"/>
          </a:ln>
        </p:spPr>
        <p:txBody>
          <a:bodyPr/>
          <a:lstStyle/>
          <a:p>
            <a:endParaRPr lang="en-US"/>
          </a:p>
        </p:txBody>
      </p:sp>
      <p:sp>
        <p:nvSpPr>
          <p:cNvPr id="20" name="Text 18"/>
          <p:cNvSpPr/>
          <p:nvPr/>
        </p:nvSpPr>
        <p:spPr>
          <a:xfrm>
            <a:off x="812800" y="27029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Bella Vita</a:t>
            </a:r>
            <a:endParaRPr lang="en-US" sz="1200" dirty="0"/>
          </a:p>
        </p:txBody>
      </p:sp>
      <p:sp>
        <p:nvSpPr>
          <p:cNvPr id="21" name="Shape 19"/>
          <p:cNvSpPr/>
          <p:nvPr/>
        </p:nvSpPr>
        <p:spPr>
          <a:xfrm>
            <a:off x="3035300" y="2722035"/>
            <a:ext cx="889000" cy="152400"/>
          </a:xfrm>
          <a:prstGeom prst="rect">
            <a:avLst/>
          </a:prstGeom>
          <a:solidFill>
            <a:srgbClr val="8F8A7C"/>
          </a:solidFill>
          <a:ln/>
        </p:spPr>
        <p:txBody>
          <a:bodyPr/>
          <a:lstStyle/>
          <a:p>
            <a:endParaRPr lang="en-US"/>
          </a:p>
        </p:txBody>
      </p:sp>
      <p:sp>
        <p:nvSpPr>
          <p:cNvPr id="22" name="Text 20"/>
          <p:cNvSpPr/>
          <p:nvPr/>
        </p:nvSpPr>
        <p:spPr>
          <a:xfrm>
            <a:off x="3987800" y="2702985"/>
            <a:ext cx="244541"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54</a:t>
            </a:r>
            <a:endParaRPr lang="en-US" sz="1200" dirty="0"/>
          </a:p>
        </p:txBody>
      </p:sp>
      <p:sp>
        <p:nvSpPr>
          <p:cNvPr id="23" name="Text 21"/>
          <p:cNvSpPr/>
          <p:nvPr/>
        </p:nvSpPr>
        <p:spPr>
          <a:xfrm>
            <a:off x="5067300" y="2702985"/>
            <a:ext cx="1384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449</a:t>
            </a:r>
            <a:endParaRPr lang="en-US" sz="1200" dirty="0"/>
          </a:p>
        </p:txBody>
      </p:sp>
      <p:sp>
        <p:nvSpPr>
          <p:cNvPr id="24" name="Text 22"/>
          <p:cNvSpPr/>
          <p:nvPr/>
        </p:nvSpPr>
        <p:spPr>
          <a:xfrm>
            <a:off x="6527800" y="2702985"/>
            <a:ext cx="1003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50%</a:t>
            </a:r>
            <a:endParaRPr lang="en-US" sz="1200" dirty="0"/>
          </a:p>
        </p:txBody>
      </p:sp>
      <p:sp>
        <p:nvSpPr>
          <p:cNvPr id="25" name="Text 23"/>
          <p:cNvSpPr/>
          <p:nvPr/>
        </p:nvSpPr>
        <p:spPr>
          <a:xfrm>
            <a:off x="7607300" y="2702985"/>
            <a:ext cx="189674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2,416 on Nykaa</a:t>
            </a:r>
            <a:endParaRPr lang="en-US" sz="1200" dirty="0"/>
          </a:p>
        </p:txBody>
      </p:sp>
      <p:sp>
        <p:nvSpPr>
          <p:cNvPr id="26" name="Text 24"/>
          <p:cNvSpPr/>
          <p:nvPr/>
        </p:nvSpPr>
        <p:spPr>
          <a:xfrm>
            <a:off x="9575800" y="2702985"/>
            <a:ext cx="1857502"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600,000+</a:t>
            </a:r>
            <a:endParaRPr lang="en-US" sz="1200" dirty="0"/>
          </a:p>
        </p:txBody>
      </p:sp>
      <p:sp>
        <p:nvSpPr>
          <p:cNvPr id="27" name="Shape 25"/>
          <p:cNvSpPr/>
          <p:nvPr/>
        </p:nvSpPr>
        <p:spPr>
          <a:xfrm>
            <a:off x="812800" y="3425825"/>
            <a:ext cx="10566400" cy="0"/>
          </a:xfrm>
          <a:prstGeom prst="line">
            <a:avLst/>
          </a:prstGeom>
          <a:noFill/>
          <a:ln w="6350">
            <a:solidFill>
              <a:srgbClr val="3A3832"/>
            </a:solidFill>
            <a:prstDash val="solid"/>
          </a:ln>
        </p:spPr>
        <p:txBody>
          <a:bodyPr/>
          <a:lstStyle/>
          <a:p>
            <a:endParaRPr lang="en-US"/>
          </a:p>
        </p:txBody>
      </p:sp>
      <p:sp>
        <p:nvSpPr>
          <p:cNvPr id="28" name="Text 26"/>
          <p:cNvSpPr/>
          <p:nvPr/>
        </p:nvSpPr>
        <p:spPr>
          <a:xfrm>
            <a:off x="812800" y="31220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Beardo</a:t>
            </a:r>
            <a:endParaRPr lang="en-US" sz="1200" dirty="0"/>
          </a:p>
        </p:txBody>
      </p:sp>
      <p:sp>
        <p:nvSpPr>
          <p:cNvPr id="29" name="Shape 27"/>
          <p:cNvSpPr/>
          <p:nvPr/>
        </p:nvSpPr>
        <p:spPr>
          <a:xfrm>
            <a:off x="3035300" y="3141135"/>
            <a:ext cx="577850" cy="152400"/>
          </a:xfrm>
          <a:prstGeom prst="rect">
            <a:avLst/>
          </a:prstGeom>
          <a:solidFill>
            <a:srgbClr val="8F8A7C"/>
          </a:solidFill>
          <a:ln/>
        </p:spPr>
        <p:txBody>
          <a:bodyPr/>
          <a:lstStyle/>
          <a:p>
            <a:endParaRPr lang="en-US"/>
          </a:p>
        </p:txBody>
      </p:sp>
      <p:sp>
        <p:nvSpPr>
          <p:cNvPr id="30" name="Text 28"/>
          <p:cNvSpPr/>
          <p:nvPr/>
        </p:nvSpPr>
        <p:spPr>
          <a:xfrm>
            <a:off x="3676650" y="3122085"/>
            <a:ext cx="237397"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35</a:t>
            </a:r>
            <a:endParaRPr lang="en-US" sz="1200" dirty="0"/>
          </a:p>
        </p:txBody>
      </p:sp>
      <p:sp>
        <p:nvSpPr>
          <p:cNvPr id="31" name="Text 29"/>
          <p:cNvSpPr/>
          <p:nvPr/>
        </p:nvSpPr>
        <p:spPr>
          <a:xfrm>
            <a:off x="5067300" y="3122085"/>
            <a:ext cx="1384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699</a:t>
            </a:r>
            <a:endParaRPr lang="en-US" sz="1200" dirty="0"/>
          </a:p>
        </p:txBody>
      </p:sp>
      <p:sp>
        <p:nvSpPr>
          <p:cNvPr id="32" name="Text 30"/>
          <p:cNvSpPr/>
          <p:nvPr/>
        </p:nvSpPr>
        <p:spPr>
          <a:xfrm>
            <a:off x="6527800" y="3122085"/>
            <a:ext cx="1003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42%</a:t>
            </a:r>
            <a:endParaRPr lang="en-US" sz="1200" dirty="0"/>
          </a:p>
        </p:txBody>
      </p:sp>
      <p:sp>
        <p:nvSpPr>
          <p:cNvPr id="33" name="Text 31"/>
          <p:cNvSpPr/>
          <p:nvPr/>
        </p:nvSpPr>
        <p:spPr>
          <a:xfrm>
            <a:off x="7607300" y="3122085"/>
            <a:ext cx="189674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2,522 on Nykaa</a:t>
            </a:r>
            <a:endParaRPr lang="en-US" sz="1200" dirty="0"/>
          </a:p>
        </p:txBody>
      </p:sp>
      <p:sp>
        <p:nvSpPr>
          <p:cNvPr id="34" name="Text 32"/>
          <p:cNvSpPr/>
          <p:nvPr/>
        </p:nvSpPr>
        <p:spPr>
          <a:xfrm>
            <a:off x="9575800" y="3122085"/>
            <a:ext cx="1857502"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571,000; 11.5% engaged</a:t>
            </a:r>
            <a:endParaRPr lang="en-US" sz="1200" dirty="0"/>
          </a:p>
        </p:txBody>
      </p:sp>
      <p:sp>
        <p:nvSpPr>
          <p:cNvPr id="35" name="Shape 33"/>
          <p:cNvSpPr/>
          <p:nvPr/>
        </p:nvSpPr>
        <p:spPr>
          <a:xfrm>
            <a:off x="812800" y="3844925"/>
            <a:ext cx="10566400" cy="0"/>
          </a:xfrm>
          <a:prstGeom prst="line">
            <a:avLst/>
          </a:prstGeom>
          <a:noFill/>
          <a:ln w="6350">
            <a:solidFill>
              <a:srgbClr val="3A3832"/>
            </a:solidFill>
            <a:prstDash val="solid"/>
          </a:ln>
        </p:spPr>
        <p:txBody>
          <a:bodyPr/>
          <a:lstStyle/>
          <a:p>
            <a:endParaRPr lang="en-US"/>
          </a:p>
        </p:txBody>
      </p:sp>
      <p:sp>
        <p:nvSpPr>
          <p:cNvPr id="36" name="Text 34"/>
          <p:cNvSpPr/>
          <p:nvPr/>
        </p:nvSpPr>
        <p:spPr>
          <a:xfrm>
            <a:off x="812800" y="35411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The Man Company</a:t>
            </a:r>
            <a:endParaRPr lang="en-US" sz="1200" dirty="0"/>
          </a:p>
        </p:txBody>
      </p:sp>
      <p:sp>
        <p:nvSpPr>
          <p:cNvPr id="37" name="Shape 35"/>
          <p:cNvSpPr/>
          <p:nvPr/>
        </p:nvSpPr>
        <p:spPr>
          <a:xfrm>
            <a:off x="3035300" y="3560235"/>
            <a:ext cx="311150" cy="152400"/>
          </a:xfrm>
          <a:prstGeom prst="rect">
            <a:avLst/>
          </a:prstGeom>
          <a:solidFill>
            <a:srgbClr val="FF7A6B"/>
          </a:solidFill>
          <a:ln/>
        </p:spPr>
        <p:txBody>
          <a:bodyPr/>
          <a:lstStyle/>
          <a:p>
            <a:endParaRPr lang="en-US"/>
          </a:p>
        </p:txBody>
      </p:sp>
      <p:sp>
        <p:nvSpPr>
          <p:cNvPr id="38" name="Text 36"/>
          <p:cNvSpPr/>
          <p:nvPr/>
        </p:nvSpPr>
        <p:spPr>
          <a:xfrm>
            <a:off x="3409950" y="3541185"/>
            <a:ext cx="202935"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19</a:t>
            </a:r>
            <a:endParaRPr lang="en-US" sz="1200" dirty="0"/>
          </a:p>
        </p:txBody>
      </p:sp>
      <p:sp>
        <p:nvSpPr>
          <p:cNvPr id="39" name="Text 37"/>
          <p:cNvSpPr/>
          <p:nvPr/>
        </p:nvSpPr>
        <p:spPr>
          <a:xfrm>
            <a:off x="5067300" y="3541185"/>
            <a:ext cx="1384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180 to 740</a:t>
            </a:r>
            <a:endParaRPr lang="en-US" sz="1200" dirty="0"/>
          </a:p>
        </p:txBody>
      </p:sp>
      <p:sp>
        <p:nvSpPr>
          <p:cNvPr id="40" name="Text 38"/>
          <p:cNvSpPr/>
          <p:nvPr/>
        </p:nvSpPr>
        <p:spPr>
          <a:xfrm>
            <a:off x="6527800" y="3541185"/>
            <a:ext cx="1003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7A6B"/>
                </a:solidFill>
                <a:latin typeface="DM Sans" pitchFamily="34" charset="0"/>
                <a:ea typeface="DM Sans" pitchFamily="34" charset="-122"/>
                <a:cs typeface="DM Sans" pitchFamily="34" charset="-120"/>
              </a:rPr>
              <a:t>80%</a:t>
            </a:r>
            <a:endParaRPr lang="en-US" sz="1200" dirty="0"/>
          </a:p>
        </p:txBody>
      </p:sp>
      <p:sp>
        <p:nvSpPr>
          <p:cNvPr id="41" name="Text 39"/>
          <p:cNvSpPr/>
          <p:nvPr/>
        </p:nvSpPr>
        <p:spPr>
          <a:xfrm>
            <a:off x="7607300" y="3541185"/>
            <a:ext cx="189674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524 on Nykaa</a:t>
            </a:r>
            <a:endParaRPr lang="en-US" sz="1200" dirty="0"/>
          </a:p>
        </p:txBody>
      </p:sp>
      <p:sp>
        <p:nvSpPr>
          <p:cNvPr id="42" name="Text 40"/>
          <p:cNvSpPr/>
          <p:nvPr/>
        </p:nvSpPr>
        <p:spPr>
          <a:xfrm>
            <a:off x="9575800" y="3541185"/>
            <a:ext cx="1857502"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190,000; 0.05% engaged</a:t>
            </a:r>
            <a:endParaRPr lang="en-US" sz="1200" dirty="0"/>
          </a:p>
        </p:txBody>
      </p:sp>
      <p:sp>
        <p:nvSpPr>
          <p:cNvPr id="43" name="Shape 41"/>
          <p:cNvSpPr/>
          <p:nvPr/>
        </p:nvSpPr>
        <p:spPr>
          <a:xfrm>
            <a:off x="812800" y="4264025"/>
            <a:ext cx="10566400" cy="0"/>
          </a:xfrm>
          <a:prstGeom prst="line">
            <a:avLst/>
          </a:prstGeom>
          <a:noFill/>
          <a:ln w="6350">
            <a:solidFill>
              <a:srgbClr val="3A3832"/>
            </a:solidFill>
            <a:prstDash val="solid"/>
          </a:ln>
        </p:spPr>
        <p:txBody>
          <a:bodyPr/>
          <a:lstStyle/>
          <a:p>
            <a:endParaRPr lang="en-US"/>
          </a:p>
        </p:txBody>
      </p:sp>
      <p:sp>
        <p:nvSpPr>
          <p:cNvPr id="44" name="Text 42"/>
          <p:cNvSpPr/>
          <p:nvPr/>
        </p:nvSpPr>
        <p:spPr>
          <a:xfrm>
            <a:off x="812800" y="39602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Muuchstac</a:t>
            </a:r>
            <a:endParaRPr lang="en-US" sz="1200" dirty="0"/>
          </a:p>
        </p:txBody>
      </p:sp>
      <p:sp>
        <p:nvSpPr>
          <p:cNvPr id="45" name="Shape 43"/>
          <p:cNvSpPr/>
          <p:nvPr/>
        </p:nvSpPr>
        <p:spPr>
          <a:xfrm>
            <a:off x="3035300" y="3979335"/>
            <a:ext cx="152400" cy="152400"/>
          </a:xfrm>
          <a:prstGeom prst="rect">
            <a:avLst/>
          </a:prstGeom>
          <a:solidFill>
            <a:srgbClr val="8F8A7C"/>
          </a:solidFill>
          <a:ln/>
        </p:spPr>
        <p:txBody>
          <a:bodyPr/>
          <a:lstStyle/>
          <a:p>
            <a:endParaRPr lang="en-US"/>
          </a:p>
        </p:txBody>
      </p:sp>
      <p:sp>
        <p:nvSpPr>
          <p:cNvPr id="46" name="Text 44"/>
          <p:cNvSpPr/>
          <p:nvPr/>
        </p:nvSpPr>
        <p:spPr>
          <a:xfrm>
            <a:off x="3251200" y="3960285"/>
            <a:ext cx="280326"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9.4</a:t>
            </a:r>
            <a:endParaRPr lang="en-US" sz="1200" dirty="0"/>
          </a:p>
        </p:txBody>
      </p:sp>
      <p:sp>
        <p:nvSpPr>
          <p:cNvPr id="47" name="Text 45"/>
          <p:cNvSpPr/>
          <p:nvPr/>
        </p:nvSpPr>
        <p:spPr>
          <a:xfrm>
            <a:off x="5067300" y="3960285"/>
            <a:ext cx="1384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249 to 269</a:t>
            </a:r>
            <a:endParaRPr lang="en-US" sz="1200" dirty="0"/>
          </a:p>
        </p:txBody>
      </p:sp>
      <p:sp>
        <p:nvSpPr>
          <p:cNvPr id="48" name="Text 46"/>
          <p:cNvSpPr/>
          <p:nvPr/>
        </p:nvSpPr>
        <p:spPr>
          <a:xfrm>
            <a:off x="6527800" y="3960285"/>
            <a:ext cx="1003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10 to 17%</a:t>
            </a:r>
            <a:endParaRPr lang="en-US" sz="1200" dirty="0"/>
          </a:p>
        </p:txBody>
      </p:sp>
      <p:sp>
        <p:nvSpPr>
          <p:cNvPr id="49" name="Text 47"/>
          <p:cNvSpPr/>
          <p:nvPr/>
        </p:nvSpPr>
        <p:spPr>
          <a:xfrm>
            <a:off x="7607300" y="3960285"/>
            <a:ext cx="189674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Amazon 4.4 to 4.6 (I)</a:t>
            </a:r>
            <a:endParaRPr lang="en-US" sz="1200" dirty="0"/>
          </a:p>
        </p:txBody>
      </p:sp>
      <p:sp>
        <p:nvSpPr>
          <p:cNvPr id="50" name="Text 48"/>
          <p:cNvSpPr/>
          <p:nvPr/>
        </p:nvSpPr>
        <p:spPr>
          <a:xfrm>
            <a:off x="9575800" y="3960285"/>
            <a:ext cx="1857502"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200,000+</a:t>
            </a:r>
            <a:endParaRPr lang="en-US" sz="1200" dirty="0"/>
          </a:p>
        </p:txBody>
      </p:sp>
      <p:sp>
        <p:nvSpPr>
          <p:cNvPr id="51" name="Shape 49"/>
          <p:cNvSpPr/>
          <p:nvPr/>
        </p:nvSpPr>
        <p:spPr>
          <a:xfrm>
            <a:off x="812800" y="4683125"/>
            <a:ext cx="10566400" cy="0"/>
          </a:xfrm>
          <a:prstGeom prst="line">
            <a:avLst/>
          </a:prstGeom>
          <a:noFill/>
          <a:ln w="6350">
            <a:solidFill>
              <a:srgbClr val="3A3832"/>
            </a:solidFill>
            <a:prstDash val="solid"/>
          </a:ln>
        </p:spPr>
        <p:txBody>
          <a:bodyPr/>
          <a:lstStyle/>
          <a:p>
            <a:endParaRPr lang="en-US"/>
          </a:p>
        </p:txBody>
      </p:sp>
      <p:sp>
        <p:nvSpPr>
          <p:cNvPr id="52" name="Text 50"/>
          <p:cNvSpPr/>
          <p:nvPr/>
        </p:nvSpPr>
        <p:spPr>
          <a:xfrm>
            <a:off x="812800" y="43793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Reginald Men</a:t>
            </a:r>
            <a:endParaRPr lang="en-US" sz="1200" dirty="0"/>
          </a:p>
        </p:txBody>
      </p:sp>
      <p:sp>
        <p:nvSpPr>
          <p:cNvPr id="53" name="Shape 51"/>
          <p:cNvSpPr/>
          <p:nvPr/>
        </p:nvSpPr>
        <p:spPr>
          <a:xfrm>
            <a:off x="3035300" y="4398435"/>
            <a:ext cx="139700" cy="152400"/>
          </a:xfrm>
          <a:prstGeom prst="rect">
            <a:avLst/>
          </a:prstGeom>
          <a:solidFill>
            <a:srgbClr val="8F8A7C"/>
          </a:solidFill>
          <a:ln/>
        </p:spPr>
        <p:txBody>
          <a:bodyPr/>
          <a:lstStyle/>
          <a:p>
            <a:endParaRPr lang="en-US"/>
          </a:p>
        </p:txBody>
      </p:sp>
      <p:sp>
        <p:nvSpPr>
          <p:cNvPr id="54" name="Text 52"/>
          <p:cNvSpPr/>
          <p:nvPr/>
        </p:nvSpPr>
        <p:spPr>
          <a:xfrm>
            <a:off x="3238500" y="4379385"/>
            <a:ext cx="262665"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8.7</a:t>
            </a:r>
            <a:endParaRPr lang="en-US" sz="1200" dirty="0"/>
          </a:p>
        </p:txBody>
      </p:sp>
      <p:sp>
        <p:nvSpPr>
          <p:cNvPr id="55" name="Text 53"/>
          <p:cNvSpPr/>
          <p:nvPr/>
        </p:nvSpPr>
        <p:spPr>
          <a:xfrm>
            <a:off x="5067300" y="4379385"/>
            <a:ext cx="1384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850</a:t>
            </a:r>
            <a:endParaRPr lang="en-US" sz="1200" dirty="0"/>
          </a:p>
        </p:txBody>
      </p:sp>
      <p:sp>
        <p:nvSpPr>
          <p:cNvPr id="56" name="Text 54"/>
          <p:cNvSpPr/>
          <p:nvPr/>
        </p:nvSpPr>
        <p:spPr>
          <a:xfrm>
            <a:off x="6527800" y="4379385"/>
            <a:ext cx="1003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0%</a:t>
            </a:r>
            <a:endParaRPr lang="en-US" sz="1200" dirty="0"/>
          </a:p>
        </p:txBody>
      </p:sp>
      <p:sp>
        <p:nvSpPr>
          <p:cNvPr id="57" name="Text 55"/>
          <p:cNvSpPr/>
          <p:nvPr/>
        </p:nvSpPr>
        <p:spPr>
          <a:xfrm>
            <a:off x="7607300" y="4379385"/>
            <a:ext cx="189674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2,489 on its own site</a:t>
            </a:r>
            <a:endParaRPr lang="en-US" sz="1200" dirty="0"/>
          </a:p>
        </p:txBody>
      </p:sp>
      <p:sp>
        <p:nvSpPr>
          <p:cNvPr id="58" name="Text 56"/>
          <p:cNvSpPr/>
          <p:nvPr/>
        </p:nvSpPr>
        <p:spPr>
          <a:xfrm>
            <a:off x="9575800" y="4379385"/>
            <a:ext cx="1857502"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not read</a:t>
            </a:r>
            <a:endParaRPr lang="en-US" sz="1200" dirty="0"/>
          </a:p>
        </p:txBody>
      </p:sp>
      <p:sp>
        <p:nvSpPr>
          <p:cNvPr id="59" name="Shape 57"/>
          <p:cNvSpPr/>
          <p:nvPr/>
        </p:nvSpPr>
        <p:spPr>
          <a:xfrm>
            <a:off x="812800" y="5102225"/>
            <a:ext cx="10566400" cy="0"/>
          </a:xfrm>
          <a:prstGeom prst="line">
            <a:avLst/>
          </a:prstGeom>
          <a:noFill/>
          <a:ln w="6350">
            <a:solidFill>
              <a:srgbClr val="3A3832"/>
            </a:solidFill>
            <a:prstDash val="solid"/>
          </a:ln>
        </p:spPr>
        <p:txBody>
          <a:bodyPr/>
          <a:lstStyle/>
          <a:p>
            <a:endParaRPr lang="en-US"/>
          </a:p>
        </p:txBody>
      </p:sp>
      <p:sp>
        <p:nvSpPr>
          <p:cNvPr id="60" name="Text 58"/>
          <p:cNvSpPr/>
          <p:nvPr/>
        </p:nvSpPr>
        <p:spPr>
          <a:xfrm>
            <a:off x="812800" y="4798485"/>
            <a:ext cx="215836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Ustraa</a:t>
            </a:r>
            <a:endParaRPr lang="en-US" sz="1200" dirty="0"/>
          </a:p>
        </p:txBody>
      </p:sp>
      <p:sp>
        <p:nvSpPr>
          <p:cNvPr id="61" name="Shape 59"/>
          <p:cNvSpPr/>
          <p:nvPr/>
        </p:nvSpPr>
        <p:spPr>
          <a:xfrm>
            <a:off x="3035300" y="4817535"/>
            <a:ext cx="139700" cy="152400"/>
          </a:xfrm>
          <a:prstGeom prst="rect">
            <a:avLst/>
          </a:prstGeom>
          <a:solidFill>
            <a:srgbClr val="FF7A6B"/>
          </a:solidFill>
          <a:ln/>
        </p:spPr>
        <p:txBody>
          <a:bodyPr/>
          <a:lstStyle/>
          <a:p>
            <a:endParaRPr lang="en-US"/>
          </a:p>
        </p:txBody>
      </p:sp>
      <p:sp>
        <p:nvSpPr>
          <p:cNvPr id="62" name="Text 60"/>
          <p:cNvSpPr/>
          <p:nvPr/>
        </p:nvSpPr>
        <p:spPr>
          <a:xfrm>
            <a:off x="3238500" y="4798485"/>
            <a:ext cx="277614"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8.6</a:t>
            </a:r>
            <a:endParaRPr lang="en-US" sz="1200" dirty="0"/>
          </a:p>
        </p:txBody>
      </p:sp>
      <p:sp>
        <p:nvSpPr>
          <p:cNvPr id="63" name="Text 61"/>
          <p:cNvSpPr/>
          <p:nvPr/>
        </p:nvSpPr>
        <p:spPr>
          <a:xfrm>
            <a:off x="5067300" y="4798485"/>
            <a:ext cx="1384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Rs 584</a:t>
            </a:r>
            <a:endParaRPr lang="en-US" sz="1200" dirty="0"/>
          </a:p>
        </p:txBody>
      </p:sp>
      <p:sp>
        <p:nvSpPr>
          <p:cNvPr id="64" name="Text 62"/>
          <p:cNvSpPr/>
          <p:nvPr/>
        </p:nvSpPr>
        <p:spPr>
          <a:xfrm>
            <a:off x="6527800" y="4798485"/>
            <a:ext cx="1003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35%</a:t>
            </a:r>
            <a:endParaRPr lang="en-US" sz="1200" dirty="0"/>
          </a:p>
        </p:txBody>
      </p:sp>
      <p:sp>
        <p:nvSpPr>
          <p:cNvPr id="65" name="Text 63"/>
          <p:cNvSpPr/>
          <p:nvPr/>
        </p:nvSpPr>
        <p:spPr>
          <a:xfrm>
            <a:off x="7607300" y="4798485"/>
            <a:ext cx="189674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874 on Nykaa</a:t>
            </a:r>
            <a:endParaRPr lang="en-US" sz="1200" dirty="0"/>
          </a:p>
        </p:txBody>
      </p:sp>
      <p:sp>
        <p:nvSpPr>
          <p:cNvPr id="66" name="Text 64"/>
          <p:cNvSpPr/>
          <p:nvPr/>
        </p:nvSpPr>
        <p:spPr>
          <a:xfrm>
            <a:off x="9575800" y="4798485"/>
            <a:ext cx="1857502"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299,000; 0.02% engaged</a:t>
            </a:r>
            <a:endParaRPr lang="en-US" sz="1200" dirty="0"/>
          </a:p>
        </p:txBody>
      </p:sp>
      <p:sp>
        <p:nvSpPr>
          <p:cNvPr id="67" name="Text 65"/>
          <p:cNvSpPr/>
          <p:nvPr/>
        </p:nvSpPr>
        <p:spPr>
          <a:xfrm>
            <a:off x="812800" y="5321300"/>
            <a:ext cx="10566400" cy="673100"/>
          </a:xfrm>
          <a:prstGeom prst="rect">
            <a:avLst/>
          </a:prstGeom>
          <a:solidFill>
            <a:srgbClr val="FFF460"/>
          </a:solidFill>
          <a:ln/>
        </p:spPr>
        <p:txBody>
          <a:bodyPr wrap="square" lIns="203200" tIns="0" rIns="0" bIns="0" rtlCol="0" anchor="ctr">
            <a:normAutofit/>
          </a:bodyPr>
          <a:lstStyle/>
          <a:p>
            <a:pPr marL="0" indent="0" algn="l">
              <a:lnSpc>
                <a:spcPts val="1750"/>
              </a:lnSpc>
              <a:buNone/>
            </a:pPr>
            <a:r>
              <a:rPr lang="en-US" sz="1400" b="1" dirty="0">
                <a:solidFill>
                  <a:srgbClr val="14140F"/>
                </a:solidFill>
                <a:latin typeface="DM Sans" pitchFamily="34" charset="0"/>
                <a:ea typeface="DM Sans" pitchFamily="34" charset="-122"/>
                <a:cs typeface="DM Sans" pitchFamily="34" charset="-120"/>
              </a:rPr>
              <a:t>Brand power here means three public signals: selling near list, the number of buyers who rate the hero product, and how much the audience engages.</a:t>
            </a:r>
            <a:endParaRPr lang="en-US" sz="1400" dirty="0"/>
          </a:p>
        </p:txBody>
      </p:sp>
      <p:sp>
        <p:nvSpPr>
          <p:cNvPr id="68" name="Text 66"/>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filed sales; prices read 3 Oct 2026 (F); August audit (I). Rating counts come from different sites</a:t>
            </a:r>
            <a:endParaRPr lang="en-US" sz="1200" dirty="0"/>
          </a:p>
        </p:txBody>
      </p:sp>
      <p:sp>
        <p:nvSpPr>
          <p:cNvPr id="69" name="Text 67"/>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9</a:t>
            </a:r>
            <a:endParaRPr lang="en-US" sz="1200" dirty="0"/>
          </a:p>
        </p:txBody>
      </p:sp>
      <p:pic>
        <p:nvPicPr>
          <p:cNvPr id="71" name="Graphic 70" descr="Blueprint with solid fill">
            <a:extLst>
              <a:ext uri="{FF2B5EF4-FFF2-40B4-BE49-F238E27FC236}">
                <a16:creationId xmlns:a16="http://schemas.microsoft.com/office/drawing/2014/main" id="{EEB24398-3077-D61B-3BCA-9C5BAFDA42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1 · PRICE MAP</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Six conclusions on price </a:t>
            </a:r>
            <a:r>
              <a:rPr lang="en-US" sz="2500" b="0" i="0" dirty="0">
                <a:solidFill>
                  <a:srgbClr val="00B050"/>
                </a:solidFill>
                <a:latin typeface="Oswald" pitchFamily="34" charset="0"/>
                <a:ea typeface="Oswald" pitchFamily="34" charset="-122"/>
                <a:cs typeface="Oswald" pitchFamily="34" charset="-120"/>
              </a:rPr>
              <a:t>– logic (conclusions)</a:t>
            </a:r>
            <a:endParaRPr lang="en-US" sz="2500" dirty="0">
              <a:solidFill>
                <a:srgbClr val="00B050"/>
              </a:solidFill>
            </a:endParaRPr>
          </a:p>
        </p:txBody>
      </p:sp>
      <p:sp>
        <p:nvSpPr>
          <p:cNvPr id="4" name="Shape 2"/>
          <p:cNvSpPr/>
          <p:nvPr/>
        </p:nvSpPr>
        <p:spPr>
          <a:xfrm>
            <a:off x="812800" y="1587500"/>
            <a:ext cx="5207000" cy="1422400"/>
          </a:xfrm>
          <a:prstGeom prst="rect">
            <a:avLst/>
          </a:prstGeom>
          <a:solidFill>
            <a:srgbClr val="1D1C19"/>
          </a:solidFill>
          <a:ln/>
        </p:spPr>
        <p:txBody>
          <a:bodyPr/>
          <a:lstStyle/>
          <a:p>
            <a:endParaRPr lang="en-US"/>
          </a:p>
        </p:txBody>
      </p:sp>
      <p:sp>
        <p:nvSpPr>
          <p:cNvPr id="5" name="Text 3"/>
          <p:cNvSpPr/>
          <p:nvPr/>
        </p:nvSpPr>
        <p:spPr>
          <a:xfrm>
            <a:off x="990600" y="1765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1</a:t>
            </a:r>
            <a:endParaRPr lang="en-US" sz="2200" dirty="0"/>
          </a:p>
        </p:txBody>
      </p:sp>
      <p:sp>
        <p:nvSpPr>
          <p:cNvPr id="6" name="Text 4"/>
          <p:cNvSpPr/>
          <p:nvPr/>
        </p:nvSpPr>
        <p:spPr>
          <a:xfrm>
            <a:off x="1498600" y="1765300"/>
            <a:ext cx="4473702"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4F0E8"/>
                </a:solidFill>
                <a:latin typeface="DM Sans" pitchFamily="34" charset="0"/>
                <a:ea typeface="DM Sans" pitchFamily="34" charset="-122"/>
                <a:cs typeface="DM Sans" pitchFamily="34" charset="-120"/>
              </a:rPr>
              <a:t>Price does not predict sales</a:t>
            </a:r>
            <a:endParaRPr lang="en-US" sz="1300" dirty="0"/>
          </a:p>
        </p:txBody>
      </p:sp>
      <p:sp>
        <p:nvSpPr>
          <p:cNvPr id="7" name="Text 5"/>
          <p:cNvSpPr/>
          <p:nvPr/>
        </p:nvSpPr>
        <p:spPr>
          <a:xfrm>
            <a:off x="1498600" y="2014209"/>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Perfume brands from Rs 449 to Rs 799 sell $9M to $54M. The cheapest (Bella Vita) is the largest; the dearest at full price (Bombay Shaving) grows fastest.</a:t>
            </a:r>
            <a:endParaRPr lang="en-US" sz="1200" dirty="0"/>
          </a:p>
        </p:txBody>
      </p:sp>
      <p:sp>
        <p:nvSpPr>
          <p:cNvPr id="8" name="Shape 6"/>
          <p:cNvSpPr/>
          <p:nvPr/>
        </p:nvSpPr>
        <p:spPr>
          <a:xfrm>
            <a:off x="6172200" y="1587500"/>
            <a:ext cx="5207000" cy="1422400"/>
          </a:xfrm>
          <a:prstGeom prst="rect">
            <a:avLst/>
          </a:prstGeom>
          <a:solidFill>
            <a:srgbClr val="1D1C19"/>
          </a:solidFill>
          <a:ln/>
        </p:spPr>
        <p:txBody>
          <a:bodyPr/>
          <a:lstStyle/>
          <a:p>
            <a:endParaRPr lang="en-US"/>
          </a:p>
        </p:txBody>
      </p:sp>
      <p:sp>
        <p:nvSpPr>
          <p:cNvPr id="9" name="Text 7"/>
          <p:cNvSpPr/>
          <p:nvPr/>
        </p:nvSpPr>
        <p:spPr>
          <a:xfrm>
            <a:off x="6350000" y="1765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2</a:t>
            </a:r>
            <a:endParaRPr lang="en-US" sz="2200" dirty="0"/>
          </a:p>
        </p:txBody>
      </p:sp>
      <p:sp>
        <p:nvSpPr>
          <p:cNvPr id="10" name="Text 8"/>
          <p:cNvSpPr/>
          <p:nvPr/>
        </p:nvSpPr>
        <p:spPr>
          <a:xfrm>
            <a:off x="6858000" y="1765300"/>
            <a:ext cx="4473702"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4F0E8"/>
                </a:solidFill>
                <a:latin typeface="DM Sans" pitchFamily="34" charset="0"/>
                <a:ea typeface="DM Sans" pitchFamily="34" charset="-122"/>
                <a:cs typeface="DM Sans" pitchFamily="34" charset="-120"/>
              </a:rPr>
              <a:t>Discount depth runs opposite to margin</a:t>
            </a:r>
            <a:endParaRPr lang="en-US" sz="1300" dirty="0"/>
          </a:p>
        </p:txBody>
      </p:sp>
      <p:sp>
        <p:nvSpPr>
          <p:cNvPr id="11" name="Text 9"/>
          <p:cNvSpPr/>
          <p:nvPr/>
        </p:nvSpPr>
        <p:spPr>
          <a:xfrm>
            <a:off x="6858000" y="2014209"/>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Brands near list are profitable: Reginald 25%, Muuchstac 37%, Gillette 31%. TMC discounts deepest and loses most. Bella Vita is the exception: its fixed discount is the brand idea.</a:t>
            </a:r>
            <a:endParaRPr lang="en-US" sz="1200" dirty="0"/>
          </a:p>
        </p:txBody>
      </p:sp>
      <p:sp>
        <p:nvSpPr>
          <p:cNvPr id="12" name="Shape 10"/>
          <p:cNvSpPr/>
          <p:nvPr/>
        </p:nvSpPr>
        <p:spPr>
          <a:xfrm>
            <a:off x="812800" y="3162300"/>
            <a:ext cx="5207000" cy="1422400"/>
          </a:xfrm>
          <a:prstGeom prst="rect">
            <a:avLst/>
          </a:prstGeom>
          <a:solidFill>
            <a:srgbClr val="1D1C19"/>
          </a:solidFill>
          <a:ln/>
        </p:spPr>
        <p:txBody>
          <a:bodyPr/>
          <a:lstStyle/>
          <a:p>
            <a:endParaRPr lang="en-US"/>
          </a:p>
        </p:txBody>
      </p:sp>
      <p:sp>
        <p:nvSpPr>
          <p:cNvPr id="13" name="Text 11"/>
          <p:cNvSpPr/>
          <p:nvPr/>
        </p:nvSpPr>
        <p:spPr>
          <a:xfrm>
            <a:off x="990600" y="33401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3</a:t>
            </a:r>
            <a:endParaRPr lang="en-US" sz="2200" dirty="0"/>
          </a:p>
        </p:txBody>
      </p:sp>
      <p:sp>
        <p:nvSpPr>
          <p:cNvPr id="14" name="Text 12"/>
          <p:cNvSpPr/>
          <p:nvPr/>
        </p:nvSpPr>
        <p:spPr>
          <a:xfrm>
            <a:off x="1498600" y="3340100"/>
            <a:ext cx="4473702"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4F0E8"/>
                </a:solidFill>
                <a:latin typeface="DM Sans" pitchFamily="34" charset="0"/>
                <a:ea typeface="DM Sans" pitchFamily="34" charset="-122"/>
                <a:cs typeface="DM Sans" pitchFamily="34" charset="-120"/>
              </a:rPr>
              <a:t>Brand power shows as engagement and ratings, not followers</a:t>
            </a:r>
            <a:endParaRPr lang="en-US" sz="1300" dirty="0"/>
          </a:p>
        </p:txBody>
      </p:sp>
      <p:sp>
        <p:nvSpPr>
          <p:cNvPr id="15" name="Text 13"/>
          <p:cNvSpPr/>
          <p:nvPr/>
        </p:nvSpPr>
        <p:spPr>
          <a:xfrm>
            <a:off x="1498600" y="3787118"/>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TMC and Ustraa have audiences of similar size to rivals and almost no engagement. Beardo's engagement is about 200 times TMC's (I).</a:t>
            </a:r>
            <a:endParaRPr lang="en-US" sz="1200" dirty="0"/>
          </a:p>
        </p:txBody>
      </p:sp>
      <p:sp>
        <p:nvSpPr>
          <p:cNvPr id="16" name="Shape 14"/>
          <p:cNvSpPr/>
          <p:nvPr/>
        </p:nvSpPr>
        <p:spPr>
          <a:xfrm>
            <a:off x="6172200" y="3162300"/>
            <a:ext cx="5207000" cy="1422400"/>
          </a:xfrm>
          <a:prstGeom prst="rect">
            <a:avLst/>
          </a:prstGeom>
          <a:solidFill>
            <a:srgbClr val="1D1C19"/>
          </a:solidFill>
          <a:ln/>
        </p:spPr>
        <p:txBody>
          <a:bodyPr/>
          <a:lstStyle/>
          <a:p>
            <a:endParaRPr lang="en-US"/>
          </a:p>
        </p:txBody>
      </p:sp>
      <p:sp>
        <p:nvSpPr>
          <p:cNvPr id="17" name="Text 15"/>
          <p:cNvSpPr/>
          <p:nvPr/>
        </p:nvSpPr>
        <p:spPr>
          <a:xfrm>
            <a:off x="6350000" y="33401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4</a:t>
            </a:r>
            <a:endParaRPr lang="en-US" sz="2200" dirty="0"/>
          </a:p>
        </p:txBody>
      </p:sp>
      <p:sp>
        <p:nvSpPr>
          <p:cNvPr id="18" name="Text 16"/>
          <p:cNvSpPr/>
          <p:nvPr/>
        </p:nvSpPr>
        <p:spPr>
          <a:xfrm>
            <a:off x="6858000" y="3340100"/>
            <a:ext cx="4473702"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4F0E8"/>
                </a:solidFill>
                <a:latin typeface="DM Sans" pitchFamily="34" charset="0"/>
                <a:ea typeface="DM Sans" pitchFamily="34" charset="-122"/>
                <a:cs typeface="DM Sans" pitchFamily="34" charset="-120"/>
              </a:rPr>
              <a:t>A premium is paid for a specific result, never for a general identity</a:t>
            </a:r>
            <a:endParaRPr lang="en-US" sz="1300" dirty="0"/>
          </a:p>
        </p:txBody>
      </p:sp>
      <p:sp>
        <p:nvSpPr>
          <p:cNvPr id="19" name="Text 17"/>
          <p:cNvSpPr/>
          <p:nvPr/>
        </p:nvSpPr>
        <p:spPr>
          <a:xfrm>
            <a:off x="6858000" y="3787118"/>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Sunscreen with no white cast, a hair-loss plan, a five-blade cartridge.</a:t>
            </a:r>
            <a:endParaRPr lang="en-US" sz="1200" dirty="0"/>
          </a:p>
        </p:txBody>
      </p:sp>
      <p:sp>
        <p:nvSpPr>
          <p:cNvPr id="20" name="Shape 18"/>
          <p:cNvSpPr/>
          <p:nvPr/>
        </p:nvSpPr>
        <p:spPr>
          <a:xfrm>
            <a:off x="812800" y="4737100"/>
            <a:ext cx="5207000" cy="1219200"/>
          </a:xfrm>
          <a:prstGeom prst="rect">
            <a:avLst/>
          </a:prstGeom>
          <a:solidFill>
            <a:srgbClr val="1D1C19"/>
          </a:solidFill>
          <a:ln/>
        </p:spPr>
        <p:txBody>
          <a:bodyPr/>
          <a:lstStyle/>
          <a:p>
            <a:endParaRPr lang="en-US"/>
          </a:p>
        </p:txBody>
      </p:sp>
      <p:sp>
        <p:nvSpPr>
          <p:cNvPr id="21" name="Text 19"/>
          <p:cNvSpPr/>
          <p:nvPr/>
        </p:nvSpPr>
        <p:spPr>
          <a:xfrm>
            <a:off x="990600" y="49149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5</a:t>
            </a:r>
            <a:endParaRPr lang="en-US" sz="2200" dirty="0"/>
          </a:p>
        </p:txBody>
      </p:sp>
      <p:sp>
        <p:nvSpPr>
          <p:cNvPr id="22" name="Text 20"/>
          <p:cNvSpPr/>
          <p:nvPr/>
        </p:nvSpPr>
        <p:spPr>
          <a:xfrm>
            <a:off x="1498600" y="4914900"/>
            <a:ext cx="4473702"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4F0E8"/>
                </a:solidFill>
                <a:latin typeface="DM Sans" pitchFamily="34" charset="0"/>
                <a:ea typeface="DM Sans" pitchFamily="34" charset="-122"/>
                <a:cs typeface="DM Sans" pitchFamily="34" charset="-120"/>
              </a:rPr>
              <a:t>TMC's price problem is coherence, not level</a:t>
            </a:r>
            <a:endParaRPr lang="en-US" sz="1300" dirty="0"/>
          </a:p>
        </p:txBody>
      </p:sp>
      <p:sp>
        <p:nvSpPr>
          <p:cNvPr id="23" name="Text 21"/>
          <p:cNvSpPr/>
          <p:nvPr/>
        </p:nvSpPr>
        <p:spPr>
          <a:xfrm>
            <a:off x="1498600" y="5163809"/>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Two list prices and selling prices from Rs 180 to Rs 740 for one bottle. Confirm by a manual check, then fix before any price increase.</a:t>
            </a:r>
            <a:endParaRPr lang="en-US" sz="1200" dirty="0"/>
          </a:p>
        </p:txBody>
      </p:sp>
      <p:sp>
        <p:nvSpPr>
          <p:cNvPr id="24" name="Shape 22"/>
          <p:cNvSpPr/>
          <p:nvPr/>
        </p:nvSpPr>
        <p:spPr>
          <a:xfrm>
            <a:off x="6172200" y="4737100"/>
            <a:ext cx="5207000" cy="1219200"/>
          </a:xfrm>
          <a:prstGeom prst="rect">
            <a:avLst/>
          </a:prstGeom>
          <a:solidFill>
            <a:srgbClr val="1D1C19"/>
          </a:solidFill>
          <a:ln/>
        </p:spPr>
        <p:txBody>
          <a:bodyPr/>
          <a:lstStyle/>
          <a:p>
            <a:endParaRPr lang="en-US"/>
          </a:p>
        </p:txBody>
      </p:sp>
      <p:sp>
        <p:nvSpPr>
          <p:cNvPr id="25" name="Text 23"/>
          <p:cNvSpPr/>
          <p:nvPr/>
        </p:nvSpPr>
        <p:spPr>
          <a:xfrm>
            <a:off x="6350000" y="49149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6</a:t>
            </a:r>
            <a:endParaRPr lang="en-US" sz="2200" dirty="0"/>
          </a:p>
        </p:txBody>
      </p:sp>
      <p:sp>
        <p:nvSpPr>
          <p:cNvPr id="26" name="Text 24"/>
          <p:cNvSpPr/>
          <p:nvPr/>
        </p:nvSpPr>
        <p:spPr>
          <a:xfrm>
            <a:off x="6858000" y="4914900"/>
            <a:ext cx="4473702"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4F0E8"/>
                </a:solidFill>
                <a:latin typeface="DM Sans" pitchFamily="34" charset="0"/>
                <a:ea typeface="DM Sans" pitchFamily="34" charset="-122"/>
                <a:cs typeface="DM Sans" pitchFamily="34" charset="-120"/>
              </a:rPr>
              <a:t>Where to price: two positions only</a:t>
            </a:r>
            <a:endParaRPr lang="en-US" sz="1300" dirty="0"/>
          </a:p>
        </p:txBody>
      </p:sp>
      <p:sp>
        <p:nvSpPr>
          <p:cNvPr id="27" name="Text 25"/>
          <p:cNvSpPr/>
          <p:nvPr/>
        </p:nvSpPr>
        <p:spPr>
          <a:xfrm>
            <a:off x="6858000" y="5163809"/>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A fixed, honest price in the core band with a checkable claim, or a two-times premium on one named result. Every persona brand already stands in the struck-through middle.</a:t>
            </a:r>
            <a:endParaRPr lang="en-US" sz="1200" dirty="0"/>
          </a:p>
        </p:txBody>
      </p:sp>
      <p:sp>
        <p:nvSpPr>
          <p:cNvPr id="28" name="Text 26"/>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Companion document, section 1.5</a:t>
            </a:r>
            <a:endParaRPr lang="en-US" sz="1200" dirty="0"/>
          </a:p>
        </p:txBody>
      </p:sp>
      <p:sp>
        <p:nvSpPr>
          <p:cNvPr id="29" name="Text 27"/>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10</a:t>
            </a:r>
            <a:endParaRPr lang="en-US" sz="1200" dirty="0"/>
          </a:p>
        </p:txBody>
      </p:sp>
      <p:pic>
        <p:nvPicPr>
          <p:cNvPr id="31" name="Graphic 30" descr="Blueprint with solid fill">
            <a:extLst>
              <a:ext uri="{FF2B5EF4-FFF2-40B4-BE49-F238E27FC236}">
                <a16:creationId xmlns:a16="http://schemas.microsoft.com/office/drawing/2014/main" id="{7C767390-67A2-0ADB-9C8D-AD384521B8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each brand says first (1 of 3): five brands sell a character - </a:t>
            </a:r>
            <a:r>
              <a:rPr lang="en-US" sz="2500" b="0" i="0" dirty="0">
                <a:solidFill>
                  <a:srgbClr val="00B050"/>
                </a:solidFill>
                <a:latin typeface="Oswald" pitchFamily="34" charset="0"/>
                <a:ea typeface="Oswald" pitchFamily="34" charset="-122"/>
                <a:cs typeface="Oswald" pitchFamily="34" charset="-120"/>
              </a:rPr>
              <a:t>comparison</a:t>
            </a:r>
            <a:endParaRPr lang="en-US" sz="2500" dirty="0">
              <a:solidFill>
                <a:srgbClr val="00B050"/>
              </a:solidFill>
            </a:endParaRPr>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a:t>
            </a:r>
            <a:endParaRPr lang="en-US" sz="1200" dirty="0"/>
          </a:p>
        </p:txBody>
      </p:sp>
      <p:sp>
        <p:nvSpPr>
          <p:cNvPr id="6" name="Text 4"/>
          <p:cNvSpPr/>
          <p:nvPr/>
        </p:nvSpPr>
        <p:spPr>
          <a:xfrm>
            <a:off x="2552700" y="1879600"/>
            <a:ext cx="418592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FIRST MESSAGE ON THE PAGE</a:t>
            </a:r>
            <a:endParaRPr lang="en-US" sz="1200" dirty="0"/>
          </a:p>
        </p:txBody>
      </p:sp>
      <p:sp>
        <p:nvSpPr>
          <p:cNvPr id="7" name="Text 5"/>
          <p:cNvSpPr/>
          <p:nvPr/>
        </p:nvSpPr>
        <p:spPr>
          <a:xfrm>
            <a:off x="6769100" y="1879600"/>
            <a:ext cx="287782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PROOF OFFERED</a:t>
            </a:r>
            <a:endParaRPr lang="en-US" sz="1200" dirty="0"/>
          </a:p>
        </p:txBody>
      </p:sp>
      <p:sp>
        <p:nvSpPr>
          <p:cNvPr id="8" name="Text 6"/>
          <p:cNvSpPr/>
          <p:nvPr/>
        </p:nvSpPr>
        <p:spPr>
          <a:xfrm>
            <a:off x="9715500" y="1879600"/>
            <a:ext cx="17145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SPEAKS TO</a:t>
            </a:r>
            <a:endParaRPr lang="en-US" sz="1200" dirty="0"/>
          </a:p>
        </p:txBody>
      </p:sp>
      <p:sp>
        <p:nvSpPr>
          <p:cNvPr id="9" name="Shape 7"/>
          <p:cNvSpPr/>
          <p:nvPr/>
        </p:nvSpPr>
        <p:spPr>
          <a:xfrm>
            <a:off x="812800" y="2120900"/>
            <a:ext cx="10566400" cy="533400"/>
          </a:xfrm>
          <a:prstGeom prst="rect">
            <a:avLst/>
          </a:prstGeom>
          <a:solidFill>
            <a:srgbClr val="1D1C19"/>
          </a:solidFill>
          <a:ln/>
        </p:spPr>
        <p:txBody>
          <a:bodyPr/>
          <a:lstStyle/>
          <a:p>
            <a:endParaRPr lang="en-US"/>
          </a:p>
        </p:txBody>
      </p:sp>
      <p:sp>
        <p:nvSpPr>
          <p:cNvPr id="10" name="Shape 8"/>
          <p:cNvSpPr/>
          <p:nvPr/>
        </p:nvSpPr>
        <p:spPr>
          <a:xfrm>
            <a:off x="812800" y="2651125"/>
            <a:ext cx="10566400" cy="0"/>
          </a:xfrm>
          <a:prstGeom prst="line">
            <a:avLst/>
          </a:prstGeom>
          <a:noFill/>
          <a:ln w="6350">
            <a:solidFill>
              <a:srgbClr val="3A3832"/>
            </a:solidFill>
            <a:prstDash val="solid"/>
          </a:ln>
        </p:spPr>
        <p:txBody>
          <a:bodyPr/>
          <a:lstStyle/>
          <a:p>
            <a:endParaRPr lang="en-US"/>
          </a:p>
        </p:txBody>
      </p:sp>
      <p:sp>
        <p:nvSpPr>
          <p:cNvPr id="11" name="Text 9"/>
          <p:cNvSpPr/>
          <p:nvPr/>
        </p:nvSpPr>
        <p:spPr>
          <a:xfrm>
            <a:off x="812800" y="22902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The Man Company</a:t>
            </a:r>
            <a:endParaRPr lang="en-US" sz="1200" dirty="0"/>
          </a:p>
        </p:txBody>
      </p:sp>
      <p:sp>
        <p:nvSpPr>
          <p:cNvPr id="12" name="Text 10"/>
          <p:cNvSpPr/>
          <p:nvPr/>
        </p:nvSpPr>
        <p:spPr>
          <a:xfrm>
            <a:off x="2552700" y="2194985"/>
            <a:ext cx="41859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“Premium Men's Grooming Essentials”; banner “SUPER SAVING OFFER !! Starting From @599 + Free Gifts”</a:t>
            </a:r>
            <a:endParaRPr lang="en-US" sz="1200" dirty="0"/>
          </a:p>
        </p:txBody>
      </p:sp>
      <p:sp>
        <p:nvSpPr>
          <p:cNvPr id="13" name="Text 11"/>
          <p:cNvSpPr/>
          <p:nvPr/>
        </p:nvSpPr>
        <p:spPr>
          <a:xfrm>
            <a:off x="6769100" y="2194985"/>
            <a:ext cx="28778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Star ratings, fragrance-safety certificate, 80% off</a:t>
            </a:r>
            <a:endParaRPr lang="en-US" sz="1200" dirty="0"/>
          </a:p>
        </p:txBody>
      </p:sp>
      <p:sp>
        <p:nvSpPr>
          <p:cNvPr id="14" name="Text 12"/>
          <p:cNvSpPr/>
          <p:nvPr/>
        </p:nvSpPr>
        <p:spPr>
          <a:xfrm>
            <a:off x="9715500" y="2194985"/>
            <a:ext cx="1714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and the gift buyer</a:t>
            </a:r>
            <a:endParaRPr lang="en-US" sz="1200" dirty="0"/>
          </a:p>
        </p:txBody>
      </p:sp>
      <p:sp>
        <p:nvSpPr>
          <p:cNvPr id="15" name="Shape 13"/>
          <p:cNvSpPr/>
          <p:nvPr/>
        </p:nvSpPr>
        <p:spPr>
          <a:xfrm>
            <a:off x="812800" y="3184525"/>
            <a:ext cx="10566400" cy="0"/>
          </a:xfrm>
          <a:prstGeom prst="line">
            <a:avLst/>
          </a:prstGeom>
          <a:noFill/>
          <a:ln w="6350">
            <a:solidFill>
              <a:srgbClr val="3A3832"/>
            </a:solidFill>
            <a:prstDash val="solid"/>
          </a:ln>
        </p:spPr>
        <p:txBody>
          <a:bodyPr/>
          <a:lstStyle/>
          <a:p>
            <a:endParaRPr lang="en-US"/>
          </a:p>
        </p:txBody>
      </p:sp>
      <p:sp>
        <p:nvSpPr>
          <p:cNvPr id="16" name="Text 14"/>
          <p:cNvSpPr/>
          <p:nvPr/>
        </p:nvSpPr>
        <p:spPr>
          <a:xfrm>
            <a:off x="812800" y="28236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Beardo</a:t>
            </a:r>
            <a:endParaRPr lang="en-US" sz="1200" dirty="0"/>
          </a:p>
        </p:txBody>
      </p:sp>
      <p:sp>
        <p:nvSpPr>
          <p:cNvPr id="17" name="Text 15"/>
          <p:cNvSpPr/>
          <p:nvPr/>
        </p:nvSpPr>
        <p:spPr>
          <a:xfrm>
            <a:off x="2552700" y="2728385"/>
            <a:ext cx="41859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“India's #1 men's grooming brand”; “Buy 2 Get 2 Free”; “Godfather Bloodline”</a:t>
            </a:r>
            <a:endParaRPr lang="en-US" sz="1200" dirty="0"/>
          </a:p>
        </p:txBody>
      </p:sp>
      <p:sp>
        <p:nvSpPr>
          <p:cNvPr id="18" name="Text 16"/>
          <p:cNvSpPr/>
          <p:nvPr/>
        </p:nvSpPr>
        <p:spPr>
          <a:xfrm>
            <a:off x="6769100" y="2728385"/>
            <a:ext cx="28778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“Trusted by 10 lakh+ men”; “Results in 4 to 6 weeks”</a:t>
            </a:r>
            <a:endParaRPr lang="en-US" sz="1200" dirty="0"/>
          </a:p>
        </p:txBody>
      </p:sp>
      <p:sp>
        <p:nvSpPr>
          <p:cNvPr id="19" name="Text 17"/>
          <p:cNvSpPr/>
          <p:nvPr/>
        </p:nvSpPr>
        <p:spPr>
          <a:xfrm>
            <a:off x="9715500" y="2728385"/>
            <a:ext cx="1714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with a patchy beard</a:t>
            </a:r>
            <a:endParaRPr lang="en-US" sz="1200" dirty="0"/>
          </a:p>
        </p:txBody>
      </p:sp>
      <p:sp>
        <p:nvSpPr>
          <p:cNvPr id="20" name="Shape 18"/>
          <p:cNvSpPr/>
          <p:nvPr/>
        </p:nvSpPr>
        <p:spPr>
          <a:xfrm>
            <a:off x="812800" y="3527425"/>
            <a:ext cx="10566400" cy="0"/>
          </a:xfrm>
          <a:prstGeom prst="line">
            <a:avLst/>
          </a:prstGeom>
          <a:noFill/>
          <a:ln w="6350">
            <a:solidFill>
              <a:srgbClr val="3A3832"/>
            </a:solidFill>
            <a:prstDash val="solid"/>
          </a:ln>
        </p:spPr>
        <p:txBody>
          <a:bodyPr/>
          <a:lstStyle/>
          <a:p>
            <a:endParaRPr lang="en-US"/>
          </a:p>
        </p:txBody>
      </p:sp>
      <p:sp>
        <p:nvSpPr>
          <p:cNvPr id="21" name="Text 19"/>
          <p:cNvSpPr/>
          <p:nvPr/>
        </p:nvSpPr>
        <p:spPr>
          <a:xfrm>
            <a:off x="812800" y="32617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Bella Vita</a:t>
            </a:r>
            <a:endParaRPr lang="en-US" sz="1200" dirty="0"/>
          </a:p>
        </p:txBody>
      </p:sp>
      <p:sp>
        <p:nvSpPr>
          <p:cNvPr id="22" name="Text 20"/>
          <p:cNvSpPr/>
          <p:nvPr/>
        </p:nvSpPr>
        <p:spPr>
          <a:xfrm>
            <a:off x="2552700" y="326178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CEO Man: “Stay bossy, always!”</a:t>
            </a:r>
            <a:endParaRPr lang="en-US" sz="1200" dirty="0"/>
          </a:p>
        </p:txBody>
      </p:sp>
      <p:sp>
        <p:nvSpPr>
          <p:cNvPr id="23" name="Text 21"/>
          <p:cNvSpPr/>
          <p:nvPr/>
        </p:nvSpPr>
        <p:spPr>
          <a:xfrm>
            <a:off x="6769100" y="326178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4.8 stars, 1,105 reviews, 50% off</a:t>
            </a:r>
            <a:endParaRPr lang="en-US" sz="1200" dirty="0"/>
          </a:p>
        </p:txBody>
      </p:sp>
      <p:sp>
        <p:nvSpPr>
          <p:cNvPr id="24" name="Text 22"/>
          <p:cNvSpPr/>
          <p:nvPr/>
        </p:nvSpPr>
        <p:spPr>
          <a:xfrm>
            <a:off x="9715500" y="326178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the gift buyer</a:t>
            </a:r>
            <a:endParaRPr lang="en-US" sz="1200" dirty="0"/>
          </a:p>
        </p:txBody>
      </p:sp>
      <p:sp>
        <p:nvSpPr>
          <p:cNvPr id="25" name="Shape 23"/>
          <p:cNvSpPr/>
          <p:nvPr/>
        </p:nvSpPr>
        <p:spPr>
          <a:xfrm>
            <a:off x="812800" y="3870325"/>
            <a:ext cx="10566400" cy="0"/>
          </a:xfrm>
          <a:prstGeom prst="line">
            <a:avLst/>
          </a:prstGeom>
          <a:noFill/>
          <a:ln w="6350">
            <a:solidFill>
              <a:srgbClr val="3A3832"/>
            </a:solidFill>
            <a:prstDash val="solid"/>
          </a:ln>
        </p:spPr>
        <p:txBody>
          <a:bodyPr/>
          <a:lstStyle/>
          <a:p>
            <a:endParaRPr lang="en-US"/>
          </a:p>
        </p:txBody>
      </p:sp>
      <p:sp>
        <p:nvSpPr>
          <p:cNvPr id="26" name="Text 24"/>
          <p:cNvSpPr/>
          <p:nvPr/>
        </p:nvSpPr>
        <p:spPr>
          <a:xfrm>
            <a:off x="812800" y="36046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Villain</a:t>
            </a:r>
            <a:endParaRPr lang="en-US" sz="1200" dirty="0"/>
          </a:p>
        </p:txBody>
      </p:sp>
      <p:sp>
        <p:nvSpPr>
          <p:cNvPr id="27" name="Text 25"/>
          <p:cNvSpPr/>
          <p:nvPr/>
        </p:nvSpPr>
        <p:spPr>
          <a:xfrm>
            <a:off x="2552700" y="360468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“Smell Bold. Rule the Room.”</a:t>
            </a:r>
            <a:endParaRPr lang="en-US" sz="1200" dirty="0"/>
          </a:p>
        </p:txBody>
      </p:sp>
      <p:sp>
        <p:nvSpPr>
          <p:cNvPr id="28" name="Text 26"/>
          <p:cNvSpPr/>
          <p:nvPr/>
        </p:nvSpPr>
        <p:spPr>
          <a:xfrm>
            <a:off x="6769100" y="360468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“6 to 8 hours of wear”</a:t>
            </a:r>
            <a:endParaRPr lang="en-US" sz="1200" dirty="0"/>
          </a:p>
        </p:txBody>
      </p:sp>
      <p:sp>
        <p:nvSpPr>
          <p:cNvPr id="29" name="Text 27"/>
          <p:cNvSpPr/>
          <p:nvPr/>
        </p:nvSpPr>
        <p:spPr>
          <a:xfrm>
            <a:off x="9715500" y="360468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a:t>
            </a:r>
            <a:endParaRPr lang="en-US" sz="1200" dirty="0"/>
          </a:p>
        </p:txBody>
      </p:sp>
      <p:sp>
        <p:nvSpPr>
          <p:cNvPr id="30" name="Shape 28"/>
          <p:cNvSpPr/>
          <p:nvPr/>
        </p:nvSpPr>
        <p:spPr>
          <a:xfrm>
            <a:off x="812800" y="4213225"/>
            <a:ext cx="10566400" cy="0"/>
          </a:xfrm>
          <a:prstGeom prst="line">
            <a:avLst/>
          </a:prstGeom>
          <a:noFill/>
          <a:ln w="6350">
            <a:solidFill>
              <a:srgbClr val="3A3832"/>
            </a:solidFill>
            <a:prstDash val="solid"/>
          </a:ln>
        </p:spPr>
        <p:txBody>
          <a:bodyPr/>
          <a:lstStyle/>
          <a:p>
            <a:endParaRPr lang="en-US"/>
          </a:p>
        </p:txBody>
      </p:sp>
      <p:sp>
        <p:nvSpPr>
          <p:cNvPr id="31" name="Text 29"/>
          <p:cNvSpPr/>
          <p:nvPr/>
        </p:nvSpPr>
        <p:spPr>
          <a:xfrm>
            <a:off x="812800" y="39475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Ustraa</a:t>
            </a:r>
            <a:endParaRPr lang="en-US" sz="1200" dirty="0"/>
          </a:p>
        </p:txBody>
      </p:sp>
      <p:sp>
        <p:nvSpPr>
          <p:cNvPr id="32" name="Text 30"/>
          <p:cNvSpPr/>
          <p:nvPr/>
        </p:nvSpPr>
        <p:spPr>
          <a:xfrm>
            <a:off x="2552700" y="394758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“Helping our Bros look their best since 2015”</a:t>
            </a:r>
            <a:endParaRPr lang="en-US" sz="1200" dirty="0"/>
          </a:p>
        </p:txBody>
      </p:sp>
      <p:sp>
        <p:nvSpPr>
          <p:cNvPr id="33" name="Text 31"/>
          <p:cNvSpPr/>
          <p:nvPr/>
        </p:nvSpPr>
        <p:spPr>
          <a:xfrm>
            <a:off x="6769100" y="394758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Reviews, a named ingredient</a:t>
            </a:r>
            <a:endParaRPr lang="en-US" sz="1200" dirty="0"/>
          </a:p>
        </p:txBody>
      </p:sp>
      <p:sp>
        <p:nvSpPr>
          <p:cNvPr id="34" name="Text 32"/>
          <p:cNvSpPr/>
          <p:nvPr/>
        </p:nvSpPr>
        <p:spPr>
          <a:xfrm>
            <a:off x="9715500" y="394758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a:t>
            </a:r>
            <a:endParaRPr lang="en-US" sz="1200" dirty="0"/>
          </a:p>
        </p:txBody>
      </p:sp>
      <p:sp>
        <p:nvSpPr>
          <p:cNvPr id="35" name="Text 33"/>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home and product pages read October 2026 (F); quotes need a spot check</a:t>
            </a:r>
            <a:endParaRPr lang="en-US" sz="1200" dirty="0"/>
          </a:p>
        </p:txBody>
      </p:sp>
      <p:sp>
        <p:nvSpPr>
          <p:cNvPr id="36" name="Text 34"/>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11</a:t>
            </a:r>
            <a:endParaRPr lang="en-US" sz="1200" dirty="0"/>
          </a:p>
        </p:txBody>
      </p:sp>
      <p:pic>
        <p:nvPicPr>
          <p:cNvPr id="38" name="Graphic 37" descr="Blueprint with solid fill">
            <a:extLst>
              <a:ext uri="{FF2B5EF4-FFF2-40B4-BE49-F238E27FC236}">
                <a16:creationId xmlns:a16="http://schemas.microsoft.com/office/drawing/2014/main" id="{F71E52D4-1FC2-8019-762D-4B364BCDF9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each brand says first (2 of 3): six challengers sell a proof</a:t>
            </a:r>
            <a:endParaRPr lang="en-US" sz="2500" dirty="0"/>
          </a:p>
        </p:txBody>
      </p:sp>
      <p:sp>
        <p:nvSpPr>
          <p:cNvPr id="4" name="Shape 2"/>
          <p:cNvSpPr/>
          <p:nvPr/>
        </p:nvSpPr>
        <p:spPr>
          <a:xfrm>
            <a:off x="812800" y="1860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625600"/>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a:t>
            </a:r>
            <a:endParaRPr lang="en-US" sz="1200" dirty="0"/>
          </a:p>
        </p:txBody>
      </p:sp>
      <p:sp>
        <p:nvSpPr>
          <p:cNvPr id="6" name="Text 4"/>
          <p:cNvSpPr/>
          <p:nvPr/>
        </p:nvSpPr>
        <p:spPr>
          <a:xfrm>
            <a:off x="2552700" y="1625600"/>
            <a:ext cx="418592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FIRST MESSAGE ON THE PAGE</a:t>
            </a:r>
            <a:endParaRPr lang="en-US" sz="1200" dirty="0"/>
          </a:p>
        </p:txBody>
      </p:sp>
      <p:sp>
        <p:nvSpPr>
          <p:cNvPr id="7" name="Text 5"/>
          <p:cNvSpPr/>
          <p:nvPr/>
        </p:nvSpPr>
        <p:spPr>
          <a:xfrm>
            <a:off x="6769100" y="1625600"/>
            <a:ext cx="287782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PROOF OFFERED</a:t>
            </a:r>
            <a:endParaRPr lang="en-US" sz="1200" dirty="0"/>
          </a:p>
        </p:txBody>
      </p:sp>
      <p:sp>
        <p:nvSpPr>
          <p:cNvPr id="8" name="Text 6"/>
          <p:cNvSpPr/>
          <p:nvPr/>
        </p:nvSpPr>
        <p:spPr>
          <a:xfrm>
            <a:off x="9715500" y="1625600"/>
            <a:ext cx="17145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SPEAKS TO</a:t>
            </a:r>
            <a:endParaRPr lang="en-US" sz="1200" dirty="0"/>
          </a:p>
        </p:txBody>
      </p:sp>
      <p:sp>
        <p:nvSpPr>
          <p:cNvPr id="9" name="Shape 7"/>
          <p:cNvSpPr/>
          <p:nvPr/>
        </p:nvSpPr>
        <p:spPr>
          <a:xfrm>
            <a:off x="812800" y="2524125"/>
            <a:ext cx="10566400" cy="0"/>
          </a:xfrm>
          <a:prstGeom prst="line">
            <a:avLst/>
          </a:prstGeom>
          <a:noFill/>
          <a:ln w="6350">
            <a:solidFill>
              <a:srgbClr val="3A3832"/>
            </a:solidFill>
            <a:prstDash val="solid"/>
          </a:ln>
        </p:spPr>
        <p:txBody>
          <a:bodyPr/>
          <a:lstStyle/>
          <a:p>
            <a:endParaRPr lang="en-US"/>
          </a:p>
        </p:txBody>
      </p:sp>
      <p:sp>
        <p:nvSpPr>
          <p:cNvPr id="10" name="Text 8"/>
          <p:cNvSpPr/>
          <p:nvPr/>
        </p:nvSpPr>
        <p:spPr>
          <a:xfrm>
            <a:off x="812800" y="20997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Bombay Shaving Co.</a:t>
            </a:r>
            <a:endParaRPr lang="en-US" sz="1200" dirty="0"/>
          </a:p>
        </p:txBody>
      </p:sp>
      <p:sp>
        <p:nvSpPr>
          <p:cNvPr id="11" name="Text 9"/>
          <p:cNvSpPr/>
          <p:nvPr/>
        </p:nvSpPr>
        <p:spPr>
          <a:xfrm>
            <a:off x="2552700" y="1909235"/>
            <a:ext cx="4185920"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“We've got your back BRO! And we've got your face, legs, chest and everything in between”; “Products over promises”</a:t>
            </a:r>
            <a:endParaRPr lang="en-US" sz="1200" dirty="0"/>
          </a:p>
        </p:txBody>
      </p:sp>
      <p:sp>
        <p:nvSpPr>
          <p:cNvPr id="12" name="Text 10"/>
          <p:cNvSpPr/>
          <p:nvPr/>
        </p:nvSpPr>
        <p:spPr>
          <a:xfrm>
            <a:off x="6769100" y="2004485"/>
            <a:ext cx="28778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Rating counts; “Designed for Indian men”</a:t>
            </a:r>
            <a:endParaRPr lang="en-US" sz="1200" dirty="0"/>
          </a:p>
        </p:txBody>
      </p:sp>
      <p:sp>
        <p:nvSpPr>
          <p:cNvPr id="13" name="Text 11"/>
          <p:cNvSpPr/>
          <p:nvPr/>
        </p:nvSpPr>
        <p:spPr>
          <a:xfrm>
            <a:off x="9715500" y="2004485"/>
            <a:ext cx="1714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Young first-time shavers</a:t>
            </a:r>
            <a:endParaRPr lang="en-US" sz="1200" dirty="0"/>
          </a:p>
        </p:txBody>
      </p:sp>
      <p:sp>
        <p:nvSpPr>
          <p:cNvPr id="14" name="Shape 12"/>
          <p:cNvSpPr/>
          <p:nvPr/>
        </p:nvSpPr>
        <p:spPr>
          <a:xfrm>
            <a:off x="812800" y="2994025"/>
            <a:ext cx="10566400" cy="0"/>
          </a:xfrm>
          <a:prstGeom prst="line">
            <a:avLst/>
          </a:prstGeom>
          <a:noFill/>
          <a:ln w="6350">
            <a:solidFill>
              <a:srgbClr val="3A3832"/>
            </a:solidFill>
            <a:prstDash val="solid"/>
          </a:ln>
        </p:spPr>
        <p:txBody>
          <a:bodyPr/>
          <a:lstStyle/>
          <a:p>
            <a:endParaRPr lang="en-US"/>
          </a:p>
        </p:txBody>
      </p:sp>
      <p:sp>
        <p:nvSpPr>
          <p:cNvPr id="15" name="Text 13"/>
          <p:cNvSpPr/>
          <p:nvPr/>
        </p:nvSpPr>
        <p:spPr>
          <a:xfrm>
            <a:off x="812800" y="26648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Muuchstac</a:t>
            </a:r>
            <a:endParaRPr lang="en-US" sz="1200" dirty="0"/>
          </a:p>
        </p:txBody>
      </p:sp>
      <p:sp>
        <p:nvSpPr>
          <p:cNvPr id="16" name="Text 14"/>
          <p:cNvSpPr/>
          <p:nvPr/>
        </p:nvSpPr>
        <p:spPr>
          <a:xfrm>
            <a:off x="2552700" y="2569635"/>
            <a:ext cx="41859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Ocean Face Wash: “Fight Acne and Pimples, Brighten Skin, Clears Dirt, Oil Control”</a:t>
            </a:r>
            <a:endParaRPr lang="en-US" sz="1200" dirty="0"/>
          </a:p>
        </p:txBody>
      </p:sp>
      <p:sp>
        <p:nvSpPr>
          <p:cNvPr id="17" name="Text 15"/>
          <p:cNvSpPr/>
          <p:nvPr/>
        </p:nvSpPr>
        <p:spPr>
          <a:xfrm>
            <a:off x="6769100" y="266488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The benefit list is the product name</a:t>
            </a:r>
            <a:endParaRPr lang="en-US" sz="1200" dirty="0"/>
          </a:p>
        </p:txBody>
      </p:sp>
      <p:sp>
        <p:nvSpPr>
          <p:cNvPr id="18" name="Text 16"/>
          <p:cNvSpPr/>
          <p:nvPr/>
        </p:nvSpPr>
        <p:spPr>
          <a:xfrm>
            <a:off x="9715500" y="2569635"/>
            <a:ext cx="1714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with a skin problem</a:t>
            </a:r>
            <a:endParaRPr lang="en-US" sz="1200" dirty="0"/>
          </a:p>
        </p:txBody>
      </p:sp>
      <p:sp>
        <p:nvSpPr>
          <p:cNvPr id="19" name="Shape 17"/>
          <p:cNvSpPr/>
          <p:nvPr/>
        </p:nvSpPr>
        <p:spPr>
          <a:xfrm>
            <a:off x="812800" y="3654425"/>
            <a:ext cx="10566400" cy="0"/>
          </a:xfrm>
          <a:prstGeom prst="line">
            <a:avLst/>
          </a:prstGeom>
          <a:noFill/>
          <a:ln w="6350">
            <a:solidFill>
              <a:srgbClr val="3A3832"/>
            </a:solidFill>
            <a:prstDash val="solid"/>
          </a:ln>
        </p:spPr>
        <p:txBody>
          <a:bodyPr/>
          <a:lstStyle/>
          <a:p>
            <a:endParaRPr lang="en-US"/>
          </a:p>
        </p:txBody>
      </p:sp>
      <p:sp>
        <p:nvSpPr>
          <p:cNvPr id="20" name="Text 18"/>
          <p:cNvSpPr/>
          <p:nvPr/>
        </p:nvSpPr>
        <p:spPr>
          <a:xfrm>
            <a:off x="812800" y="32300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Minimalist</a:t>
            </a:r>
            <a:endParaRPr lang="en-US" sz="1200" dirty="0"/>
          </a:p>
        </p:txBody>
      </p:sp>
      <p:sp>
        <p:nvSpPr>
          <p:cNvPr id="21" name="Text 19"/>
          <p:cNvSpPr/>
          <p:nvPr/>
        </p:nvSpPr>
        <p:spPr>
          <a:xfrm>
            <a:off x="2552700" y="3134785"/>
            <a:ext cx="41859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“Honest, Authentic and Affordable”; “Full disclosure of ingredients used and their concentration”</a:t>
            </a:r>
            <a:endParaRPr lang="en-US" sz="1200" dirty="0"/>
          </a:p>
        </p:txBody>
      </p:sp>
      <p:sp>
        <p:nvSpPr>
          <p:cNvPr id="22" name="Text 20"/>
          <p:cNvSpPr/>
          <p:nvPr/>
        </p:nvSpPr>
        <p:spPr>
          <a:xfrm>
            <a:off x="6769100" y="3134785"/>
            <a:ext cx="28778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Percentage of active in the name; “90% of subjects reported oiliness reduction”</a:t>
            </a:r>
            <a:endParaRPr lang="en-US" sz="1200" dirty="0"/>
          </a:p>
        </p:txBody>
      </p:sp>
      <p:sp>
        <p:nvSpPr>
          <p:cNvPr id="23" name="Text 21"/>
          <p:cNvSpPr/>
          <p:nvPr/>
        </p:nvSpPr>
        <p:spPr>
          <a:xfrm>
            <a:off x="9715500" y="3134785"/>
            <a:ext cx="1714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buyer who reads labels</a:t>
            </a:r>
            <a:endParaRPr lang="en-US" sz="1200" dirty="0"/>
          </a:p>
        </p:txBody>
      </p:sp>
      <p:sp>
        <p:nvSpPr>
          <p:cNvPr id="24" name="Shape 22"/>
          <p:cNvSpPr/>
          <p:nvPr/>
        </p:nvSpPr>
        <p:spPr>
          <a:xfrm>
            <a:off x="812800" y="4124325"/>
            <a:ext cx="10566400" cy="0"/>
          </a:xfrm>
          <a:prstGeom prst="line">
            <a:avLst/>
          </a:prstGeom>
          <a:noFill/>
          <a:ln w="6350">
            <a:solidFill>
              <a:srgbClr val="3A3832"/>
            </a:solidFill>
            <a:prstDash val="solid"/>
          </a:ln>
        </p:spPr>
        <p:txBody>
          <a:bodyPr/>
          <a:lstStyle/>
          <a:p>
            <a:endParaRPr lang="en-US"/>
          </a:p>
        </p:txBody>
      </p:sp>
      <p:sp>
        <p:nvSpPr>
          <p:cNvPr id="25" name="Text 23"/>
          <p:cNvSpPr/>
          <p:nvPr/>
        </p:nvSpPr>
        <p:spPr>
          <a:xfrm>
            <a:off x="812800" y="37951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Reginald Men</a:t>
            </a:r>
            <a:endParaRPr lang="en-US" sz="1200" dirty="0"/>
          </a:p>
        </p:txBody>
      </p:sp>
      <p:sp>
        <p:nvSpPr>
          <p:cNvPr id="26" name="Text 24"/>
          <p:cNvSpPr/>
          <p:nvPr/>
        </p:nvSpPr>
        <p:spPr>
          <a:xfrm>
            <a:off x="2552700" y="3699935"/>
            <a:ext cx="41859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“Selfcare Simplified”; sunscreen: “SPF 50+ PA++++”, “No White Cast”</a:t>
            </a:r>
            <a:endParaRPr lang="en-US" sz="1200" dirty="0"/>
          </a:p>
        </p:txBody>
      </p:sp>
      <p:sp>
        <p:nvSpPr>
          <p:cNvPr id="27" name="Text 25"/>
          <p:cNvSpPr/>
          <p:nvPr/>
        </p:nvSpPr>
        <p:spPr>
          <a:xfrm>
            <a:off x="6769100" y="379518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2,489 reviews; tested on skin</a:t>
            </a:r>
            <a:endParaRPr lang="en-US" sz="1200" dirty="0"/>
          </a:p>
        </p:txBody>
      </p:sp>
      <p:sp>
        <p:nvSpPr>
          <p:cNvPr id="28" name="Text 26"/>
          <p:cNvSpPr/>
          <p:nvPr/>
        </p:nvSpPr>
        <p:spPr>
          <a:xfrm>
            <a:off x="9715500" y="379518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a:t>
            </a:r>
            <a:endParaRPr lang="en-US" sz="1200" dirty="0"/>
          </a:p>
        </p:txBody>
      </p:sp>
      <p:sp>
        <p:nvSpPr>
          <p:cNvPr id="29" name="Shape 27"/>
          <p:cNvSpPr/>
          <p:nvPr/>
        </p:nvSpPr>
        <p:spPr>
          <a:xfrm>
            <a:off x="812800" y="4784725"/>
            <a:ext cx="10566400" cy="0"/>
          </a:xfrm>
          <a:prstGeom prst="line">
            <a:avLst/>
          </a:prstGeom>
          <a:noFill/>
          <a:ln w="6350">
            <a:solidFill>
              <a:srgbClr val="3A3832"/>
            </a:solidFill>
            <a:prstDash val="solid"/>
          </a:ln>
        </p:spPr>
        <p:txBody>
          <a:bodyPr/>
          <a:lstStyle/>
          <a:p>
            <a:endParaRPr lang="en-US"/>
          </a:p>
        </p:txBody>
      </p:sp>
      <p:sp>
        <p:nvSpPr>
          <p:cNvPr id="30" name="Text 28"/>
          <p:cNvSpPr/>
          <p:nvPr/>
        </p:nvSpPr>
        <p:spPr>
          <a:xfrm>
            <a:off x="812800" y="43603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Traya</a:t>
            </a:r>
            <a:endParaRPr lang="en-US" sz="1200" dirty="0"/>
          </a:p>
        </p:txBody>
      </p:sp>
      <p:sp>
        <p:nvSpPr>
          <p:cNvPr id="31" name="Text 29"/>
          <p:cNvSpPr/>
          <p:nvPr/>
        </p:nvSpPr>
        <p:spPr>
          <a:xfrm>
            <a:off x="2552700" y="436033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“Doctor-led hair loss treatment”</a:t>
            </a:r>
            <a:endParaRPr lang="en-US" sz="1200" dirty="0"/>
          </a:p>
        </p:txBody>
      </p:sp>
      <p:sp>
        <p:nvSpPr>
          <p:cNvPr id="32" name="Text 30"/>
          <p:cNvSpPr/>
          <p:nvPr/>
        </p:nvSpPr>
        <p:spPr>
          <a:xfrm>
            <a:off x="6769100" y="4265085"/>
            <a:ext cx="28778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“93% saw results”; five-month money-back guarantee; “12+ lakh users”</a:t>
            </a:r>
            <a:endParaRPr lang="en-US" sz="1200" dirty="0"/>
          </a:p>
        </p:txBody>
      </p:sp>
      <p:sp>
        <p:nvSpPr>
          <p:cNvPr id="33" name="Text 31"/>
          <p:cNvSpPr/>
          <p:nvPr/>
        </p:nvSpPr>
        <p:spPr>
          <a:xfrm>
            <a:off x="9715500" y="436033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losing hair</a:t>
            </a:r>
            <a:endParaRPr lang="en-US" sz="1200" dirty="0"/>
          </a:p>
        </p:txBody>
      </p:sp>
      <p:sp>
        <p:nvSpPr>
          <p:cNvPr id="34" name="Shape 32"/>
          <p:cNvSpPr/>
          <p:nvPr/>
        </p:nvSpPr>
        <p:spPr>
          <a:xfrm>
            <a:off x="812800" y="5254625"/>
            <a:ext cx="10566400" cy="0"/>
          </a:xfrm>
          <a:prstGeom prst="line">
            <a:avLst/>
          </a:prstGeom>
          <a:noFill/>
          <a:ln w="6350">
            <a:solidFill>
              <a:srgbClr val="3A3832"/>
            </a:solidFill>
            <a:prstDash val="solid"/>
          </a:ln>
        </p:spPr>
        <p:txBody>
          <a:bodyPr/>
          <a:lstStyle/>
          <a:p>
            <a:endParaRPr lang="en-US"/>
          </a:p>
        </p:txBody>
      </p:sp>
      <p:sp>
        <p:nvSpPr>
          <p:cNvPr id="35" name="Text 33"/>
          <p:cNvSpPr/>
          <p:nvPr/>
        </p:nvSpPr>
        <p:spPr>
          <a:xfrm>
            <a:off x="812800" y="492548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Man Matters</a:t>
            </a:r>
            <a:endParaRPr lang="en-US" sz="1200" dirty="0"/>
          </a:p>
        </p:txBody>
      </p:sp>
      <p:sp>
        <p:nvSpPr>
          <p:cNvPr id="36" name="Text 34"/>
          <p:cNvSpPr/>
          <p:nvPr/>
        </p:nvSpPr>
        <p:spPr>
          <a:xfrm>
            <a:off x="2552700" y="4830235"/>
            <a:ext cx="41859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“Stop Hair Loss with Science Backed Products, No Side Effects”; “from INR 33/day”</a:t>
            </a:r>
            <a:endParaRPr lang="en-US" sz="1200" dirty="0"/>
          </a:p>
        </p:txBody>
      </p:sp>
      <p:sp>
        <p:nvSpPr>
          <p:cNvPr id="37" name="Text 35"/>
          <p:cNvSpPr/>
          <p:nvPr/>
        </p:nvSpPr>
        <p:spPr>
          <a:xfrm>
            <a:off x="6769100" y="4830235"/>
            <a:ext cx="28778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“73% of men saw results in 4 to 6 months”; “100% cashback guarantee”</a:t>
            </a:r>
            <a:endParaRPr lang="en-US" sz="1200" dirty="0"/>
          </a:p>
        </p:txBody>
      </p:sp>
      <p:sp>
        <p:nvSpPr>
          <p:cNvPr id="38" name="Text 36"/>
          <p:cNvSpPr/>
          <p:nvPr/>
        </p:nvSpPr>
        <p:spPr>
          <a:xfrm>
            <a:off x="9715500" y="492548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losing hair</a:t>
            </a:r>
            <a:endParaRPr lang="en-US" sz="1200" dirty="0"/>
          </a:p>
        </p:txBody>
      </p:sp>
      <p:sp>
        <p:nvSpPr>
          <p:cNvPr id="39" name="Text 37"/>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home and product pages read October 2026 (F); quotes need a spot check</a:t>
            </a:r>
            <a:endParaRPr lang="en-US" sz="1200" dirty="0"/>
          </a:p>
        </p:txBody>
      </p:sp>
      <p:sp>
        <p:nvSpPr>
          <p:cNvPr id="40" name="Text 38"/>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12</a:t>
            </a:r>
            <a:endParaRPr lang="en-US" sz="1200" dirty="0"/>
          </a:p>
        </p:txBody>
      </p:sp>
      <p:sp>
        <p:nvSpPr>
          <p:cNvPr id="42" name="TextBox 41">
            <a:extLst>
              <a:ext uri="{FF2B5EF4-FFF2-40B4-BE49-F238E27FC236}">
                <a16:creationId xmlns:a16="http://schemas.microsoft.com/office/drawing/2014/main" id="{F57CC5FF-1005-07CE-2DB6-67D81EBDE0FF}"/>
              </a:ext>
            </a:extLst>
          </p:cNvPr>
          <p:cNvSpPr txBox="1"/>
          <p:nvPr/>
        </p:nvSpPr>
        <p:spPr>
          <a:xfrm>
            <a:off x="8127889" y="657289"/>
            <a:ext cx="6096670" cy="477054"/>
          </a:xfrm>
          <a:prstGeom prst="rect">
            <a:avLst/>
          </a:prstGeom>
          <a:noFill/>
        </p:spPr>
        <p:txBody>
          <a:bodyPr wrap="square">
            <a:spAutoFit/>
          </a:bodyPr>
          <a:lstStyle/>
          <a:p>
            <a:r>
              <a:rPr lang="en-US" sz="2500" b="0" i="0" dirty="0">
                <a:solidFill>
                  <a:srgbClr val="00B050"/>
                </a:solidFill>
                <a:latin typeface="Oswald" pitchFamily="34" charset="0"/>
                <a:ea typeface="Oswald" pitchFamily="34" charset="-122"/>
                <a:cs typeface="Oswald" pitchFamily="34" charset="-120"/>
              </a:rPr>
              <a:t>comparison</a:t>
            </a:r>
            <a:endParaRPr lang="en-GB" dirty="0"/>
          </a:p>
        </p:txBody>
      </p:sp>
      <p:pic>
        <p:nvPicPr>
          <p:cNvPr id="48" name="Graphic 47" descr="Blueprint with solid fill">
            <a:extLst>
              <a:ext uri="{FF2B5EF4-FFF2-40B4-BE49-F238E27FC236}">
                <a16:creationId xmlns:a16="http://schemas.microsoft.com/office/drawing/2014/main" id="{1DD3B33B-3C55-DB93-A0C8-B6C7D6DAEF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each brand says first (3 of 3): the mass brands sell a number</a:t>
            </a:r>
            <a:endParaRPr lang="en-US" sz="2500" dirty="0"/>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a:t>
            </a:r>
            <a:endParaRPr lang="en-US" sz="1200" dirty="0"/>
          </a:p>
        </p:txBody>
      </p:sp>
      <p:sp>
        <p:nvSpPr>
          <p:cNvPr id="6" name="Text 4"/>
          <p:cNvSpPr/>
          <p:nvPr/>
        </p:nvSpPr>
        <p:spPr>
          <a:xfrm>
            <a:off x="2552700" y="1879600"/>
            <a:ext cx="418592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FIRST MESSAGE ON THE PAGE</a:t>
            </a:r>
            <a:endParaRPr lang="en-US" sz="1200" dirty="0"/>
          </a:p>
        </p:txBody>
      </p:sp>
      <p:sp>
        <p:nvSpPr>
          <p:cNvPr id="7" name="Text 5"/>
          <p:cNvSpPr/>
          <p:nvPr/>
        </p:nvSpPr>
        <p:spPr>
          <a:xfrm>
            <a:off x="6769100" y="1879600"/>
            <a:ext cx="287782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PROOF OFFERED</a:t>
            </a:r>
            <a:endParaRPr lang="en-US" sz="1200" dirty="0"/>
          </a:p>
        </p:txBody>
      </p:sp>
      <p:sp>
        <p:nvSpPr>
          <p:cNvPr id="8" name="Text 6"/>
          <p:cNvSpPr/>
          <p:nvPr/>
        </p:nvSpPr>
        <p:spPr>
          <a:xfrm>
            <a:off x="9715500" y="1879600"/>
            <a:ext cx="17145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SPEAKS TO</a:t>
            </a:r>
            <a:endParaRPr lang="en-US" sz="1200" dirty="0"/>
          </a:p>
        </p:txBody>
      </p:sp>
      <p:sp>
        <p:nvSpPr>
          <p:cNvPr id="9" name="Shape 7"/>
          <p:cNvSpPr/>
          <p:nvPr/>
        </p:nvSpPr>
        <p:spPr>
          <a:xfrm>
            <a:off x="812800" y="2447925"/>
            <a:ext cx="10566400" cy="0"/>
          </a:xfrm>
          <a:prstGeom prst="line">
            <a:avLst/>
          </a:prstGeom>
          <a:noFill/>
          <a:ln w="6350">
            <a:solidFill>
              <a:srgbClr val="3A3832"/>
            </a:solidFill>
            <a:prstDash val="solid"/>
          </a:ln>
        </p:spPr>
        <p:txBody>
          <a:bodyPr/>
          <a:lstStyle/>
          <a:p>
            <a:endParaRPr lang="en-US"/>
          </a:p>
        </p:txBody>
      </p:sp>
      <p:sp>
        <p:nvSpPr>
          <p:cNvPr id="10" name="Text 8"/>
          <p:cNvSpPr/>
          <p:nvPr/>
        </p:nvSpPr>
        <p:spPr>
          <a:xfrm>
            <a:off x="812800" y="21886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Fogg</a:t>
            </a:r>
            <a:endParaRPr lang="en-US" sz="1200" dirty="0"/>
          </a:p>
        </p:txBody>
      </p:sp>
      <p:sp>
        <p:nvSpPr>
          <p:cNvPr id="11" name="Text 9"/>
          <p:cNvSpPr/>
          <p:nvPr/>
        </p:nvSpPr>
        <p:spPr>
          <a:xfrm>
            <a:off x="2552700" y="218863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“No gas”; “800 sprays”</a:t>
            </a:r>
            <a:endParaRPr lang="en-US" sz="1200" dirty="0"/>
          </a:p>
        </p:txBody>
      </p:sp>
      <p:sp>
        <p:nvSpPr>
          <p:cNvPr id="12" name="Text 10"/>
          <p:cNvSpPr/>
          <p:nvPr/>
        </p:nvSpPr>
        <p:spPr>
          <a:xfrm>
            <a:off x="6769100" y="218863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A number the buyer can count</a:t>
            </a:r>
            <a:endParaRPr lang="en-US" sz="1200" dirty="0"/>
          </a:p>
        </p:txBody>
      </p:sp>
      <p:sp>
        <p:nvSpPr>
          <p:cNvPr id="13" name="Text 11"/>
          <p:cNvSpPr/>
          <p:nvPr/>
        </p:nvSpPr>
        <p:spPr>
          <a:xfrm>
            <a:off x="9715500" y="218863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Every man</a:t>
            </a:r>
            <a:endParaRPr lang="en-US" sz="1200" dirty="0"/>
          </a:p>
        </p:txBody>
      </p:sp>
      <p:sp>
        <p:nvSpPr>
          <p:cNvPr id="14" name="Shape 12"/>
          <p:cNvSpPr/>
          <p:nvPr/>
        </p:nvSpPr>
        <p:spPr>
          <a:xfrm>
            <a:off x="812800" y="2778125"/>
            <a:ext cx="10566400" cy="0"/>
          </a:xfrm>
          <a:prstGeom prst="line">
            <a:avLst/>
          </a:prstGeom>
          <a:noFill/>
          <a:ln w="6350">
            <a:solidFill>
              <a:srgbClr val="3A3832"/>
            </a:solidFill>
            <a:prstDash val="solid"/>
          </a:ln>
        </p:spPr>
        <p:txBody>
          <a:bodyPr/>
          <a:lstStyle/>
          <a:p>
            <a:endParaRPr lang="en-US"/>
          </a:p>
        </p:txBody>
      </p:sp>
      <p:sp>
        <p:nvSpPr>
          <p:cNvPr id="15" name="Text 13"/>
          <p:cNvSpPr/>
          <p:nvPr/>
        </p:nvSpPr>
        <p:spPr>
          <a:xfrm>
            <a:off x="812800" y="25188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Engage</a:t>
            </a:r>
            <a:endParaRPr lang="en-US" sz="1200" dirty="0"/>
          </a:p>
        </p:txBody>
      </p:sp>
      <p:sp>
        <p:nvSpPr>
          <p:cNvPr id="16" name="Text 14"/>
          <p:cNvSpPr/>
          <p:nvPr/>
        </p:nvSpPr>
        <p:spPr>
          <a:xfrm>
            <a:off x="2552700" y="251883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Pocket perfume: “up to 250 sprays” at Rs 60</a:t>
            </a:r>
            <a:endParaRPr lang="en-US" sz="1200" dirty="0"/>
          </a:p>
        </p:txBody>
      </p:sp>
      <p:sp>
        <p:nvSpPr>
          <p:cNvPr id="17" name="Text 15"/>
          <p:cNvSpPr/>
          <p:nvPr/>
        </p:nvSpPr>
        <p:spPr>
          <a:xfrm>
            <a:off x="6769100" y="251883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A number</a:t>
            </a:r>
            <a:endParaRPr lang="en-US" sz="1200" dirty="0"/>
          </a:p>
        </p:txBody>
      </p:sp>
      <p:sp>
        <p:nvSpPr>
          <p:cNvPr id="18" name="Text 16"/>
          <p:cNvSpPr/>
          <p:nvPr/>
        </p:nvSpPr>
        <p:spPr>
          <a:xfrm>
            <a:off x="9715500" y="251883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Young first-time user</a:t>
            </a:r>
            <a:endParaRPr lang="en-US" sz="1200" dirty="0"/>
          </a:p>
        </p:txBody>
      </p:sp>
      <p:sp>
        <p:nvSpPr>
          <p:cNvPr id="19" name="Shape 17"/>
          <p:cNvSpPr/>
          <p:nvPr/>
        </p:nvSpPr>
        <p:spPr>
          <a:xfrm>
            <a:off x="812800" y="3298825"/>
            <a:ext cx="10566400" cy="0"/>
          </a:xfrm>
          <a:prstGeom prst="line">
            <a:avLst/>
          </a:prstGeom>
          <a:noFill/>
          <a:ln w="6350">
            <a:solidFill>
              <a:srgbClr val="3A3832"/>
            </a:solidFill>
            <a:prstDash val="solid"/>
          </a:ln>
        </p:spPr>
        <p:txBody>
          <a:bodyPr/>
          <a:lstStyle/>
          <a:p>
            <a:endParaRPr lang="en-US"/>
          </a:p>
        </p:txBody>
      </p:sp>
      <p:sp>
        <p:nvSpPr>
          <p:cNvPr id="20" name="Text 18"/>
          <p:cNvSpPr/>
          <p:nvPr/>
        </p:nvSpPr>
        <p:spPr>
          <a:xfrm>
            <a:off x="812800" y="2849035"/>
            <a:ext cx="16383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Smart And Handsome</a:t>
            </a:r>
            <a:endParaRPr lang="en-US" sz="1200" dirty="0"/>
          </a:p>
        </p:txBody>
      </p:sp>
      <p:sp>
        <p:nvSpPr>
          <p:cNvPr id="21" name="Text 19"/>
          <p:cNvSpPr/>
          <p:nvPr/>
        </p:nvSpPr>
        <p:spPr>
          <a:xfrm>
            <a:off x="2552700" y="2849035"/>
            <a:ext cx="41859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“Har Roz Handsome Code”; “Up to 8 Hrs Brighter Look”, “Up to 2x Dark Spot Reduction”</a:t>
            </a:r>
            <a:endParaRPr lang="en-US" sz="1200" dirty="0"/>
          </a:p>
        </p:txBody>
      </p:sp>
      <p:sp>
        <p:nvSpPr>
          <p:cNvPr id="22" name="Text 20"/>
          <p:cNvSpPr/>
          <p:nvPr/>
        </p:nvSpPr>
        <p:spPr>
          <a:xfrm>
            <a:off x="6769100" y="2849035"/>
            <a:ext cx="287782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Numbers; “No.1 since 2005”; Kartik Aaryan</a:t>
            </a:r>
            <a:endParaRPr lang="en-US" sz="1200" dirty="0"/>
          </a:p>
        </p:txBody>
      </p:sp>
      <p:sp>
        <p:nvSpPr>
          <p:cNvPr id="23" name="Text 21"/>
          <p:cNvSpPr/>
          <p:nvPr/>
        </p:nvSpPr>
        <p:spPr>
          <a:xfrm>
            <a:off x="9715500" y="294428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Mass-market man</a:t>
            </a:r>
            <a:endParaRPr lang="en-US" sz="1200" dirty="0"/>
          </a:p>
        </p:txBody>
      </p:sp>
      <p:sp>
        <p:nvSpPr>
          <p:cNvPr id="24" name="Shape 22"/>
          <p:cNvSpPr/>
          <p:nvPr/>
        </p:nvSpPr>
        <p:spPr>
          <a:xfrm>
            <a:off x="812800" y="3629025"/>
            <a:ext cx="10566400" cy="0"/>
          </a:xfrm>
          <a:prstGeom prst="line">
            <a:avLst/>
          </a:prstGeom>
          <a:noFill/>
          <a:ln w="6350">
            <a:solidFill>
              <a:srgbClr val="3A3832"/>
            </a:solidFill>
            <a:prstDash val="solid"/>
          </a:ln>
        </p:spPr>
        <p:txBody>
          <a:bodyPr/>
          <a:lstStyle/>
          <a:p>
            <a:endParaRPr lang="en-US"/>
          </a:p>
        </p:txBody>
      </p:sp>
      <p:sp>
        <p:nvSpPr>
          <p:cNvPr id="25" name="Text 23"/>
          <p:cNvSpPr/>
          <p:nvPr/>
        </p:nvSpPr>
        <p:spPr>
          <a:xfrm>
            <a:off x="812800" y="33697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Garnier Men</a:t>
            </a:r>
            <a:endParaRPr lang="en-US" sz="1200" dirty="0"/>
          </a:p>
        </p:txBody>
      </p:sp>
      <p:sp>
        <p:nvSpPr>
          <p:cNvPr id="26" name="Text 24"/>
          <p:cNvSpPr/>
          <p:nvPr/>
        </p:nvSpPr>
        <p:spPr>
          <a:xfrm>
            <a:off x="2552700" y="336973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“Tackles 6 signs of acne”</a:t>
            </a:r>
            <a:endParaRPr lang="en-US" sz="1200" dirty="0"/>
          </a:p>
        </p:txBody>
      </p:sp>
      <p:sp>
        <p:nvSpPr>
          <p:cNvPr id="27" name="Text 25"/>
          <p:cNvSpPr/>
          <p:nvPr/>
        </p:nvSpPr>
        <p:spPr>
          <a:xfrm>
            <a:off x="6769100" y="336973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A number; dermatologically tested</a:t>
            </a:r>
            <a:endParaRPr lang="en-US" sz="1200" dirty="0"/>
          </a:p>
        </p:txBody>
      </p:sp>
      <p:sp>
        <p:nvSpPr>
          <p:cNvPr id="28" name="Text 26"/>
          <p:cNvSpPr/>
          <p:nvPr/>
        </p:nvSpPr>
        <p:spPr>
          <a:xfrm>
            <a:off x="9715500" y="336973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with acne</a:t>
            </a:r>
            <a:endParaRPr lang="en-US" sz="1200" dirty="0"/>
          </a:p>
        </p:txBody>
      </p:sp>
      <p:sp>
        <p:nvSpPr>
          <p:cNvPr id="29" name="Shape 27"/>
          <p:cNvSpPr/>
          <p:nvPr/>
        </p:nvSpPr>
        <p:spPr>
          <a:xfrm>
            <a:off x="812800" y="3959225"/>
            <a:ext cx="10566400" cy="0"/>
          </a:xfrm>
          <a:prstGeom prst="line">
            <a:avLst/>
          </a:prstGeom>
          <a:noFill/>
          <a:ln w="6350">
            <a:solidFill>
              <a:srgbClr val="3A3832"/>
            </a:solidFill>
            <a:prstDash val="solid"/>
          </a:ln>
        </p:spPr>
        <p:txBody>
          <a:bodyPr/>
          <a:lstStyle/>
          <a:p>
            <a:endParaRPr lang="en-US"/>
          </a:p>
        </p:txBody>
      </p:sp>
      <p:sp>
        <p:nvSpPr>
          <p:cNvPr id="30" name="Text 28"/>
          <p:cNvSpPr/>
          <p:nvPr/>
        </p:nvSpPr>
        <p:spPr>
          <a:xfrm>
            <a:off x="812800" y="36999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Nivea Men</a:t>
            </a:r>
            <a:endParaRPr lang="en-US" sz="1200" dirty="0"/>
          </a:p>
        </p:txBody>
      </p:sp>
      <p:sp>
        <p:nvSpPr>
          <p:cNvPr id="31" name="Text 29"/>
          <p:cNvSpPr/>
          <p:nvPr/>
        </p:nvSpPr>
        <p:spPr>
          <a:xfrm>
            <a:off x="2552700" y="369993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“Controls oiliness up to 12 hours”</a:t>
            </a:r>
            <a:endParaRPr lang="en-US" sz="1200" dirty="0"/>
          </a:p>
        </p:txBody>
      </p:sp>
      <p:sp>
        <p:nvSpPr>
          <p:cNvPr id="32" name="Text 30"/>
          <p:cNvSpPr/>
          <p:nvPr/>
        </p:nvSpPr>
        <p:spPr>
          <a:xfrm>
            <a:off x="6769100" y="369993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A number</a:t>
            </a:r>
            <a:endParaRPr lang="en-US" sz="1200" dirty="0"/>
          </a:p>
        </p:txBody>
      </p:sp>
      <p:sp>
        <p:nvSpPr>
          <p:cNvPr id="33" name="Text 31"/>
          <p:cNvSpPr/>
          <p:nvPr/>
        </p:nvSpPr>
        <p:spPr>
          <a:xfrm>
            <a:off x="9715500" y="369993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man with oily skin</a:t>
            </a:r>
            <a:endParaRPr lang="en-US" sz="1200" dirty="0"/>
          </a:p>
        </p:txBody>
      </p:sp>
      <p:sp>
        <p:nvSpPr>
          <p:cNvPr id="34" name="Shape 32"/>
          <p:cNvSpPr/>
          <p:nvPr/>
        </p:nvSpPr>
        <p:spPr>
          <a:xfrm>
            <a:off x="812800" y="4289425"/>
            <a:ext cx="10566400" cy="0"/>
          </a:xfrm>
          <a:prstGeom prst="line">
            <a:avLst/>
          </a:prstGeom>
          <a:noFill/>
          <a:ln w="6350">
            <a:solidFill>
              <a:srgbClr val="3A3832"/>
            </a:solidFill>
            <a:prstDash val="solid"/>
          </a:ln>
        </p:spPr>
        <p:txBody>
          <a:bodyPr/>
          <a:lstStyle/>
          <a:p>
            <a:endParaRPr lang="en-US"/>
          </a:p>
        </p:txBody>
      </p:sp>
      <p:sp>
        <p:nvSpPr>
          <p:cNvPr id="35" name="Text 33"/>
          <p:cNvSpPr/>
          <p:nvPr/>
        </p:nvSpPr>
        <p:spPr>
          <a:xfrm>
            <a:off x="812800" y="4030135"/>
            <a:ext cx="1638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Axe</a:t>
            </a:r>
            <a:endParaRPr lang="en-US" sz="1200" dirty="0"/>
          </a:p>
        </p:txBody>
      </p:sp>
      <p:sp>
        <p:nvSpPr>
          <p:cNvPr id="36" name="Text 34"/>
          <p:cNvSpPr/>
          <p:nvPr/>
        </p:nvSpPr>
        <p:spPr>
          <a:xfrm>
            <a:off x="2552700" y="4030135"/>
            <a:ext cx="41859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“48-hour odour protection”</a:t>
            </a:r>
            <a:endParaRPr lang="en-US" sz="1200" dirty="0"/>
          </a:p>
        </p:txBody>
      </p:sp>
      <p:sp>
        <p:nvSpPr>
          <p:cNvPr id="37" name="Text 35"/>
          <p:cNvSpPr/>
          <p:nvPr/>
        </p:nvSpPr>
        <p:spPr>
          <a:xfrm>
            <a:off x="6769100" y="4030135"/>
            <a:ext cx="287782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Hours</a:t>
            </a:r>
            <a:endParaRPr lang="en-US" sz="1200" dirty="0"/>
          </a:p>
        </p:txBody>
      </p:sp>
      <p:sp>
        <p:nvSpPr>
          <p:cNvPr id="38" name="Text 36"/>
          <p:cNvSpPr/>
          <p:nvPr/>
        </p:nvSpPr>
        <p:spPr>
          <a:xfrm>
            <a:off x="9715500" y="4030135"/>
            <a:ext cx="1714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Young man</a:t>
            </a:r>
            <a:endParaRPr lang="en-US" sz="1200" dirty="0"/>
          </a:p>
        </p:txBody>
      </p:sp>
      <p:sp>
        <p:nvSpPr>
          <p:cNvPr id="39" name="Text 37"/>
          <p:cNvSpPr/>
          <p:nvPr/>
        </p:nvSpPr>
        <p:spPr>
          <a:xfrm>
            <a:off x="812800" y="4419600"/>
            <a:ext cx="10883392"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Not read: the home pages of Fogg, Engage, Park Avenue, Denver, Nivea Men and Gillette; their rows use listings and press.</a:t>
            </a:r>
            <a:endParaRPr lang="en-US" sz="1200" dirty="0"/>
          </a:p>
        </p:txBody>
      </p:sp>
      <p:sp>
        <p:nvSpPr>
          <p:cNvPr id="40" name="Text 38"/>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listings and press, October 2026 (F)</a:t>
            </a:r>
            <a:endParaRPr lang="en-US" sz="1200" dirty="0"/>
          </a:p>
        </p:txBody>
      </p:sp>
      <p:sp>
        <p:nvSpPr>
          <p:cNvPr id="41" name="Text 39"/>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13</a:t>
            </a:r>
            <a:endParaRPr lang="en-US" sz="1200" dirty="0"/>
          </a:p>
        </p:txBody>
      </p:sp>
      <p:pic>
        <p:nvPicPr>
          <p:cNvPr id="43" name="Graphic 42" descr="Blueprint with solid fill">
            <a:extLst>
              <a:ext uri="{FF2B5EF4-FFF2-40B4-BE49-F238E27FC236}">
                <a16:creationId xmlns:a16="http://schemas.microsoft.com/office/drawing/2014/main" id="{1A71011B-15FE-E1C6-FC08-657692A23F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Who is the same: five persona brands share one structure - </a:t>
            </a:r>
            <a:r>
              <a:rPr lang="en-US" sz="2500" b="0" i="0" dirty="0" err="1">
                <a:solidFill>
                  <a:srgbClr val="00B050"/>
                </a:solidFill>
                <a:latin typeface="Oswald" pitchFamily="34" charset="0"/>
                <a:ea typeface="Oswald" pitchFamily="34" charset="-122"/>
                <a:cs typeface="Oswald" pitchFamily="34" charset="-120"/>
              </a:rPr>
              <a:t>conlcuisons</a:t>
            </a:r>
            <a:endParaRPr lang="en-US" sz="2500" dirty="0">
              <a:solidFill>
                <a:srgbClr val="00B050"/>
              </a:solidFill>
            </a:endParaRPr>
          </a:p>
        </p:txBody>
      </p:sp>
      <p:sp>
        <p:nvSpPr>
          <p:cNvPr id="4" name="Shape 2"/>
          <p:cNvSpPr/>
          <p:nvPr/>
        </p:nvSpPr>
        <p:spPr>
          <a:xfrm>
            <a:off x="812800" y="1905000"/>
            <a:ext cx="3416300" cy="1778000"/>
          </a:xfrm>
          <a:prstGeom prst="rect">
            <a:avLst/>
          </a:prstGeom>
          <a:solidFill>
            <a:srgbClr val="1D1C19"/>
          </a:solidFill>
          <a:ln/>
        </p:spPr>
        <p:txBody>
          <a:bodyPr/>
          <a:lstStyle/>
          <a:p>
            <a:endParaRPr lang="en-US"/>
          </a:p>
        </p:txBody>
      </p:sp>
      <p:sp>
        <p:nvSpPr>
          <p:cNvPr id="5" name="Text 3"/>
          <p:cNvSpPr/>
          <p:nvPr/>
        </p:nvSpPr>
        <p:spPr>
          <a:xfrm>
            <a:off x="990600" y="2082800"/>
            <a:ext cx="3152521" cy="585457"/>
          </a:xfrm>
          <a:prstGeom prst="rect">
            <a:avLst/>
          </a:prstGeom>
          <a:noFill/>
          <a:ln/>
        </p:spPr>
        <p:txBody>
          <a:bodyPr wrap="none" lIns="0" tIns="0" rIns="0" bIns="0" rtlCol="0" anchor="t">
            <a:normAutofit/>
          </a:bodyPr>
          <a:lstStyle/>
          <a:p>
            <a:pPr marL="0" indent="0" algn="l">
              <a:lnSpc>
                <a:spcPts val="4410"/>
              </a:lnSpc>
              <a:buNone/>
            </a:pPr>
            <a:r>
              <a:rPr lang="en-US" sz="4200" dirty="0">
                <a:solidFill>
                  <a:srgbClr val="FFF460"/>
                </a:solidFill>
                <a:latin typeface="Oswald" pitchFamily="34" charset="0"/>
                <a:ea typeface="Oswald" pitchFamily="34" charset="-122"/>
                <a:cs typeface="Oswald" pitchFamily="34" charset="-120"/>
              </a:rPr>
              <a:t>1</a:t>
            </a:r>
            <a:endParaRPr lang="en-US" sz="4200" dirty="0"/>
          </a:p>
        </p:txBody>
      </p:sp>
      <p:sp>
        <p:nvSpPr>
          <p:cNvPr id="6" name="Text 4"/>
          <p:cNvSpPr/>
          <p:nvPr/>
        </p:nvSpPr>
        <p:spPr>
          <a:xfrm>
            <a:off x="990600" y="2719059"/>
            <a:ext cx="3152521"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A male character as the idea: gentleman, don, boss, villain, bro</a:t>
            </a:r>
            <a:endParaRPr lang="en-US" sz="1200" dirty="0"/>
          </a:p>
        </p:txBody>
      </p:sp>
      <p:sp>
        <p:nvSpPr>
          <p:cNvPr id="7" name="Shape 5"/>
          <p:cNvSpPr/>
          <p:nvPr/>
        </p:nvSpPr>
        <p:spPr>
          <a:xfrm>
            <a:off x="4381500" y="1905000"/>
            <a:ext cx="3416300" cy="1778000"/>
          </a:xfrm>
          <a:prstGeom prst="rect">
            <a:avLst/>
          </a:prstGeom>
          <a:solidFill>
            <a:srgbClr val="1D1C19"/>
          </a:solidFill>
          <a:ln/>
        </p:spPr>
        <p:txBody>
          <a:bodyPr/>
          <a:lstStyle/>
          <a:p>
            <a:endParaRPr lang="en-US"/>
          </a:p>
        </p:txBody>
      </p:sp>
      <p:sp>
        <p:nvSpPr>
          <p:cNvPr id="8" name="Text 6"/>
          <p:cNvSpPr/>
          <p:nvPr/>
        </p:nvSpPr>
        <p:spPr>
          <a:xfrm>
            <a:off x="4559300" y="2082800"/>
            <a:ext cx="3152521" cy="585457"/>
          </a:xfrm>
          <a:prstGeom prst="rect">
            <a:avLst/>
          </a:prstGeom>
          <a:noFill/>
          <a:ln/>
        </p:spPr>
        <p:txBody>
          <a:bodyPr wrap="none" lIns="0" tIns="0" rIns="0" bIns="0" rtlCol="0" anchor="t">
            <a:normAutofit/>
          </a:bodyPr>
          <a:lstStyle/>
          <a:p>
            <a:pPr marL="0" indent="0" algn="l">
              <a:lnSpc>
                <a:spcPts val="4410"/>
              </a:lnSpc>
              <a:buNone/>
            </a:pPr>
            <a:r>
              <a:rPr lang="en-US" sz="4200" dirty="0">
                <a:solidFill>
                  <a:srgbClr val="FFF460"/>
                </a:solidFill>
                <a:latin typeface="Oswald" pitchFamily="34" charset="0"/>
                <a:ea typeface="Oswald" pitchFamily="34" charset="-122"/>
                <a:cs typeface="Oswald" pitchFamily="34" charset="-120"/>
              </a:rPr>
              <a:t>2</a:t>
            </a:r>
            <a:endParaRPr lang="en-US" sz="4200" dirty="0"/>
          </a:p>
        </p:txBody>
      </p:sp>
      <p:sp>
        <p:nvSpPr>
          <p:cNvPr id="9" name="Text 7"/>
          <p:cNvSpPr/>
          <p:nvPr/>
        </p:nvSpPr>
        <p:spPr>
          <a:xfrm>
            <a:off x="4559300" y="2719059"/>
            <a:ext cx="3152521"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“Long lasting”, six to ten hours, and a fragrance-safety certificate as proof</a:t>
            </a:r>
            <a:endParaRPr lang="en-US" sz="1200" dirty="0"/>
          </a:p>
        </p:txBody>
      </p:sp>
      <p:sp>
        <p:nvSpPr>
          <p:cNvPr id="10" name="Shape 8"/>
          <p:cNvSpPr/>
          <p:nvPr/>
        </p:nvSpPr>
        <p:spPr>
          <a:xfrm>
            <a:off x="7950200" y="1905000"/>
            <a:ext cx="3416300" cy="1778000"/>
          </a:xfrm>
          <a:prstGeom prst="rect">
            <a:avLst/>
          </a:prstGeom>
          <a:solidFill>
            <a:srgbClr val="1D1C19"/>
          </a:solidFill>
          <a:ln/>
        </p:spPr>
        <p:txBody>
          <a:bodyPr/>
          <a:lstStyle/>
          <a:p>
            <a:endParaRPr lang="en-US"/>
          </a:p>
        </p:txBody>
      </p:sp>
      <p:sp>
        <p:nvSpPr>
          <p:cNvPr id="11" name="Text 9"/>
          <p:cNvSpPr/>
          <p:nvPr/>
        </p:nvSpPr>
        <p:spPr>
          <a:xfrm>
            <a:off x="8128000" y="2082800"/>
            <a:ext cx="3152521" cy="585457"/>
          </a:xfrm>
          <a:prstGeom prst="rect">
            <a:avLst/>
          </a:prstGeom>
          <a:noFill/>
          <a:ln/>
        </p:spPr>
        <p:txBody>
          <a:bodyPr wrap="none" lIns="0" tIns="0" rIns="0" bIns="0" rtlCol="0" anchor="t">
            <a:normAutofit/>
          </a:bodyPr>
          <a:lstStyle/>
          <a:p>
            <a:pPr marL="0" indent="0" algn="l">
              <a:lnSpc>
                <a:spcPts val="4410"/>
              </a:lnSpc>
              <a:buNone/>
            </a:pPr>
            <a:r>
              <a:rPr lang="en-US" sz="4200" dirty="0">
                <a:solidFill>
                  <a:srgbClr val="FFF460"/>
                </a:solidFill>
                <a:latin typeface="Oswald" pitchFamily="34" charset="0"/>
                <a:ea typeface="Oswald" pitchFamily="34" charset="-122"/>
                <a:cs typeface="Oswald" pitchFamily="34" charset="-120"/>
              </a:rPr>
              <a:t>3</a:t>
            </a:r>
            <a:endParaRPr lang="en-US" sz="4200" dirty="0"/>
          </a:p>
        </p:txBody>
      </p:sp>
      <p:sp>
        <p:nvSpPr>
          <p:cNvPr id="12" name="Text 10"/>
          <p:cNvSpPr/>
          <p:nvPr/>
        </p:nvSpPr>
        <p:spPr>
          <a:xfrm>
            <a:off x="8128000" y="2719059"/>
            <a:ext cx="3152521"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4F0E8"/>
                </a:solidFill>
                <a:latin typeface="DM Sans" pitchFamily="34" charset="0"/>
                <a:ea typeface="DM Sans" pitchFamily="34" charset="-122"/>
                <a:cs typeface="DM Sans" pitchFamily="34" charset="-120"/>
              </a:rPr>
              <a:t>A struck-through list price of 40 to 80% as the offer</a:t>
            </a:r>
            <a:endParaRPr lang="en-US" sz="1200" dirty="0"/>
          </a:p>
        </p:txBody>
      </p:sp>
      <p:sp>
        <p:nvSpPr>
          <p:cNvPr id="13" name="Text 11"/>
          <p:cNvSpPr/>
          <p:nvPr/>
        </p:nvSpPr>
        <p:spPr>
          <a:xfrm>
            <a:off x="812800" y="3860800"/>
            <a:ext cx="10883392" cy="239977"/>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4F0E8"/>
                </a:solidFill>
                <a:latin typeface="DM Sans" pitchFamily="34" charset="0"/>
                <a:ea typeface="DM Sans" pitchFamily="34" charset="-122"/>
                <a:cs typeface="DM Sans" pitchFamily="34" charset="-120"/>
              </a:rPr>
              <a:t>The persona group:</a:t>
            </a:r>
            <a:r>
              <a:rPr lang="en-US" sz="1300" dirty="0">
                <a:solidFill>
                  <a:srgbClr val="F4F0E8"/>
                </a:solidFill>
                <a:latin typeface="DM Sans" pitchFamily="34" charset="0"/>
                <a:ea typeface="DM Sans" pitchFamily="34" charset="-122"/>
                <a:cs typeface="DM Sans" pitchFamily="34" charset="-120"/>
              </a:rPr>
              <a:t> The Man Company (gentleman), Beardo (don), Bella Vita (boss), Villain (villain), Ustraa (bro).</a:t>
            </a:r>
            <a:endParaRPr lang="en-US" sz="1300" dirty="0"/>
          </a:p>
        </p:txBody>
      </p:sp>
      <p:sp>
        <p:nvSpPr>
          <p:cNvPr id="14" name="Text 12"/>
          <p:cNvSpPr/>
          <p:nvPr/>
        </p:nvSpPr>
        <p:spPr>
          <a:xfrm>
            <a:off x="812800" y="4635500"/>
            <a:ext cx="10566400" cy="673100"/>
          </a:xfrm>
          <a:prstGeom prst="rect">
            <a:avLst/>
          </a:prstGeom>
          <a:solidFill>
            <a:srgbClr val="FFF460"/>
          </a:solidFill>
          <a:ln/>
        </p:spPr>
        <p:txBody>
          <a:bodyPr wrap="square" lIns="203200" tIns="0" rIns="0" bIns="0" rtlCol="0" anchor="ctr">
            <a:normAutofit/>
          </a:bodyPr>
          <a:lstStyle/>
          <a:p>
            <a:pPr marL="0" indent="0" algn="l">
              <a:lnSpc>
                <a:spcPts val="1750"/>
              </a:lnSpc>
              <a:buNone/>
            </a:pPr>
            <a:r>
              <a:rPr lang="en-US" sz="1400" b="1" dirty="0">
                <a:solidFill>
                  <a:srgbClr val="14140F"/>
                </a:solidFill>
                <a:latin typeface="DM Sans" pitchFamily="34" charset="0"/>
                <a:ea typeface="DM Sans" pitchFamily="34" charset="-122"/>
                <a:cs typeface="DM Sans" pitchFamily="34" charset="-120"/>
              </a:rPr>
              <a:t>Inside the group, the sharpest character and the lowest fixed price win (Beardo, Bella Vita). The mildest character with the deepest, least stable discount loses (TMC, Ustraa).</a:t>
            </a:r>
            <a:endParaRPr lang="en-US" sz="1400" dirty="0"/>
          </a:p>
        </p:txBody>
      </p:sp>
      <p:sp>
        <p:nvSpPr>
          <p:cNvPr id="15" name="Text 13"/>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Companion document, section 2.2</a:t>
            </a:r>
            <a:endParaRPr lang="en-US" sz="1200" dirty="0"/>
          </a:p>
        </p:txBody>
      </p:sp>
      <p:sp>
        <p:nvSpPr>
          <p:cNvPr id="16" name="Text 14"/>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14</a:t>
            </a:r>
            <a:endParaRPr lang="en-US" sz="1200" dirty="0"/>
          </a:p>
        </p:txBody>
      </p:sp>
      <p:pic>
        <p:nvPicPr>
          <p:cNvPr id="18" name="Graphic 17" descr="Blueprint with solid fill">
            <a:extLst>
              <a:ext uri="{FF2B5EF4-FFF2-40B4-BE49-F238E27FC236}">
                <a16:creationId xmlns:a16="http://schemas.microsoft.com/office/drawing/2014/main" id="{2734D29C-93E2-C5C1-8E8B-5A6FCF12F2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711200"/>
            <a:ext cx="11379200"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Who is different: seven brands say something only they say, and they hold the margin</a:t>
            </a:r>
            <a:endParaRPr lang="en-US" sz="2500" dirty="0"/>
          </a:p>
        </p:txBody>
      </p:sp>
      <p:sp>
        <p:nvSpPr>
          <p:cNvPr id="4" name="Shape 2"/>
          <p:cNvSpPr/>
          <p:nvPr/>
        </p:nvSpPr>
        <p:spPr>
          <a:xfrm>
            <a:off x="812800" y="1860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625600"/>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a:t>
            </a:r>
            <a:endParaRPr lang="en-US" sz="1200" dirty="0"/>
          </a:p>
        </p:txBody>
      </p:sp>
      <p:sp>
        <p:nvSpPr>
          <p:cNvPr id="6" name="Text 4"/>
          <p:cNvSpPr/>
          <p:nvPr/>
        </p:nvSpPr>
        <p:spPr>
          <a:xfrm>
            <a:off x="3378200" y="1625600"/>
            <a:ext cx="52324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THE DIFFERENCE</a:t>
            </a:r>
            <a:endParaRPr lang="en-US" sz="1200" dirty="0"/>
          </a:p>
        </p:txBody>
      </p:sp>
      <p:sp>
        <p:nvSpPr>
          <p:cNvPr id="7" name="Text 5"/>
          <p:cNvSpPr/>
          <p:nvPr/>
        </p:nvSpPr>
        <p:spPr>
          <a:xfrm>
            <a:off x="8610600" y="1625600"/>
            <a:ext cx="2851658"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RESULT</a:t>
            </a:r>
            <a:endParaRPr lang="en-US" sz="1200" dirty="0"/>
          </a:p>
        </p:txBody>
      </p:sp>
      <p:sp>
        <p:nvSpPr>
          <p:cNvPr id="8" name="Shape 6"/>
          <p:cNvSpPr/>
          <p:nvPr/>
        </p:nvSpPr>
        <p:spPr>
          <a:xfrm>
            <a:off x="812800" y="2371725"/>
            <a:ext cx="10566400" cy="0"/>
          </a:xfrm>
          <a:prstGeom prst="line">
            <a:avLst/>
          </a:prstGeom>
          <a:noFill/>
          <a:ln w="6350">
            <a:solidFill>
              <a:srgbClr val="3A3832"/>
            </a:solidFill>
            <a:prstDash val="solid"/>
          </a:ln>
        </p:spPr>
        <p:txBody>
          <a:bodyPr/>
          <a:lstStyle/>
          <a:p>
            <a:endParaRPr lang="en-US"/>
          </a:p>
        </p:txBody>
      </p:sp>
      <p:sp>
        <p:nvSpPr>
          <p:cNvPr id="9" name="Text 7"/>
          <p:cNvSpPr/>
          <p:nvPr/>
        </p:nvSpPr>
        <p:spPr>
          <a:xfrm>
            <a:off x="812800" y="2023535"/>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Minimalist, The Derma Co</a:t>
            </a:r>
            <a:endParaRPr lang="en-US" sz="1200" dirty="0"/>
          </a:p>
        </p:txBody>
      </p:sp>
      <p:sp>
        <p:nvSpPr>
          <p:cNvPr id="10" name="Text 8"/>
          <p:cNvSpPr/>
          <p:nvPr/>
        </p:nvSpPr>
        <p:spPr>
          <a:xfrm>
            <a:off x="3378200" y="1928285"/>
            <a:ext cx="52324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The percentage of the active ingredient is the product name. No character at all</a:t>
            </a:r>
            <a:endParaRPr lang="en-US" sz="1200" dirty="0"/>
          </a:p>
        </p:txBody>
      </p:sp>
      <p:sp>
        <p:nvSpPr>
          <p:cNvPr id="11" name="Text 9"/>
          <p:cNvSpPr/>
          <p:nvPr/>
        </p:nvSpPr>
        <p:spPr>
          <a:xfrm>
            <a:off x="8610600" y="2023535"/>
            <a:ext cx="2851658"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FD08C"/>
                </a:solidFill>
                <a:latin typeface="DM Sans" pitchFamily="34" charset="0"/>
                <a:ea typeface="DM Sans" pitchFamily="34" charset="-122"/>
                <a:cs typeface="DM Sans" pitchFamily="34" charset="-120"/>
              </a:rPr>
              <a:t>$81M; sold at a $348M valuation</a:t>
            </a:r>
            <a:endParaRPr lang="en-US" sz="1200" dirty="0"/>
          </a:p>
        </p:txBody>
      </p:sp>
      <p:sp>
        <p:nvSpPr>
          <p:cNvPr id="12" name="Shape 10"/>
          <p:cNvSpPr/>
          <p:nvPr/>
        </p:nvSpPr>
        <p:spPr>
          <a:xfrm>
            <a:off x="812800" y="2689225"/>
            <a:ext cx="10566400" cy="0"/>
          </a:xfrm>
          <a:prstGeom prst="line">
            <a:avLst/>
          </a:prstGeom>
          <a:noFill/>
          <a:ln w="6350">
            <a:solidFill>
              <a:srgbClr val="3A3832"/>
            </a:solidFill>
            <a:prstDash val="solid"/>
          </a:ln>
        </p:spPr>
        <p:txBody>
          <a:bodyPr/>
          <a:lstStyle/>
          <a:p>
            <a:endParaRPr lang="en-US"/>
          </a:p>
        </p:txBody>
      </p:sp>
      <p:sp>
        <p:nvSpPr>
          <p:cNvPr id="13" name="Text 11"/>
          <p:cNvSpPr/>
          <p:nvPr/>
        </p:nvSpPr>
        <p:spPr>
          <a:xfrm>
            <a:off x="812800" y="2436285"/>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Traya, Man Matters</a:t>
            </a:r>
            <a:endParaRPr lang="en-US" sz="1200" dirty="0"/>
          </a:p>
        </p:txBody>
      </p:sp>
      <p:sp>
        <p:nvSpPr>
          <p:cNvPr id="14" name="Text 12"/>
          <p:cNvSpPr/>
          <p:nvPr/>
        </p:nvSpPr>
        <p:spPr>
          <a:xfrm>
            <a:off x="3378200" y="2436285"/>
            <a:ext cx="52324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A diagnosed plan, with the outcome guaranteed by money back</a:t>
            </a:r>
            <a:endParaRPr lang="en-US" sz="1200" dirty="0"/>
          </a:p>
        </p:txBody>
      </p:sp>
      <p:sp>
        <p:nvSpPr>
          <p:cNvPr id="15" name="Text 13"/>
          <p:cNvSpPr/>
          <p:nvPr/>
        </p:nvSpPr>
        <p:spPr>
          <a:xfrm>
            <a:off x="8610600" y="2436285"/>
            <a:ext cx="2851658"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FD08C"/>
                </a:solidFill>
                <a:latin typeface="DM Sans" pitchFamily="34" charset="0"/>
                <a:ea typeface="DM Sans" pitchFamily="34" charset="-122"/>
                <a:cs typeface="DM Sans" pitchFamily="34" charset="-120"/>
              </a:rPr>
              <a:t>$40M and $87M; fast growth, losses</a:t>
            </a:r>
            <a:endParaRPr lang="en-US" sz="1200" dirty="0"/>
          </a:p>
        </p:txBody>
      </p:sp>
      <p:sp>
        <p:nvSpPr>
          <p:cNvPr id="16" name="Shape 14"/>
          <p:cNvSpPr/>
          <p:nvPr/>
        </p:nvSpPr>
        <p:spPr>
          <a:xfrm>
            <a:off x="812800" y="3197225"/>
            <a:ext cx="10566400" cy="0"/>
          </a:xfrm>
          <a:prstGeom prst="line">
            <a:avLst/>
          </a:prstGeom>
          <a:noFill/>
          <a:ln w="6350">
            <a:solidFill>
              <a:srgbClr val="3A3832"/>
            </a:solidFill>
            <a:prstDash val="solid"/>
          </a:ln>
        </p:spPr>
        <p:txBody>
          <a:bodyPr/>
          <a:lstStyle/>
          <a:p>
            <a:endParaRPr lang="en-US"/>
          </a:p>
        </p:txBody>
      </p:sp>
      <p:sp>
        <p:nvSpPr>
          <p:cNvPr id="17" name="Text 15"/>
          <p:cNvSpPr/>
          <p:nvPr/>
        </p:nvSpPr>
        <p:spPr>
          <a:xfrm>
            <a:off x="812800" y="2849035"/>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Fogg, Engage</a:t>
            </a:r>
            <a:endParaRPr lang="en-US" sz="1200" dirty="0"/>
          </a:p>
        </p:txBody>
      </p:sp>
      <p:sp>
        <p:nvSpPr>
          <p:cNvPr id="18" name="Text 16"/>
          <p:cNvSpPr/>
          <p:nvPr/>
        </p:nvSpPr>
        <p:spPr>
          <a:xfrm>
            <a:off x="3378200" y="2849035"/>
            <a:ext cx="52324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A value claim the buyer can count: sprays per can</a:t>
            </a:r>
            <a:endParaRPr lang="en-US" sz="1200" dirty="0"/>
          </a:p>
        </p:txBody>
      </p:sp>
      <p:sp>
        <p:nvSpPr>
          <p:cNvPr id="19" name="Text 17"/>
          <p:cNvSpPr/>
          <p:nvPr/>
        </p:nvSpPr>
        <p:spPr>
          <a:xfrm>
            <a:off x="8610600" y="2753785"/>
            <a:ext cx="2851658"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FD08C"/>
                </a:solidFill>
                <a:latin typeface="DM Sans" pitchFamily="34" charset="0"/>
                <a:ea typeface="DM Sans" pitchFamily="34" charset="-122"/>
                <a:cs typeface="DM Sans" pitchFamily="34" charset="-120"/>
              </a:rPr>
              <a:t>Fogg about 20% of deodorant, no celebrity</a:t>
            </a:r>
            <a:endParaRPr lang="en-US" sz="1200" dirty="0"/>
          </a:p>
        </p:txBody>
      </p:sp>
      <p:sp>
        <p:nvSpPr>
          <p:cNvPr id="20" name="Shape 18"/>
          <p:cNvSpPr/>
          <p:nvPr/>
        </p:nvSpPr>
        <p:spPr>
          <a:xfrm>
            <a:off x="812800" y="3514725"/>
            <a:ext cx="10566400" cy="0"/>
          </a:xfrm>
          <a:prstGeom prst="line">
            <a:avLst/>
          </a:prstGeom>
          <a:noFill/>
          <a:ln w="6350">
            <a:solidFill>
              <a:srgbClr val="3A3832"/>
            </a:solidFill>
            <a:prstDash val="solid"/>
          </a:ln>
        </p:spPr>
        <p:txBody>
          <a:bodyPr/>
          <a:lstStyle/>
          <a:p>
            <a:endParaRPr lang="en-US"/>
          </a:p>
        </p:txBody>
      </p:sp>
      <p:sp>
        <p:nvSpPr>
          <p:cNvPr id="21" name="Text 19"/>
          <p:cNvSpPr/>
          <p:nvPr/>
        </p:nvSpPr>
        <p:spPr>
          <a:xfrm>
            <a:off x="812800" y="3261785"/>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Muuchstac</a:t>
            </a:r>
            <a:endParaRPr lang="en-US" sz="1200" dirty="0"/>
          </a:p>
        </p:txBody>
      </p:sp>
      <p:sp>
        <p:nvSpPr>
          <p:cNvPr id="22" name="Text 20"/>
          <p:cNvSpPr/>
          <p:nvPr/>
        </p:nvSpPr>
        <p:spPr>
          <a:xfrm>
            <a:off x="3378200" y="3261785"/>
            <a:ext cx="52324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The problem list is the name; nothing else is said</a:t>
            </a:r>
            <a:endParaRPr lang="en-US" sz="1200" dirty="0"/>
          </a:p>
        </p:txBody>
      </p:sp>
      <p:sp>
        <p:nvSpPr>
          <p:cNvPr id="23" name="Text 21"/>
          <p:cNvSpPr/>
          <p:nvPr/>
        </p:nvSpPr>
        <p:spPr>
          <a:xfrm>
            <a:off x="8610600" y="3261785"/>
            <a:ext cx="2851658"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FD08C"/>
                </a:solidFill>
                <a:latin typeface="DM Sans" pitchFamily="34" charset="0"/>
                <a:ea typeface="DM Sans" pitchFamily="34" charset="-122"/>
                <a:cs typeface="DM Sans" pitchFamily="34" charset="-120"/>
              </a:rPr>
              <a:t>37% margin</a:t>
            </a:r>
            <a:endParaRPr lang="en-US" sz="1200" dirty="0"/>
          </a:p>
        </p:txBody>
      </p:sp>
      <p:sp>
        <p:nvSpPr>
          <p:cNvPr id="24" name="Shape 22"/>
          <p:cNvSpPr/>
          <p:nvPr/>
        </p:nvSpPr>
        <p:spPr>
          <a:xfrm>
            <a:off x="812800" y="4022725"/>
            <a:ext cx="10566400" cy="0"/>
          </a:xfrm>
          <a:prstGeom prst="line">
            <a:avLst/>
          </a:prstGeom>
          <a:noFill/>
          <a:ln w="6350">
            <a:solidFill>
              <a:srgbClr val="3A3832"/>
            </a:solidFill>
            <a:prstDash val="solid"/>
          </a:ln>
        </p:spPr>
        <p:txBody>
          <a:bodyPr/>
          <a:lstStyle/>
          <a:p>
            <a:endParaRPr lang="en-US"/>
          </a:p>
        </p:txBody>
      </p:sp>
      <p:sp>
        <p:nvSpPr>
          <p:cNvPr id="25" name="Text 23"/>
          <p:cNvSpPr/>
          <p:nvPr/>
        </p:nvSpPr>
        <p:spPr>
          <a:xfrm>
            <a:off x="812800" y="3674535"/>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Reginald Men</a:t>
            </a:r>
            <a:endParaRPr lang="en-US" sz="1200" dirty="0"/>
          </a:p>
        </p:txBody>
      </p:sp>
      <p:sp>
        <p:nvSpPr>
          <p:cNvPr id="26" name="Text 24"/>
          <p:cNvSpPr/>
          <p:nvPr/>
        </p:nvSpPr>
        <p:spPr>
          <a:xfrm>
            <a:off x="3378200" y="3579285"/>
            <a:ext cx="52324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One objection removed (“no white cast”) at a premium price with no discount</a:t>
            </a:r>
            <a:endParaRPr lang="en-US" sz="1200" dirty="0"/>
          </a:p>
        </p:txBody>
      </p:sp>
      <p:sp>
        <p:nvSpPr>
          <p:cNvPr id="27" name="Text 25"/>
          <p:cNvSpPr/>
          <p:nvPr/>
        </p:nvSpPr>
        <p:spPr>
          <a:xfrm>
            <a:off x="8610600" y="3674535"/>
            <a:ext cx="2851658"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FD08C"/>
                </a:solidFill>
                <a:latin typeface="DM Sans" pitchFamily="34" charset="0"/>
                <a:ea typeface="DM Sans" pitchFamily="34" charset="-122"/>
                <a:cs typeface="DM Sans" pitchFamily="34" charset="-120"/>
              </a:rPr>
              <a:t>25% margin</a:t>
            </a:r>
            <a:endParaRPr lang="en-US" sz="1200" dirty="0"/>
          </a:p>
        </p:txBody>
      </p:sp>
      <p:sp>
        <p:nvSpPr>
          <p:cNvPr id="28" name="Shape 26"/>
          <p:cNvSpPr/>
          <p:nvPr/>
        </p:nvSpPr>
        <p:spPr>
          <a:xfrm>
            <a:off x="812800" y="4530725"/>
            <a:ext cx="10566400" cy="0"/>
          </a:xfrm>
          <a:prstGeom prst="line">
            <a:avLst/>
          </a:prstGeom>
          <a:noFill/>
          <a:ln w="6350">
            <a:solidFill>
              <a:srgbClr val="3A3832"/>
            </a:solidFill>
            <a:prstDash val="solid"/>
          </a:ln>
        </p:spPr>
        <p:txBody>
          <a:bodyPr/>
          <a:lstStyle/>
          <a:p>
            <a:endParaRPr lang="en-US"/>
          </a:p>
        </p:txBody>
      </p:sp>
      <p:sp>
        <p:nvSpPr>
          <p:cNvPr id="29" name="Text 27"/>
          <p:cNvSpPr/>
          <p:nvPr/>
        </p:nvSpPr>
        <p:spPr>
          <a:xfrm>
            <a:off x="812800" y="4182535"/>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Bombay Shaving Co.</a:t>
            </a:r>
            <a:endParaRPr lang="en-US" sz="1200" dirty="0"/>
          </a:p>
        </p:txBody>
      </p:sp>
      <p:sp>
        <p:nvSpPr>
          <p:cNvPr id="30" name="Text 28"/>
          <p:cNvSpPr/>
          <p:nvPr/>
        </p:nvSpPr>
        <p:spPr>
          <a:xfrm>
            <a:off x="3378200" y="4087285"/>
            <a:ext cx="52324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Widened the subject from the face to the whole body; speaks to the first-time shaver</a:t>
            </a:r>
            <a:endParaRPr lang="en-US" sz="1200" dirty="0"/>
          </a:p>
        </p:txBody>
      </p:sp>
      <p:sp>
        <p:nvSpPr>
          <p:cNvPr id="31" name="Text 29"/>
          <p:cNvSpPr/>
          <p:nvPr/>
        </p:nvSpPr>
        <p:spPr>
          <a:xfrm>
            <a:off x="8610600" y="4182535"/>
            <a:ext cx="2851658"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FD08C"/>
                </a:solidFill>
                <a:latin typeface="DM Sans" pitchFamily="34" charset="0"/>
                <a:ea typeface="DM Sans" pitchFamily="34" charset="-122"/>
                <a:cs typeface="DM Sans" pitchFamily="34" charset="-120"/>
              </a:rPr>
              <a:t>Fast claimed growth</a:t>
            </a:r>
            <a:endParaRPr lang="en-US" sz="1200" dirty="0"/>
          </a:p>
        </p:txBody>
      </p:sp>
      <p:sp>
        <p:nvSpPr>
          <p:cNvPr id="32" name="Shape 30"/>
          <p:cNvSpPr/>
          <p:nvPr/>
        </p:nvSpPr>
        <p:spPr>
          <a:xfrm>
            <a:off x="812800" y="4848225"/>
            <a:ext cx="10566400" cy="0"/>
          </a:xfrm>
          <a:prstGeom prst="line">
            <a:avLst/>
          </a:prstGeom>
          <a:noFill/>
          <a:ln w="6350">
            <a:solidFill>
              <a:srgbClr val="3A3832"/>
            </a:solidFill>
            <a:prstDash val="solid"/>
          </a:ln>
        </p:spPr>
        <p:txBody>
          <a:bodyPr/>
          <a:lstStyle/>
          <a:p>
            <a:endParaRPr lang="en-US"/>
          </a:p>
        </p:txBody>
      </p:sp>
      <p:sp>
        <p:nvSpPr>
          <p:cNvPr id="33" name="Text 31"/>
          <p:cNvSpPr/>
          <p:nvPr/>
        </p:nvSpPr>
        <p:spPr>
          <a:xfrm>
            <a:off x="812800" y="4595285"/>
            <a:ext cx="248539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Gillette</a:t>
            </a:r>
            <a:endParaRPr lang="en-US" sz="1200" dirty="0"/>
          </a:p>
        </p:txBody>
      </p:sp>
      <p:sp>
        <p:nvSpPr>
          <p:cNvPr id="34" name="Text 32"/>
          <p:cNvSpPr/>
          <p:nvPr/>
        </p:nvSpPr>
        <p:spPr>
          <a:xfrm>
            <a:off x="3378200" y="4595285"/>
            <a:ext cx="52324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A price ladder is the message: a razor for every wallet</a:t>
            </a:r>
            <a:endParaRPr lang="en-US" sz="1200" dirty="0"/>
          </a:p>
        </p:txBody>
      </p:sp>
      <p:sp>
        <p:nvSpPr>
          <p:cNvPr id="35" name="Text 33"/>
          <p:cNvSpPr/>
          <p:nvPr/>
        </p:nvSpPr>
        <p:spPr>
          <a:xfrm>
            <a:off x="8610600" y="4595285"/>
            <a:ext cx="2851658"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6FD08C"/>
                </a:solidFill>
                <a:latin typeface="DM Sans" pitchFamily="34" charset="0"/>
                <a:ea typeface="DM Sans" pitchFamily="34" charset="-122"/>
                <a:cs typeface="DM Sans" pitchFamily="34" charset="-120"/>
              </a:rPr>
              <a:t>31% margin</a:t>
            </a:r>
            <a:endParaRPr lang="en-US" sz="1200" dirty="0"/>
          </a:p>
        </p:txBody>
      </p:sp>
      <p:sp>
        <p:nvSpPr>
          <p:cNvPr id="36" name="Text 34"/>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brand pages (F); results from Chapter A, section 2</a:t>
            </a:r>
            <a:endParaRPr lang="en-US" sz="1200" dirty="0"/>
          </a:p>
        </p:txBody>
      </p:sp>
      <p:sp>
        <p:nvSpPr>
          <p:cNvPr id="37" name="Text 35"/>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The six differences that matter </a:t>
            </a:r>
            <a:r>
              <a:rPr lang="en-US" sz="2500" b="0" i="0" dirty="0">
                <a:solidFill>
                  <a:srgbClr val="00B050"/>
                </a:solidFill>
                <a:latin typeface="Oswald" pitchFamily="34" charset="0"/>
                <a:ea typeface="Oswald" pitchFamily="34" charset="-122"/>
                <a:cs typeface="Oswald" pitchFamily="34" charset="-120"/>
              </a:rPr>
              <a:t>– </a:t>
            </a:r>
            <a:r>
              <a:rPr lang="en-US" sz="2500" b="0" i="0" dirty="0" err="1">
                <a:solidFill>
                  <a:srgbClr val="00B050"/>
                </a:solidFill>
                <a:latin typeface="Oswald" pitchFamily="34" charset="0"/>
                <a:ea typeface="Oswald" pitchFamily="34" charset="-122"/>
                <a:cs typeface="Oswald" pitchFamily="34" charset="-120"/>
              </a:rPr>
              <a:t>conclsuions</a:t>
            </a:r>
            <a:r>
              <a:rPr lang="en-US" sz="2500" b="0" i="0" dirty="0">
                <a:solidFill>
                  <a:srgbClr val="00B050"/>
                </a:solidFill>
                <a:latin typeface="Oswald" pitchFamily="34" charset="0"/>
                <a:ea typeface="Oswald" pitchFamily="34" charset="-122"/>
                <a:cs typeface="Oswald" pitchFamily="34" charset="-120"/>
              </a:rPr>
              <a:t> (logic)</a:t>
            </a:r>
            <a:endParaRPr lang="en-US" sz="2500" dirty="0">
              <a:solidFill>
                <a:srgbClr val="00B050"/>
              </a:solidFill>
            </a:endParaRPr>
          </a:p>
        </p:txBody>
      </p:sp>
      <p:sp>
        <p:nvSpPr>
          <p:cNvPr id="4" name="Shape 2"/>
          <p:cNvSpPr/>
          <p:nvPr/>
        </p:nvSpPr>
        <p:spPr>
          <a:xfrm>
            <a:off x="812800" y="1841500"/>
            <a:ext cx="5207000" cy="1041400"/>
          </a:xfrm>
          <a:prstGeom prst="rect">
            <a:avLst/>
          </a:prstGeom>
          <a:solidFill>
            <a:srgbClr val="1D1C19"/>
          </a:solidFill>
          <a:ln/>
        </p:spPr>
        <p:txBody>
          <a:bodyPr/>
          <a:lstStyle/>
          <a:p>
            <a:endParaRPr lang="en-US"/>
          </a:p>
        </p:txBody>
      </p:sp>
      <p:sp>
        <p:nvSpPr>
          <p:cNvPr id="5" name="Text 3"/>
          <p:cNvSpPr/>
          <p:nvPr/>
        </p:nvSpPr>
        <p:spPr>
          <a:xfrm>
            <a:off x="990600" y="2019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1</a:t>
            </a:r>
            <a:endParaRPr lang="en-US" sz="2200" dirty="0"/>
          </a:p>
        </p:txBody>
      </p:sp>
      <p:sp>
        <p:nvSpPr>
          <p:cNvPr id="6" name="Text 4"/>
          <p:cNvSpPr/>
          <p:nvPr/>
        </p:nvSpPr>
        <p:spPr>
          <a:xfrm>
            <a:off x="1498600" y="20193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Character against number</a:t>
            </a:r>
            <a:endParaRPr lang="en-US" sz="1400" dirty="0"/>
          </a:p>
        </p:txBody>
      </p:sp>
      <p:sp>
        <p:nvSpPr>
          <p:cNvPr id="7" name="Text 5"/>
          <p:cNvSpPr/>
          <p:nvPr/>
        </p:nvSpPr>
        <p:spPr>
          <a:xfrm>
            <a:off x="1498600" y="2283420"/>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One group names a kind of man. The other names a percentage, a count or a time.</a:t>
            </a:r>
            <a:endParaRPr lang="en-US" sz="1200" dirty="0"/>
          </a:p>
        </p:txBody>
      </p:sp>
      <p:sp>
        <p:nvSpPr>
          <p:cNvPr id="8" name="Shape 6"/>
          <p:cNvSpPr/>
          <p:nvPr/>
        </p:nvSpPr>
        <p:spPr>
          <a:xfrm>
            <a:off x="6172200" y="1841500"/>
            <a:ext cx="5207000" cy="1041400"/>
          </a:xfrm>
          <a:prstGeom prst="rect">
            <a:avLst/>
          </a:prstGeom>
          <a:solidFill>
            <a:srgbClr val="1D1C19"/>
          </a:solidFill>
          <a:ln/>
        </p:spPr>
        <p:txBody>
          <a:bodyPr/>
          <a:lstStyle/>
          <a:p>
            <a:endParaRPr lang="en-US"/>
          </a:p>
        </p:txBody>
      </p:sp>
      <p:sp>
        <p:nvSpPr>
          <p:cNvPr id="9" name="Text 7"/>
          <p:cNvSpPr/>
          <p:nvPr/>
        </p:nvSpPr>
        <p:spPr>
          <a:xfrm>
            <a:off x="6350000" y="2019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2</a:t>
            </a:r>
            <a:endParaRPr lang="en-US" sz="2200" dirty="0"/>
          </a:p>
        </p:txBody>
      </p:sp>
      <p:sp>
        <p:nvSpPr>
          <p:cNvPr id="10" name="Text 8"/>
          <p:cNvSpPr/>
          <p:nvPr/>
        </p:nvSpPr>
        <p:spPr>
          <a:xfrm>
            <a:off x="6858000" y="20193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Rating against guarantee</a:t>
            </a:r>
            <a:endParaRPr lang="en-US" sz="1400" dirty="0"/>
          </a:p>
        </p:txBody>
      </p:sp>
      <p:sp>
        <p:nvSpPr>
          <p:cNvPr id="11" name="Text 9"/>
          <p:cNvSpPr/>
          <p:nvPr/>
        </p:nvSpPr>
        <p:spPr>
          <a:xfrm>
            <a:off x="6858000" y="2283420"/>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Persona brands show stars. Treatment brands put money behind the result.</a:t>
            </a:r>
            <a:endParaRPr lang="en-US" sz="1200" dirty="0"/>
          </a:p>
        </p:txBody>
      </p:sp>
      <p:sp>
        <p:nvSpPr>
          <p:cNvPr id="12" name="Shape 10"/>
          <p:cNvSpPr/>
          <p:nvPr/>
        </p:nvSpPr>
        <p:spPr>
          <a:xfrm>
            <a:off x="812800" y="3035300"/>
            <a:ext cx="5207000" cy="1041400"/>
          </a:xfrm>
          <a:prstGeom prst="rect">
            <a:avLst/>
          </a:prstGeom>
          <a:solidFill>
            <a:srgbClr val="1D1C19"/>
          </a:solidFill>
          <a:ln/>
        </p:spPr>
        <p:txBody>
          <a:bodyPr/>
          <a:lstStyle/>
          <a:p>
            <a:endParaRPr lang="en-US"/>
          </a:p>
        </p:txBody>
      </p:sp>
      <p:sp>
        <p:nvSpPr>
          <p:cNvPr id="13" name="Text 11"/>
          <p:cNvSpPr/>
          <p:nvPr/>
        </p:nvSpPr>
        <p:spPr>
          <a:xfrm>
            <a:off x="990600" y="32131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3</a:t>
            </a:r>
            <a:endParaRPr lang="en-US" sz="2200" dirty="0"/>
          </a:p>
        </p:txBody>
      </p:sp>
      <p:sp>
        <p:nvSpPr>
          <p:cNvPr id="14" name="Text 12"/>
          <p:cNvSpPr/>
          <p:nvPr/>
        </p:nvSpPr>
        <p:spPr>
          <a:xfrm>
            <a:off x="1498600" y="32131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“Long lasting” against a countable claim</a:t>
            </a:r>
            <a:endParaRPr lang="en-US" sz="1400" dirty="0"/>
          </a:p>
        </p:txBody>
      </p:sp>
      <p:sp>
        <p:nvSpPr>
          <p:cNvPr id="15" name="Text 13"/>
          <p:cNvSpPr/>
          <p:nvPr/>
        </p:nvSpPr>
        <p:spPr>
          <a:xfrm>
            <a:off x="1498600" y="3477220"/>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Every perfume says six to ten hours. Only Fogg and Engage give a figure a buyer can test.</a:t>
            </a:r>
            <a:endParaRPr lang="en-US" sz="1200" dirty="0"/>
          </a:p>
        </p:txBody>
      </p:sp>
      <p:sp>
        <p:nvSpPr>
          <p:cNvPr id="16" name="Shape 14"/>
          <p:cNvSpPr/>
          <p:nvPr/>
        </p:nvSpPr>
        <p:spPr>
          <a:xfrm>
            <a:off x="6172200" y="3035300"/>
            <a:ext cx="5207000" cy="1041400"/>
          </a:xfrm>
          <a:prstGeom prst="rect">
            <a:avLst/>
          </a:prstGeom>
          <a:solidFill>
            <a:srgbClr val="1D1C19"/>
          </a:solidFill>
          <a:ln/>
        </p:spPr>
        <p:txBody>
          <a:bodyPr/>
          <a:lstStyle/>
          <a:p>
            <a:endParaRPr lang="en-US"/>
          </a:p>
        </p:txBody>
      </p:sp>
      <p:sp>
        <p:nvSpPr>
          <p:cNvPr id="17" name="Text 15"/>
          <p:cNvSpPr/>
          <p:nvPr/>
        </p:nvSpPr>
        <p:spPr>
          <a:xfrm>
            <a:off x="6350000" y="32131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4</a:t>
            </a:r>
            <a:endParaRPr lang="en-US" sz="2200" dirty="0"/>
          </a:p>
        </p:txBody>
      </p:sp>
      <p:sp>
        <p:nvSpPr>
          <p:cNvPr id="18" name="Text 16"/>
          <p:cNvSpPr/>
          <p:nvPr/>
        </p:nvSpPr>
        <p:spPr>
          <a:xfrm>
            <a:off x="6858000" y="32131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Offer first against claim first</a:t>
            </a:r>
            <a:endParaRPr lang="en-US" sz="1400" dirty="0"/>
          </a:p>
        </p:txBody>
      </p:sp>
      <p:sp>
        <p:nvSpPr>
          <p:cNvPr id="19" name="Text 17"/>
          <p:cNvSpPr/>
          <p:nvPr/>
        </p:nvSpPr>
        <p:spPr>
          <a:xfrm>
            <a:off x="6858000" y="3477220"/>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TMC, Beardo and Bella Vita open with the deal. Minimalist and Reginald open with the product.</a:t>
            </a:r>
            <a:endParaRPr lang="en-US" sz="1200" dirty="0"/>
          </a:p>
        </p:txBody>
      </p:sp>
      <p:sp>
        <p:nvSpPr>
          <p:cNvPr id="20" name="Shape 18"/>
          <p:cNvSpPr/>
          <p:nvPr/>
        </p:nvSpPr>
        <p:spPr>
          <a:xfrm>
            <a:off x="812800" y="4229100"/>
            <a:ext cx="5207000" cy="1250950"/>
          </a:xfrm>
          <a:prstGeom prst="rect">
            <a:avLst/>
          </a:prstGeom>
          <a:solidFill>
            <a:srgbClr val="1D1C19"/>
          </a:solidFill>
          <a:ln/>
        </p:spPr>
        <p:txBody>
          <a:bodyPr/>
          <a:lstStyle/>
          <a:p>
            <a:endParaRPr lang="en-US"/>
          </a:p>
        </p:txBody>
      </p:sp>
      <p:sp>
        <p:nvSpPr>
          <p:cNvPr id="21" name="Text 19"/>
          <p:cNvSpPr/>
          <p:nvPr/>
        </p:nvSpPr>
        <p:spPr>
          <a:xfrm>
            <a:off x="990600" y="44069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5</a:t>
            </a:r>
            <a:endParaRPr lang="en-US" sz="2200" dirty="0"/>
          </a:p>
        </p:txBody>
      </p:sp>
      <p:sp>
        <p:nvSpPr>
          <p:cNvPr id="22" name="Text 20"/>
          <p:cNvSpPr/>
          <p:nvPr/>
        </p:nvSpPr>
        <p:spPr>
          <a:xfrm>
            <a:off x="1498600" y="44069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Who is addressed</a:t>
            </a:r>
            <a:endParaRPr lang="en-US" sz="1400" dirty="0"/>
          </a:p>
        </p:txBody>
      </p:sp>
      <p:sp>
        <p:nvSpPr>
          <p:cNvPr id="23" name="Text 21"/>
          <p:cNvSpPr/>
          <p:nvPr/>
        </p:nvSpPr>
        <p:spPr>
          <a:xfrm>
            <a:off x="1498600" y="4671020"/>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Legacy and treatment brands speak to a man with a problem. Persona brands speak to a man with an ambition. TMC speaks to the man and the gift buyer at once.</a:t>
            </a:r>
            <a:endParaRPr lang="en-US" sz="1200" dirty="0"/>
          </a:p>
        </p:txBody>
      </p:sp>
      <p:sp>
        <p:nvSpPr>
          <p:cNvPr id="24" name="Shape 22"/>
          <p:cNvSpPr/>
          <p:nvPr/>
        </p:nvSpPr>
        <p:spPr>
          <a:xfrm>
            <a:off x="6172200" y="4229100"/>
            <a:ext cx="5207000" cy="1250950"/>
          </a:xfrm>
          <a:prstGeom prst="rect">
            <a:avLst/>
          </a:prstGeom>
          <a:solidFill>
            <a:srgbClr val="1D1C19"/>
          </a:solidFill>
          <a:ln/>
        </p:spPr>
        <p:txBody>
          <a:bodyPr/>
          <a:lstStyle/>
          <a:p>
            <a:endParaRPr lang="en-US"/>
          </a:p>
        </p:txBody>
      </p:sp>
      <p:sp>
        <p:nvSpPr>
          <p:cNvPr id="25" name="Text 23"/>
          <p:cNvSpPr/>
          <p:nvPr/>
        </p:nvSpPr>
        <p:spPr>
          <a:xfrm>
            <a:off x="6350000" y="44069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6</a:t>
            </a:r>
            <a:endParaRPr lang="en-US" sz="2200" dirty="0"/>
          </a:p>
        </p:txBody>
      </p:sp>
      <p:sp>
        <p:nvSpPr>
          <p:cNvPr id="26" name="Text 24"/>
          <p:cNvSpPr/>
          <p:nvPr/>
        </p:nvSpPr>
        <p:spPr>
          <a:xfrm>
            <a:off x="6858000" y="4406900"/>
            <a:ext cx="4473702"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Problem brands never use a character; character brands rarely name a problem</a:t>
            </a:r>
            <a:endParaRPr lang="en-US" sz="1400" dirty="0"/>
          </a:p>
        </p:txBody>
      </p:sp>
      <p:sp>
        <p:nvSpPr>
          <p:cNvPr id="27" name="Text 25"/>
          <p:cNvSpPr/>
          <p:nvPr/>
        </p:nvSpPr>
        <p:spPr>
          <a:xfrm>
            <a:off x="6858000" y="4884341"/>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Beardo is the one brand doing both: the don persona plus “results in 4 to 6 weeks”.</a:t>
            </a:r>
            <a:endParaRPr lang="en-US" sz="1200" dirty="0"/>
          </a:p>
        </p:txBody>
      </p:sp>
      <p:sp>
        <p:nvSpPr>
          <p:cNvPr id="28" name="Text 26"/>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Companion document, section 2.4</a:t>
            </a:r>
            <a:endParaRPr lang="en-US" sz="1200" dirty="0"/>
          </a:p>
        </p:txBody>
      </p:sp>
      <p:sp>
        <p:nvSpPr>
          <p:cNvPr id="29" name="Text 27"/>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16</a:t>
            </a:r>
            <a:endParaRPr lang="en-US" sz="1200" dirty="0"/>
          </a:p>
        </p:txBody>
      </p:sp>
      <p:pic>
        <p:nvPicPr>
          <p:cNvPr id="31" name="Graphic 30" descr="Blueprint with solid fill">
            <a:extLst>
              <a:ext uri="{FF2B5EF4-FFF2-40B4-BE49-F238E27FC236}">
                <a16:creationId xmlns:a16="http://schemas.microsoft.com/office/drawing/2014/main" id="{5071ADBA-935F-0C8D-1184-C66385CFBE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works in a message, and what does not – </a:t>
            </a:r>
            <a:r>
              <a:rPr lang="en-US" sz="2500" b="0" i="0" dirty="0">
                <a:solidFill>
                  <a:srgbClr val="00B050"/>
                </a:solidFill>
                <a:latin typeface="Oswald" pitchFamily="34" charset="0"/>
                <a:ea typeface="Oswald" pitchFamily="34" charset="-122"/>
                <a:cs typeface="Oswald" pitchFamily="34" charset="-120"/>
              </a:rPr>
              <a:t>logic +</a:t>
            </a:r>
            <a:r>
              <a:rPr lang="en-US" sz="2500" b="0" i="0" dirty="0">
                <a:solidFill>
                  <a:srgbClr val="F4F0E8"/>
                </a:solidFill>
                <a:latin typeface="Oswald" pitchFamily="34" charset="0"/>
                <a:ea typeface="Oswald" pitchFamily="34" charset="-122"/>
                <a:cs typeface="Oswald" pitchFamily="34" charset="-120"/>
              </a:rPr>
              <a:t> </a:t>
            </a:r>
            <a:r>
              <a:rPr lang="en-US" sz="2500" b="0" i="0" dirty="0">
                <a:solidFill>
                  <a:srgbClr val="C00000"/>
                </a:solidFill>
                <a:latin typeface="Oswald" pitchFamily="34" charset="0"/>
                <a:ea typeface="Oswald" pitchFamily="34" charset="-122"/>
                <a:cs typeface="Oswald" pitchFamily="34" charset="-120"/>
              </a:rPr>
              <a:t>emotion</a:t>
            </a:r>
            <a:endParaRPr lang="en-US" sz="2500" dirty="0">
              <a:solidFill>
                <a:srgbClr val="C00000"/>
              </a:solidFill>
            </a:endParaRPr>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281241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WORKS</a:t>
            </a:r>
            <a:endParaRPr lang="en-US" sz="1200" dirty="0"/>
          </a:p>
        </p:txBody>
      </p:sp>
      <p:sp>
        <p:nvSpPr>
          <p:cNvPr id="6" name="Text 4"/>
          <p:cNvSpPr/>
          <p:nvPr/>
        </p:nvSpPr>
        <p:spPr>
          <a:xfrm>
            <a:off x="3695700" y="1879600"/>
            <a:ext cx="228917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WHY</a:t>
            </a:r>
            <a:endParaRPr lang="en-US" sz="1200" dirty="0"/>
          </a:p>
        </p:txBody>
      </p:sp>
      <p:sp>
        <p:nvSpPr>
          <p:cNvPr id="7" name="Text 5"/>
          <p:cNvSpPr/>
          <p:nvPr/>
        </p:nvSpPr>
        <p:spPr>
          <a:xfrm>
            <a:off x="6070600" y="1879600"/>
            <a:ext cx="281241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DOES NOT WORK</a:t>
            </a:r>
            <a:endParaRPr lang="en-US" sz="1200" dirty="0"/>
          </a:p>
        </p:txBody>
      </p:sp>
      <p:sp>
        <p:nvSpPr>
          <p:cNvPr id="8" name="Text 6"/>
          <p:cNvSpPr/>
          <p:nvPr/>
        </p:nvSpPr>
        <p:spPr>
          <a:xfrm>
            <a:off x="8953500" y="1879600"/>
            <a:ext cx="2498471"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WHY</a:t>
            </a:r>
            <a:endParaRPr lang="en-US" sz="1200" dirty="0"/>
          </a:p>
        </p:txBody>
      </p:sp>
      <p:sp>
        <p:nvSpPr>
          <p:cNvPr id="9" name="Shape 7"/>
          <p:cNvSpPr/>
          <p:nvPr/>
        </p:nvSpPr>
        <p:spPr>
          <a:xfrm>
            <a:off x="812800" y="2676525"/>
            <a:ext cx="10566400" cy="0"/>
          </a:xfrm>
          <a:prstGeom prst="line">
            <a:avLst/>
          </a:prstGeom>
          <a:noFill/>
          <a:ln w="6350">
            <a:solidFill>
              <a:srgbClr val="3A3832"/>
            </a:solidFill>
            <a:prstDash val="solid"/>
          </a:ln>
        </p:spPr>
        <p:txBody>
          <a:bodyPr/>
          <a:lstStyle/>
          <a:p>
            <a:endParaRPr lang="en-US"/>
          </a:p>
        </p:txBody>
      </p:sp>
      <p:sp>
        <p:nvSpPr>
          <p:cNvPr id="10" name="Text 8"/>
          <p:cNvSpPr/>
          <p:nvPr/>
        </p:nvSpPr>
        <p:spPr>
          <a:xfrm>
            <a:off x="812800" y="2207692"/>
            <a:ext cx="2812415"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A claim with a number the buyer can verify</a:t>
            </a:r>
            <a:endParaRPr lang="en-US" sz="1200" dirty="0"/>
          </a:p>
        </p:txBody>
      </p:sp>
      <p:sp>
        <p:nvSpPr>
          <p:cNvPr id="11" name="Text 9"/>
          <p:cNvSpPr/>
          <p:nvPr/>
        </p:nvSpPr>
        <p:spPr>
          <a:xfrm>
            <a:off x="3695700" y="2302942"/>
            <a:ext cx="228917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It replaces trust with a test</a:t>
            </a:r>
            <a:endParaRPr lang="en-US" sz="1200" dirty="0"/>
          </a:p>
        </p:txBody>
      </p:sp>
      <p:sp>
        <p:nvSpPr>
          <p:cNvPr id="12" name="Text 10"/>
          <p:cNvSpPr/>
          <p:nvPr/>
        </p:nvSpPr>
        <p:spPr>
          <a:xfrm>
            <a:off x="6070600" y="2207692"/>
            <a:ext cx="2812415"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“Premium”, “long lasting”, “signature”</a:t>
            </a:r>
            <a:endParaRPr lang="en-US" sz="1200" dirty="0"/>
          </a:p>
        </p:txBody>
      </p:sp>
      <p:sp>
        <p:nvSpPr>
          <p:cNvPr id="13" name="Text 11"/>
          <p:cNvSpPr/>
          <p:nvPr/>
        </p:nvSpPr>
        <p:spPr>
          <a:xfrm>
            <a:off x="8953500" y="2207692"/>
            <a:ext cx="2498471"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Every rival says it; it cannot be checked</a:t>
            </a:r>
            <a:endParaRPr lang="en-US" sz="1200" dirty="0"/>
          </a:p>
        </p:txBody>
      </p:sp>
      <p:sp>
        <p:nvSpPr>
          <p:cNvPr id="14" name="Shape 12"/>
          <p:cNvSpPr/>
          <p:nvPr/>
        </p:nvSpPr>
        <p:spPr>
          <a:xfrm>
            <a:off x="812800" y="3235325"/>
            <a:ext cx="10566400" cy="0"/>
          </a:xfrm>
          <a:prstGeom prst="line">
            <a:avLst/>
          </a:prstGeom>
          <a:noFill/>
          <a:ln w="6350">
            <a:solidFill>
              <a:srgbClr val="3A3832"/>
            </a:solidFill>
            <a:prstDash val="solid"/>
          </a:ln>
        </p:spPr>
        <p:txBody>
          <a:bodyPr/>
          <a:lstStyle/>
          <a:p>
            <a:endParaRPr lang="en-US"/>
          </a:p>
        </p:txBody>
      </p:sp>
      <p:sp>
        <p:nvSpPr>
          <p:cNvPr id="15" name="Text 13"/>
          <p:cNvSpPr/>
          <p:nvPr/>
        </p:nvSpPr>
        <p:spPr>
          <a:xfrm>
            <a:off x="812800" y="2861742"/>
            <a:ext cx="281241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One message per page</a:t>
            </a:r>
            <a:endParaRPr lang="en-US" sz="1200" dirty="0"/>
          </a:p>
        </p:txBody>
      </p:sp>
      <p:sp>
        <p:nvSpPr>
          <p:cNvPr id="16" name="Text 14"/>
          <p:cNvSpPr/>
          <p:nvPr/>
        </p:nvSpPr>
        <p:spPr>
          <a:xfrm>
            <a:off x="3695700" y="2861742"/>
            <a:ext cx="228917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buyer decides in seconds</a:t>
            </a:r>
            <a:endParaRPr lang="en-US" sz="1200" dirty="0"/>
          </a:p>
        </p:txBody>
      </p:sp>
      <p:sp>
        <p:nvSpPr>
          <p:cNvPr id="17" name="Text 15"/>
          <p:cNvSpPr/>
          <p:nvPr/>
        </p:nvSpPr>
        <p:spPr>
          <a:xfrm>
            <a:off x="6070600" y="2766492"/>
            <a:ext cx="2812415"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A premium headline above a clearance banner</a:t>
            </a:r>
            <a:endParaRPr lang="en-US" sz="1200" dirty="0"/>
          </a:p>
        </p:txBody>
      </p:sp>
      <p:sp>
        <p:nvSpPr>
          <p:cNvPr id="18" name="Text 16"/>
          <p:cNvSpPr/>
          <p:nvPr/>
        </p:nvSpPr>
        <p:spPr>
          <a:xfrm>
            <a:off x="8953500" y="2766492"/>
            <a:ext cx="2498471"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 second message cancels the first</a:t>
            </a:r>
            <a:endParaRPr lang="en-US" sz="1200" dirty="0"/>
          </a:p>
        </p:txBody>
      </p:sp>
      <p:sp>
        <p:nvSpPr>
          <p:cNvPr id="19" name="Shape 17"/>
          <p:cNvSpPr/>
          <p:nvPr/>
        </p:nvSpPr>
        <p:spPr>
          <a:xfrm>
            <a:off x="812800" y="3603625"/>
            <a:ext cx="10566400" cy="0"/>
          </a:xfrm>
          <a:prstGeom prst="line">
            <a:avLst/>
          </a:prstGeom>
          <a:noFill/>
          <a:ln w="6350">
            <a:solidFill>
              <a:srgbClr val="3A3832"/>
            </a:solidFill>
            <a:prstDash val="solid"/>
          </a:ln>
        </p:spPr>
        <p:txBody>
          <a:bodyPr/>
          <a:lstStyle/>
          <a:p>
            <a:endParaRPr lang="en-US"/>
          </a:p>
        </p:txBody>
      </p:sp>
      <p:sp>
        <p:nvSpPr>
          <p:cNvPr id="20" name="Text 18"/>
          <p:cNvSpPr/>
          <p:nvPr/>
        </p:nvSpPr>
        <p:spPr>
          <a:xfrm>
            <a:off x="812800" y="3325292"/>
            <a:ext cx="281241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A guarantee</a:t>
            </a:r>
            <a:endParaRPr lang="en-US" sz="1200" dirty="0"/>
          </a:p>
        </p:txBody>
      </p:sp>
      <p:sp>
        <p:nvSpPr>
          <p:cNvPr id="21" name="Text 19"/>
          <p:cNvSpPr/>
          <p:nvPr/>
        </p:nvSpPr>
        <p:spPr>
          <a:xfrm>
            <a:off x="3695700" y="3325292"/>
            <a:ext cx="228917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It moves the risk to the seller</a:t>
            </a:r>
            <a:endParaRPr lang="en-US" sz="1200" dirty="0"/>
          </a:p>
        </p:txBody>
      </p:sp>
      <p:sp>
        <p:nvSpPr>
          <p:cNvPr id="22" name="Text 20"/>
          <p:cNvSpPr/>
          <p:nvPr/>
        </p:nvSpPr>
        <p:spPr>
          <a:xfrm>
            <a:off x="6070600" y="3325292"/>
            <a:ext cx="281241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A certificate nobody understands</a:t>
            </a:r>
            <a:endParaRPr lang="en-US" sz="1200" dirty="0"/>
          </a:p>
        </p:txBody>
      </p:sp>
      <p:sp>
        <p:nvSpPr>
          <p:cNvPr id="23" name="Text 21"/>
          <p:cNvSpPr/>
          <p:nvPr/>
        </p:nvSpPr>
        <p:spPr>
          <a:xfrm>
            <a:off x="8953500" y="3325292"/>
            <a:ext cx="2498471"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It reassures without proving</a:t>
            </a:r>
            <a:endParaRPr lang="en-US" sz="1200" dirty="0"/>
          </a:p>
        </p:txBody>
      </p:sp>
      <p:sp>
        <p:nvSpPr>
          <p:cNvPr id="24" name="Shape 22"/>
          <p:cNvSpPr/>
          <p:nvPr/>
        </p:nvSpPr>
        <p:spPr>
          <a:xfrm>
            <a:off x="812800" y="4162425"/>
            <a:ext cx="10566400" cy="0"/>
          </a:xfrm>
          <a:prstGeom prst="line">
            <a:avLst/>
          </a:prstGeom>
          <a:noFill/>
          <a:ln w="6350">
            <a:solidFill>
              <a:srgbClr val="3A3832"/>
            </a:solidFill>
            <a:prstDash val="solid"/>
          </a:ln>
        </p:spPr>
        <p:txBody>
          <a:bodyPr/>
          <a:lstStyle/>
          <a:p>
            <a:endParaRPr lang="en-US"/>
          </a:p>
        </p:txBody>
      </p:sp>
      <p:sp>
        <p:nvSpPr>
          <p:cNvPr id="25" name="Text 23"/>
          <p:cNvSpPr/>
          <p:nvPr/>
        </p:nvSpPr>
        <p:spPr>
          <a:xfrm>
            <a:off x="812800" y="3693592"/>
            <a:ext cx="2812415"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A character taken to the extreme and paired with a result claim</a:t>
            </a:r>
            <a:endParaRPr lang="en-US" sz="1200" dirty="0"/>
          </a:p>
        </p:txBody>
      </p:sp>
      <p:sp>
        <p:nvSpPr>
          <p:cNvPr id="26" name="Text 24"/>
          <p:cNvSpPr/>
          <p:nvPr/>
        </p:nvSpPr>
        <p:spPr>
          <a:xfrm>
            <a:off x="3695700" y="3788842"/>
            <a:ext cx="228917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Memorable and still checkable</a:t>
            </a:r>
            <a:endParaRPr lang="en-US" sz="1200" dirty="0"/>
          </a:p>
        </p:txBody>
      </p:sp>
      <p:sp>
        <p:nvSpPr>
          <p:cNvPr id="27" name="Text 25"/>
          <p:cNvSpPr/>
          <p:nvPr/>
        </p:nvSpPr>
        <p:spPr>
          <a:xfrm>
            <a:off x="6070600" y="3788842"/>
            <a:ext cx="281241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A mild character</a:t>
            </a:r>
            <a:endParaRPr lang="en-US" sz="1200" dirty="0"/>
          </a:p>
        </p:txBody>
      </p:sp>
      <p:sp>
        <p:nvSpPr>
          <p:cNvPr id="28" name="Text 26"/>
          <p:cNvSpPr/>
          <p:nvPr/>
        </p:nvSpPr>
        <p:spPr>
          <a:xfrm>
            <a:off x="8953500" y="3788842"/>
            <a:ext cx="2498471"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Describes no one in particular</a:t>
            </a:r>
            <a:endParaRPr lang="en-US" sz="1200" dirty="0"/>
          </a:p>
        </p:txBody>
      </p:sp>
      <p:sp>
        <p:nvSpPr>
          <p:cNvPr id="29" name="Shape 27"/>
          <p:cNvSpPr/>
          <p:nvPr/>
        </p:nvSpPr>
        <p:spPr>
          <a:xfrm>
            <a:off x="812800" y="4721225"/>
            <a:ext cx="10566400" cy="0"/>
          </a:xfrm>
          <a:prstGeom prst="line">
            <a:avLst/>
          </a:prstGeom>
          <a:noFill/>
          <a:ln w="6350">
            <a:solidFill>
              <a:srgbClr val="3A3832"/>
            </a:solidFill>
            <a:prstDash val="solid"/>
          </a:ln>
        </p:spPr>
        <p:txBody>
          <a:bodyPr/>
          <a:lstStyle/>
          <a:p>
            <a:endParaRPr lang="en-US"/>
          </a:p>
        </p:txBody>
      </p:sp>
      <p:sp>
        <p:nvSpPr>
          <p:cNvPr id="30" name="Text 28"/>
          <p:cNvSpPr/>
          <p:nvPr/>
        </p:nvSpPr>
        <p:spPr>
          <a:xfrm>
            <a:off x="812800" y="4252392"/>
            <a:ext cx="2812415"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Naming the problem in the product title</a:t>
            </a:r>
            <a:endParaRPr lang="en-US" sz="1200" dirty="0"/>
          </a:p>
        </p:txBody>
      </p:sp>
      <p:sp>
        <p:nvSpPr>
          <p:cNvPr id="31" name="Text 29"/>
          <p:cNvSpPr/>
          <p:nvPr/>
        </p:nvSpPr>
        <p:spPr>
          <a:xfrm>
            <a:off x="3695700" y="4252392"/>
            <a:ext cx="2289175"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It matches what men type into search</a:t>
            </a:r>
            <a:endParaRPr lang="en-US" sz="1200" dirty="0"/>
          </a:p>
        </p:txBody>
      </p:sp>
      <p:sp>
        <p:nvSpPr>
          <p:cNvPr id="32" name="Text 30"/>
          <p:cNvSpPr/>
          <p:nvPr/>
        </p:nvSpPr>
        <p:spPr>
          <a:xfrm>
            <a:off x="6070600" y="4347642"/>
            <a:ext cx="281241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Naming the range or the mood</a:t>
            </a:r>
            <a:endParaRPr lang="en-US" sz="1200" dirty="0"/>
          </a:p>
        </p:txBody>
      </p:sp>
      <p:sp>
        <p:nvSpPr>
          <p:cNvPr id="33" name="Text 31"/>
          <p:cNvSpPr/>
          <p:nvPr/>
        </p:nvSpPr>
        <p:spPr>
          <a:xfrm>
            <a:off x="8953500" y="4347642"/>
            <a:ext cx="2498471"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Nobody searches for it</a:t>
            </a:r>
            <a:endParaRPr lang="en-US" sz="1200" dirty="0"/>
          </a:p>
        </p:txBody>
      </p:sp>
      <p:sp>
        <p:nvSpPr>
          <p:cNvPr id="34" name="Text 32"/>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Companion document, section 2.5</a:t>
            </a:r>
            <a:endParaRPr lang="en-US" sz="1200" dirty="0"/>
          </a:p>
        </p:txBody>
      </p:sp>
      <p:sp>
        <p:nvSpPr>
          <p:cNvPr id="35" name="Text 33"/>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17</a:t>
            </a:r>
            <a:endParaRPr lang="en-US" sz="1200" dirty="0"/>
          </a:p>
        </p:txBody>
      </p:sp>
      <p:pic>
        <p:nvPicPr>
          <p:cNvPr id="37" name="Graphic 36" descr="Blueprint with solid fill">
            <a:extLst>
              <a:ext uri="{FF2B5EF4-FFF2-40B4-BE49-F238E27FC236}">
                <a16:creationId xmlns:a16="http://schemas.microsoft.com/office/drawing/2014/main" id="{2F853192-A776-A322-96BA-51347A5639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pic>
        <p:nvPicPr>
          <p:cNvPr id="39" name="Graphic 38" descr="Badge Heart with solid fill">
            <a:extLst>
              <a:ext uri="{FF2B5EF4-FFF2-40B4-BE49-F238E27FC236}">
                <a16:creationId xmlns:a16="http://schemas.microsoft.com/office/drawing/2014/main" id="{19BE8383-61EB-2786-BAC5-6C796EA2BD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24592" y="-40208"/>
            <a:ext cx="914400" cy="914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460"/>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14140F"/>
                </a:solidFill>
                <a:latin typeface="DM Sans" pitchFamily="34" charset="0"/>
                <a:ea typeface="DM Sans" pitchFamily="34" charset="-122"/>
                <a:cs typeface="DM Sans" pitchFamily="34" charset="-120"/>
              </a:rPr>
              <a:t>2 · MESSAGES</a:t>
            </a:r>
            <a:endParaRPr lang="en-US" sz="1200" dirty="0"/>
          </a:p>
        </p:txBody>
      </p:sp>
      <p:sp>
        <p:nvSpPr>
          <p:cNvPr id="3" name="Text 1"/>
          <p:cNvSpPr>
            <a:spLocks noGrp="1"/>
          </p:cNvSpPr>
          <p:nvPr>
            <p:ph type="title"/>
          </p:nvPr>
        </p:nvSpPr>
        <p:spPr>
          <a:xfrm>
            <a:off x="812800" y="1905000"/>
            <a:ext cx="10883392" cy="1220126"/>
          </a:xfrm>
          <a:prstGeom prst="rect">
            <a:avLst/>
          </a:prstGeom>
          <a:noFill/>
          <a:ln/>
        </p:spPr>
        <p:txBody>
          <a:bodyPr wrap="square" lIns="0" tIns="0" rIns="0" bIns="0" rtlCol="0" anchor="t">
            <a:normAutofit/>
          </a:bodyPr>
          <a:lstStyle/>
          <a:p>
            <a:pPr marL="0" indent="0" algn="l">
              <a:lnSpc>
                <a:spcPts val="4704"/>
              </a:lnSpc>
              <a:buNone/>
            </a:pPr>
            <a:r>
              <a:rPr lang="en-US" sz="4200" b="0" i="0" dirty="0">
                <a:solidFill>
                  <a:srgbClr val="14140F"/>
                </a:solidFill>
                <a:latin typeface="Oswald" pitchFamily="34" charset="0"/>
                <a:ea typeface="Oswald" pitchFamily="34" charset="-122"/>
                <a:cs typeface="Oswald" pitchFamily="34" charset="-120"/>
              </a:rPr>
              <a:t>The first thing TMC's own page says is the size of the discount – </a:t>
            </a:r>
            <a:r>
              <a:rPr lang="en-US" sz="4200" b="0" i="0" dirty="0">
                <a:solidFill>
                  <a:srgbClr val="C00000"/>
                </a:solidFill>
                <a:latin typeface="Oswald" pitchFamily="34" charset="0"/>
                <a:ea typeface="Oswald" pitchFamily="34" charset="-122"/>
                <a:cs typeface="Oswald" pitchFamily="34" charset="-120"/>
              </a:rPr>
              <a:t>cheap feeling of a discounted price</a:t>
            </a:r>
            <a:endParaRPr lang="en-US" sz="4200" dirty="0">
              <a:solidFill>
                <a:srgbClr val="C00000"/>
              </a:solidFill>
            </a:endParaRPr>
          </a:p>
        </p:txBody>
      </p:sp>
      <p:sp>
        <p:nvSpPr>
          <p:cNvPr id="4" name="Text 2"/>
          <p:cNvSpPr/>
          <p:nvPr/>
        </p:nvSpPr>
        <p:spPr>
          <a:xfrm>
            <a:off x="812800" y="3454400"/>
            <a:ext cx="9156700" cy="8483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140F"/>
                </a:solidFill>
                <a:latin typeface="DM Sans" pitchFamily="34" charset="0"/>
                <a:ea typeface="DM Sans" pitchFamily="34" charset="-122"/>
                <a:cs typeface="DM Sans" pitchFamily="34" charset="-120"/>
              </a:rPr>
              <a:t>“Gentleman” is the mildest character in a group of five, and the page offers no number a buyer could check. Rebuild the message on one checkable claim before the creative work starts (H: test two claim versions at the same price).</a:t>
            </a:r>
            <a:endParaRPr lang="en-US" sz="1600" dirty="0"/>
          </a:p>
        </p:txBody>
      </p:sp>
      <p:sp>
        <p:nvSpPr>
          <p:cNvPr id="5" name="Text 3"/>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3A3A2A"/>
                </a:solidFill>
                <a:latin typeface="DM Sans" pitchFamily="34" charset="0"/>
                <a:ea typeface="DM Sans" pitchFamily="34" charset="-122"/>
                <a:cs typeface="DM Sans" pitchFamily="34" charset="-120"/>
              </a:rPr>
              <a:t>FAST TRACK  ·  18</a:t>
            </a:r>
            <a:endParaRPr lang="en-US" sz="1200" dirty="0"/>
          </a:p>
        </p:txBody>
      </p:sp>
      <p:pic>
        <p:nvPicPr>
          <p:cNvPr id="9" name="Graphic 8" descr="Badge Heart with solid fill">
            <a:extLst>
              <a:ext uri="{FF2B5EF4-FFF2-40B4-BE49-F238E27FC236}">
                <a16:creationId xmlns:a16="http://schemas.microsoft.com/office/drawing/2014/main" id="{C5C3E5D0-5971-AB48-A494-F3750DDCD4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77600" y="0"/>
            <a:ext cx="914400" cy="914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3 · PACKAGING</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fontScale="90000"/>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is documented (1 of 2): six packs changed for a commercial reason – </a:t>
            </a:r>
            <a:r>
              <a:rPr lang="en-US" sz="2500" b="0" i="0" dirty="0">
                <a:solidFill>
                  <a:srgbClr val="C00000"/>
                </a:solidFill>
                <a:latin typeface="Oswald" pitchFamily="34" charset="0"/>
                <a:ea typeface="Oswald" pitchFamily="34" charset="-122"/>
                <a:cs typeface="Oswald" pitchFamily="34" charset="-120"/>
              </a:rPr>
              <a:t>compare visually the packaging – the images should tell the story </a:t>
            </a:r>
            <a:endParaRPr lang="en-US" sz="2500" dirty="0">
              <a:solidFill>
                <a:srgbClr val="C00000"/>
              </a:solidFill>
            </a:endParaRPr>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a:t>
            </a:r>
            <a:endParaRPr lang="en-US" sz="1200" dirty="0"/>
          </a:p>
        </p:txBody>
      </p:sp>
      <p:sp>
        <p:nvSpPr>
          <p:cNvPr id="6" name="Text 4"/>
          <p:cNvSpPr/>
          <p:nvPr/>
        </p:nvSpPr>
        <p:spPr>
          <a:xfrm>
            <a:off x="3060700" y="1879600"/>
            <a:ext cx="65405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PACK FACTS FOUND</a:t>
            </a:r>
            <a:endParaRPr lang="en-US" sz="1200" dirty="0"/>
          </a:p>
        </p:txBody>
      </p:sp>
      <p:sp>
        <p:nvSpPr>
          <p:cNvPr id="7" name="Text 5"/>
          <p:cNvSpPr/>
          <p:nvPr/>
        </p:nvSpPr>
        <p:spPr>
          <a:xfrm>
            <a:off x="9563100" y="1879600"/>
            <a:ext cx="1870583"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SOURCE STRENGTH</a:t>
            </a:r>
            <a:endParaRPr lang="en-US" sz="1200" dirty="0"/>
          </a:p>
        </p:txBody>
      </p:sp>
      <p:sp>
        <p:nvSpPr>
          <p:cNvPr id="8" name="Shape 6"/>
          <p:cNvSpPr/>
          <p:nvPr/>
        </p:nvSpPr>
        <p:spPr>
          <a:xfrm>
            <a:off x="812800" y="2435225"/>
            <a:ext cx="10566400" cy="0"/>
          </a:xfrm>
          <a:prstGeom prst="line">
            <a:avLst/>
          </a:prstGeom>
          <a:noFill/>
          <a:ln w="6350">
            <a:solidFill>
              <a:srgbClr val="3A3832"/>
            </a:solidFill>
            <a:prstDash val="solid"/>
          </a:ln>
        </p:spPr>
        <p:txBody>
          <a:bodyPr/>
          <a:lstStyle/>
          <a:p>
            <a:endParaRPr lang="en-US"/>
          </a:p>
        </p:txBody>
      </p:sp>
      <p:sp>
        <p:nvSpPr>
          <p:cNvPr id="9" name="Text 7"/>
          <p:cNvSpPr/>
          <p:nvPr/>
        </p:nvSpPr>
        <p:spPr>
          <a:xfrm>
            <a:off x="812800" y="21822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Wild Stone CODE</a:t>
            </a:r>
            <a:endParaRPr lang="en-US" sz="1200" dirty="0"/>
          </a:p>
        </p:txBody>
      </p:sp>
      <p:sp>
        <p:nvSpPr>
          <p:cNvPr id="10" name="Text 8"/>
          <p:cNvSpPr/>
          <p:nvPr/>
        </p:nvSpPr>
        <p:spPr>
          <a:xfrm>
            <a:off x="3060700" y="218229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Deliberately white: “an all-white pack in a sea of black”</a:t>
            </a:r>
            <a:endParaRPr lang="en-US" sz="1200" dirty="0"/>
          </a:p>
        </p:txBody>
      </p:sp>
      <p:sp>
        <p:nvSpPr>
          <p:cNvPr id="11" name="Text 9"/>
          <p:cNvSpPr/>
          <p:nvPr/>
        </p:nvSpPr>
        <p:spPr>
          <a:xfrm>
            <a:off x="9563100" y="21822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Good</a:t>
            </a:r>
            <a:endParaRPr lang="en-US" sz="1200" dirty="0"/>
          </a:p>
        </p:txBody>
      </p:sp>
      <p:sp>
        <p:nvSpPr>
          <p:cNvPr id="12" name="Shape 10"/>
          <p:cNvSpPr/>
          <p:nvPr/>
        </p:nvSpPr>
        <p:spPr>
          <a:xfrm>
            <a:off x="812800" y="3133725"/>
            <a:ext cx="10566400" cy="0"/>
          </a:xfrm>
          <a:prstGeom prst="line">
            <a:avLst/>
          </a:prstGeom>
          <a:noFill/>
          <a:ln w="6350">
            <a:solidFill>
              <a:srgbClr val="3A3832"/>
            </a:solidFill>
            <a:prstDash val="solid"/>
          </a:ln>
        </p:spPr>
        <p:txBody>
          <a:bodyPr/>
          <a:lstStyle/>
          <a:p>
            <a:endParaRPr lang="en-US"/>
          </a:p>
        </p:txBody>
      </p:sp>
      <p:sp>
        <p:nvSpPr>
          <p:cNvPr id="13" name="Text 11"/>
          <p:cNvSpPr/>
          <p:nvPr/>
        </p:nvSpPr>
        <p:spPr>
          <a:xfrm>
            <a:off x="812800" y="26902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Bombay Shaving Co.</a:t>
            </a:r>
            <a:endParaRPr lang="en-US" sz="1200" dirty="0"/>
          </a:p>
        </p:txBody>
      </p:sp>
      <p:sp>
        <p:nvSpPr>
          <p:cNvPr id="14" name="Text 12"/>
          <p:cNvSpPr/>
          <p:nvPr/>
        </p:nvSpPr>
        <p:spPr>
          <a:xfrm>
            <a:off x="3060700" y="2499792"/>
            <a:ext cx="6540500"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New logo on a blue background because “offline visibility requires prominence on shelves”; offline share from 10% (2020) to about 50%, in about 80,000 stores. Entry packs: 50 g foam at Rs 59, razor at Rs 99</a:t>
            </a:r>
            <a:endParaRPr lang="en-US" sz="1200" dirty="0"/>
          </a:p>
        </p:txBody>
      </p:sp>
      <p:sp>
        <p:nvSpPr>
          <p:cNvPr id="15" name="Text 13"/>
          <p:cNvSpPr/>
          <p:nvPr/>
        </p:nvSpPr>
        <p:spPr>
          <a:xfrm>
            <a:off x="9563100" y="26902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Good</a:t>
            </a:r>
            <a:endParaRPr lang="en-US" sz="1200" dirty="0"/>
          </a:p>
        </p:txBody>
      </p:sp>
      <p:sp>
        <p:nvSpPr>
          <p:cNvPr id="16" name="Shape 14"/>
          <p:cNvSpPr/>
          <p:nvPr/>
        </p:nvSpPr>
        <p:spPr>
          <a:xfrm>
            <a:off x="812800" y="3451225"/>
            <a:ext cx="10566400" cy="0"/>
          </a:xfrm>
          <a:prstGeom prst="line">
            <a:avLst/>
          </a:prstGeom>
          <a:noFill/>
          <a:ln w="6350">
            <a:solidFill>
              <a:srgbClr val="3A3832"/>
            </a:solidFill>
            <a:prstDash val="solid"/>
          </a:ln>
        </p:spPr>
        <p:txBody>
          <a:bodyPr/>
          <a:lstStyle/>
          <a:p>
            <a:endParaRPr lang="en-US"/>
          </a:p>
        </p:txBody>
      </p:sp>
      <p:sp>
        <p:nvSpPr>
          <p:cNvPr id="17" name="Text 15"/>
          <p:cNvSpPr/>
          <p:nvPr/>
        </p:nvSpPr>
        <p:spPr>
          <a:xfrm>
            <a:off x="812800" y="31982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Minimalist</a:t>
            </a:r>
            <a:endParaRPr lang="en-US" sz="1200" dirty="0"/>
          </a:p>
        </p:txBody>
      </p:sp>
      <p:sp>
        <p:nvSpPr>
          <p:cNvPr id="18" name="Text 16"/>
          <p:cNvSpPr/>
          <p:nvPr/>
        </p:nvSpPr>
        <p:spPr>
          <a:xfrm>
            <a:off x="3060700" y="319829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Bottles made to look like pharmacy products; labels show ingredients only</a:t>
            </a:r>
            <a:endParaRPr lang="en-US" sz="1200" dirty="0"/>
          </a:p>
        </p:txBody>
      </p:sp>
      <p:sp>
        <p:nvSpPr>
          <p:cNvPr id="19" name="Text 17"/>
          <p:cNvSpPr/>
          <p:nvPr/>
        </p:nvSpPr>
        <p:spPr>
          <a:xfrm>
            <a:off x="9563100" y="31982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Good</a:t>
            </a:r>
            <a:endParaRPr lang="en-US" sz="1200" dirty="0"/>
          </a:p>
        </p:txBody>
      </p:sp>
      <p:sp>
        <p:nvSpPr>
          <p:cNvPr id="20" name="Shape 18"/>
          <p:cNvSpPr/>
          <p:nvPr/>
        </p:nvSpPr>
        <p:spPr>
          <a:xfrm>
            <a:off x="812800" y="3768725"/>
            <a:ext cx="10566400" cy="0"/>
          </a:xfrm>
          <a:prstGeom prst="line">
            <a:avLst/>
          </a:prstGeom>
          <a:noFill/>
          <a:ln w="6350">
            <a:solidFill>
              <a:srgbClr val="3A3832"/>
            </a:solidFill>
            <a:prstDash val="solid"/>
          </a:ln>
        </p:spPr>
        <p:txBody>
          <a:bodyPr/>
          <a:lstStyle/>
          <a:p>
            <a:endParaRPr lang="en-US"/>
          </a:p>
        </p:txBody>
      </p:sp>
      <p:sp>
        <p:nvSpPr>
          <p:cNvPr id="21" name="Text 19"/>
          <p:cNvSpPr/>
          <p:nvPr/>
        </p:nvSpPr>
        <p:spPr>
          <a:xfrm>
            <a:off x="812800" y="35157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Fogg</a:t>
            </a:r>
            <a:endParaRPr lang="en-US" sz="1200" dirty="0"/>
          </a:p>
        </p:txBody>
      </p:sp>
      <p:sp>
        <p:nvSpPr>
          <p:cNvPr id="22" name="Text 20"/>
          <p:cNvSpPr/>
          <p:nvPr/>
        </p:nvSpPr>
        <p:spPr>
          <a:xfrm>
            <a:off x="3060700" y="351579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Pump spray with no gas; about 800 sprays a pack. The pack is the proof of the claim</a:t>
            </a:r>
            <a:endParaRPr lang="en-US" sz="1200" dirty="0"/>
          </a:p>
        </p:txBody>
      </p:sp>
      <p:sp>
        <p:nvSpPr>
          <p:cNvPr id="23" name="Text 21"/>
          <p:cNvSpPr/>
          <p:nvPr/>
        </p:nvSpPr>
        <p:spPr>
          <a:xfrm>
            <a:off x="9563100" y="35157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Good</a:t>
            </a:r>
            <a:endParaRPr lang="en-US" sz="1200" dirty="0"/>
          </a:p>
        </p:txBody>
      </p:sp>
      <p:sp>
        <p:nvSpPr>
          <p:cNvPr id="24" name="Shape 22"/>
          <p:cNvSpPr/>
          <p:nvPr/>
        </p:nvSpPr>
        <p:spPr>
          <a:xfrm>
            <a:off x="812800" y="4086225"/>
            <a:ext cx="10566400" cy="0"/>
          </a:xfrm>
          <a:prstGeom prst="line">
            <a:avLst/>
          </a:prstGeom>
          <a:noFill/>
          <a:ln w="6350">
            <a:solidFill>
              <a:srgbClr val="3A3832"/>
            </a:solidFill>
            <a:prstDash val="solid"/>
          </a:ln>
        </p:spPr>
        <p:txBody>
          <a:bodyPr/>
          <a:lstStyle/>
          <a:p>
            <a:endParaRPr lang="en-US"/>
          </a:p>
        </p:txBody>
      </p:sp>
      <p:sp>
        <p:nvSpPr>
          <p:cNvPr id="25" name="Text 23"/>
          <p:cNvSpPr/>
          <p:nvPr/>
        </p:nvSpPr>
        <p:spPr>
          <a:xfrm>
            <a:off x="812800" y="38332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Gillette Guard</a:t>
            </a:r>
            <a:endParaRPr lang="en-US" sz="1200" dirty="0"/>
          </a:p>
        </p:txBody>
      </p:sp>
      <p:sp>
        <p:nvSpPr>
          <p:cNvPr id="26" name="Text 24"/>
          <p:cNvSpPr/>
          <p:nvPr/>
        </p:nvSpPr>
        <p:spPr>
          <a:xfrm>
            <a:off x="3060700" y="383329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80% fewer parts than the older razor; hang hole for small shops; Rs 15</a:t>
            </a:r>
            <a:endParaRPr lang="en-US" sz="1200" dirty="0"/>
          </a:p>
        </p:txBody>
      </p:sp>
      <p:sp>
        <p:nvSpPr>
          <p:cNvPr id="27" name="Text 25"/>
          <p:cNvSpPr/>
          <p:nvPr/>
        </p:nvSpPr>
        <p:spPr>
          <a:xfrm>
            <a:off x="9563100" y="38332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Good</a:t>
            </a:r>
            <a:endParaRPr lang="en-US" sz="1200" dirty="0"/>
          </a:p>
        </p:txBody>
      </p:sp>
      <p:sp>
        <p:nvSpPr>
          <p:cNvPr id="28" name="Shape 26"/>
          <p:cNvSpPr/>
          <p:nvPr/>
        </p:nvSpPr>
        <p:spPr>
          <a:xfrm>
            <a:off x="812800" y="4594225"/>
            <a:ext cx="10566400" cy="0"/>
          </a:xfrm>
          <a:prstGeom prst="line">
            <a:avLst/>
          </a:prstGeom>
          <a:noFill/>
          <a:ln w="6350">
            <a:solidFill>
              <a:srgbClr val="3A3832"/>
            </a:solidFill>
            <a:prstDash val="solid"/>
          </a:ln>
        </p:spPr>
        <p:txBody>
          <a:bodyPr/>
          <a:lstStyle/>
          <a:p>
            <a:endParaRPr lang="en-US"/>
          </a:p>
        </p:txBody>
      </p:sp>
      <p:sp>
        <p:nvSpPr>
          <p:cNvPr id="29" name="Text 27"/>
          <p:cNvSpPr/>
          <p:nvPr/>
        </p:nvSpPr>
        <p:spPr>
          <a:xfrm>
            <a:off x="812800" y="424604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Smart And Handsome</a:t>
            </a:r>
            <a:endParaRPr lang="en-US" sz="1200" dirty="0"/>
          </a:p>
        </p:txBody>
      </p:sp>
      <p:sp>
        <p:nvSpPr>
          <p:cNvPr id="30" name="Text 28"/>
          <p:cNvSpPr/>
          <p:nvPr/>
        </p:nvSpPr>
        <p:spPr>
          <a:xfrm>
            <a:off x="3060700" y="4150792"/>
            <a:ext cx="6540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Packs carry “Fair And Handsome is now Smart And Handsome”; about Rs 15 crore ($1.8M) spent on the change</a:t>
            </a:r>
            <a:endParaRPr lang="en-US" sz="1200" dirty="0"/>
          </a:p>
        </p:txBody>
      </p:sp>
      <p:sp>
        <p:nvSpPr>
          <p:cNvPr id="31" name="Text 29"/>
          <p:cNvSpPr/>
          <p:nvPr/>
        </p:nvSpPr>
        <p:spPr>
          <a:xfrm>
            <a:off x="9563100" y="424604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Good</a:t>
            </a:r>
            <a:endParaRPr lang="en-US" sz="1200" dirty="0"/>
          </a:p>
        </p:txBody>
      </p:sp>
      <p:sp>
        <p:nvSpPr>
          <p:cNvPr id="32" name="Text 30"/>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Packaging of the World, Storyboard18, exchange4media, Business Standard (F)</a:t>
            </a:r>
            <a:endParaRPr lang="en-US" sz="1200" dirty="0"/>
          </a:p>
        </p:txBody>
      </p:sp>
      <p:sp>
        <p:nvSpPr>
          <p:cNvPr id="33" name="Text 31"/>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19</a:t>
            </a:r>
            <a:endParaRPr lang="en-US" sz="1200" dirty="0"/>
          </a:p>
        </p:txBody>
      </p:sp>
      <p:pic>
        <p:nvPicPr>
          <p:cNvPr id="35" name="Graphic 34" descr="Badge Heart with solid fill">
            <a:extLst>
              <a:ext uri="{FF2B5EF4-FFF2-40B4-BE49-F238E27FC236}">
                <a16:creationId xmlns:a16="http://schemas.microsoft.com/office/drawing/2014/main" id="{73F97D4A-9460-BA1B-2602-709BB4C492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77600" y="-23266"/>
            <a:ext cx="914400" cy="914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3 · PACKAGING</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is documented (2 of 2): for eight brands, nothing was found </a:t>
            </a:r>
            <a:r>
              <a:rPr lang="en-US" sz="2500" b="0" i="0" dirty="0">
                <a:solidFill>
                  <a:srgbClr val="F4F0E8"/>
                </a:solidFill>
                <a:highlight>
                  <a:srgbClr val="C0C0C0"/>
                </a:highlight>
                <a:latin typeface="Oswald" pitchFamily="34" charset="0"/>
                <a:ea typeface="Oswald" pitchFamily="34" charset="-122"/>
                <a:cs typeface="Oswald" pitchFamily="34" charset="-120"/>
              </a:rPr>
              <a:t>– do not add</a:t>
            </a:r>
            <a:endParaRPr lang="en-US" sz="2500" dirty="0">
              <a:highlight>
                <a:srgbClr val="C0C0C0"/>
              </a:highlight>
            </a:endParaRPr>
          </a:p>
        </p:txBody>
      </p:sp>
      <p:sp>
        <p:nvSpPr>
          <p:cNvPr id="4" name="Shape 2"/>
          <p:cNvSpPr/>
          <p:nvPr/>
        </p:nvSpPr>
        <p:spPr>
          <a:xfrm>
            <a:off x="812800" y="2114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879600"/>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BRAND</a:t>
            </a:r>
            <a:endParaRPr lang="en-US" sz="1200" dirty="0"/>
          </a:p>
        </p:txBody>
      </p:sp>
      <p:sp>
        <p:nvSpPr>
          <p:cNvPr id="6" name="Text 4"/>
          <p:cNvSpPr/>
          <p:nvPr/>
        </p:nvSpPr>
        <p:spPr>
          <a:xfrm>
            <a:off x="3060700" y="1879600"/>
            <a:ext cx="65405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PACK FACTS FOUND</a:t>
            </a:r>
            <a:endParaRPr lang="en-US" sz="1200" dirty="0"/>
          </a:p>
        </p:txBody>
      </p:sp>
      <p:sp>
        <p:nvSpPr>
          <p:cNvPr id="7" name="Text 5"/>
          <p:cNvSpPr/>
          <p:nvPr/>
        </p:nvSpPr>
        <p:spPr>
          <a:xfrm>
            <a:off x="9563100" y="1879600"/>
            <a:ext cx="1870583"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SOURCE STRENGTH</a:t>
            </a:r>
            <a:endParaRPr lang="en-US" sz="1200" dirty="0"/>
          </a:p>
        </p:txBody>
      </p:sp>
      <p:sp>
        <p:nvSpPr>
          <p:cNvPr id="8" name="Shape 6"/>
          <p:cNvSpPr/>
          <p:nvPr/>
        </p:nvSpPr>
        <p:spPr>
          <a:xfrm>
            <a:off x="812800" y="2435225"/>
            <a:ext cx="10566400" cy="0"/>
          </a:xfrm>
          <a:prstGeom prst="line">
            <a:avLst/>
          </a:prstGeom>
          <a:noFill/>
          <a:ln w="6350">
            <a:solidFill>
              <a:srgbClr val="3A3832"/>
            </a:solidFill>
            <a:prstDash val="solid"/>
          </a:ln>
        </p:spPr>
        <p:txBody>
          <a:bodyPr/>
          <a:lstStyle/>
          <a:p>
            <a:endParaRPr lang="en-US"/>
          </a:p>
        </p:txBody>
      </p:sp>
      <p:sp>
        <p:nvSpPr>
          <p:cNvPr id="9" name="Text 7"/>
          <p:cNvSpPr/>
          <p:nvPr/>
        </p:nvSpPr>
        <p:spPr>
          <a:xfrm>
            <a:off x="812800" y="21822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Engage</a:t>
            </a:r>
            <a:endParaRPr lang="en-US" sz="1200" dirty="0"/>
          </a:p>
        </p:txBody>
      </p:sp>
      <p:sp>
        <p:nvSpPr>
          <p:cNvPr id="10" name="Text 8"/>
          <p:cNvSpPr/>
          <p:nvPr/>
        </p:nvSpPr>
        <p:spPr>
          <a:xfrm>
            <a:off x="3060700" y="218229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17 ml pocket spray at Rs 60; the pocket range took 3.3% share within a year</a:t>
            </a:r>
            <a:endParaRPr lang="en-US" sz="1200" dirty="0"/>
          </a:p>
        </p:txBody>
      </p:sp>
      <p:sp>
        <p:nvSpPr>
          <p:cNvPr id="11" name="Text 9"/>
          <p:cNvSpPr/>
          <p:nvPr/>
        </p:nvSpPr>
        <p:spPr>
          <a:xfrm>
            <a:off x="9563100" y="21822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Medium</a:t>
            </a:r>
            <a:endParaRPr lang="en-US" sz="1200" dirty="0"/>
          </a:p>
        </p:txBody>
      </p:sp>
      <p:sp>
        <p:nvSpPr>
          <p:cNvPr id="12" name="Shape 10"/>
          <p:cNvSpPr/>
          <p:nvPr/>
        </p:nvSpPr>
        <p:spPr>
          <a:xfrm>
            <a:off x="812800" y="2943225"/>
            <a:ext cx="10566400" cy="0"/>
          </a:xfrm>
          <a:prstGeom prst="line">
            <a:avLst/>
          </a:prstGeom>
          <a:noFill/>
          <a:ln w="6350">
            <a:solidFill>
              <a:srgbClr val="3A3832"/>
            </a:solidFill>
            <a:prstDash val="solid"/>
          </a:ln>
        </p:spPr>
        <p:txBody>
          <a:bodyPr/>
          <a:lstStyle/>
          <a:p>
            <a:endParaRPr lang="en-US"/>
          </a:p>
        </p:txBody>
      </p:sp>
      <p:sp>
        <p:nvSpPr>
          <p:cNvPr id="13" name="Text 11"/>
          <p:cNvSpPr/>
          <p:nvPr/>
        </p:nvSpPr>
        <p:spPr>
          <a:xfrm>
            <a:off x="812800" y="259504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Beardo</a:t>
            </a:r>
            <a:endParaRPr lang="en-US" sz="1200" dirty="0"/>
          </a:p>
        </p:txBody>
      </p:sp>
      <p:sp>
        <p:nvSpPr>
          <p:cNvPr id="14" name="Text 12"/>
          <p:cNvSpPr/>
          <p:nvPr/>
        </p:nvSpPr>
        <p:spPr>
          <a:xfrm>
            <a:off x="3060700" y="2499792"/>
            <a:ext cx="6540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Godfather bottle described as black and red; trial kit of ten 5 ml vials; reviews report leaking vials</a:t>
            </a:r>
            <a:endParaRPr lang="en-US" sz="1200" dirty="0"/>
          </a:p>
        </p:txBody>
      </p:sp>
      <p:sp>
        <p:nvSpPr>
          <p:cNvPr id="15" name="Text 13"/>
          <p:cNvSpPr/>
          <p:nvPr/>
        </p:nvSpPr>
        <p:spPr>
          <a:xfrm>
            <a:off x="9563100" y="259504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Medium</a:t>
            </a:r>
            <a:endParaRPr lang="en-US" sz="1200" dirty="0"/>
          </a:p>
        </p:txBody>
      </p:sp>
      <p:sp>
        <p:nvSpPr>
          <p:cNvPr id="16" name="Shape 14"/>
          <p:cNvSpPr/>
          <p:nvPr/>
        </p:nvSpPr>
        <p:spPr>
          <a:xfrm>
            <a:off x="812800" y="3260725"/>
            <a:ext cx="10566400" cy="0"/>
          </a:xfrm>
          <a:prstGeom prst="line">
            <a:avLst/>
          </a:prstGeom>
          <a:noFill/>
          <a:ln w="6350">
            <a:solidFill>
              <a:srgbClr val="3A3832"/>
            </a:solidFill>
            <a:prstDash val="solid"/>
          </a:ln>
        </p:spPr>
        <p:txBody>
          <a:bodyPr/>
          <a:lstStyle/>
          <a:p>
            <a:endParaRPr lang="en-US"/>
          </a:p>
        </p:txBody>
      </p:sp>
      <p:sp>
        <p:nvSpPr>
          <p:cNvPr id="17" name="Text 15"/>
          <p:cNvSpPr/>
          <p:nvPr/>
        </p:nvSpPr>
        <p:spPr>
          <a:xfrm>
            <a:off x="812800" y="30077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Bella Vita, Villain</a:t>
            </a:r>
            <a:endParaRPr lang="en-US" sz="1200" dirty="0"/>
          </a:p>
        </p:txBody>
      </p:sp>
      <p:sp>
        <p:nvSpPr>
          <p:cNvPr id="18" name="Text 16"/>
          <p:cNvSpPr/>
          <p:nvPr/>
        </p:nvSpPr>
        <p:spPr>
          <a:xfrm>
            <a:off x="3060700" y="300779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20 ml pocket perfumes at Rs 149</a:t>
            </a:r>
            <a:endParaRPr lang="en-US" sz="1200" dirty="0"/>
          </a:p>
        </p:txBody>
      </p:sp>
      <p:sp>
        <p:nvSpPr>
          <p:cNvPr id="19" name="Text 17"/>
          <p:cNvSpPr/>
          <p:nvPr/>
        </p:nvSpPr>
        <p:spPr>
          <a:xfrm>
            <a:off x="9563100" y="30077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Medium</a:t>
            </a:r>
            <a:endParaRPr lang="en-US" sz="1200" dirty="0"/>
          </a:p>
        </p:txBody>
      </p:sp>
      <p:sp>
        <p:nvSpPr>
          <p:cNvPr id="20" name="Shape 18"/>
          <p:cNvSpPr/>
          <p:nvPr/>
        </p:nvSpPr>
        <p:spPr>
          <a:xfrm>
            <a:off x="812800" y="3263900"/>
            <a:ext cx="10566400" cy="508000"/>
          </a:xfrm>
          <a:prstGeom prst="rect">
            <a:avLst/>
          </a:prstGeom>
          <a:solidFill>
            <a:srgbClr val="1D1C19"/>
          </a:solidFill>
          <a:ln/>
        </p:spPr>
        <p:txBody>
          <a:bodyPr/>
          <a:lstStyle/>
          <a:p>
            <a:endParaRPr lang="en-US"/>
          </a:p>
        </p:txBody>
      </p:sp>
      <p:sp>
        <p:nvSpPr>
          <p:cNvPr id="21" name="Shape 19"/>
          <p:cNvSpPr/>
          <p:nvPr/>
        </p:nvSpPr>
        <p:spPr>
          <a:xfrm>
            <a:off x="812800" y="3768725"/>
            <a:ext cx="10566400" cy="0"/>
          </a:xfrm>
          <a:prstGeom prst="line">
            <a:avLst/>
          </a:prstGeom>
          <a:noFill/>
          <a:ln w="6350">
            <a:solidFill>
              <a:srgbClr val="3A3832"/>
            </a:solidFill>
            <a:prstDash val="solid"/>
          </a:ln>
        </p:spPr>
        <p:txBody>
          <a:bodyPr/>
          <a:lstStyle/>
          <a:p>
            <a:endParaRPr lang="en-US"/>
          </a:p>
        </p:txBody>
      </p:sp>
      <p:sp>
        <p:nvSpPr>
          <p:cNvPr id="22" name="Text 20"/>
          <p:cNvSpPr/>
          <p:nvPr/>
        </p:nvSpPr>
        <p:spPr>
          <a:xfrm>
            <a:off x="812800" y="342054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The Man Company</a:t>
            </a:r>
            <a:endParaRPr lang="en-US" sz="1200" dirty="0"/>
          </a:p>
        </p:txBody>
      </p:sp>
      <p:sp>
        <p:nvSpPr>
          <p:cNvPr id="23" name="Text 21"/>
          <p:cNvSpPr/>
          <p:nvPr/>
        </p:nvSpPr>
        <p:spPr>
          <a:xfrm>
            <a:off x="3060700" y="3325292"/>
            <a:ext cx="65405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Black gift boxes (four 20 ml perfumes, three 50 ml perfumes at Rs 599). No redesign found since 2022. Reviews of Black report uneven performance between bottles (I)</a:t>
            </a:r>
            <a:endParaRPr lang="en-US" sz="1200" dirty="0"/>
          </a:p>
        </p:txBody>
      </p:sp>
      <p:sp>
        <p:nvSpPr>
          <p:cNvPr id="24" name="Text 22"/>
          <p:cNvSpPr/>
          <p:nvPr/>
        </p:nvSpPr>
        <p:spPr>
          <a:xfrm>
            <a:off x="9563100" y="342054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Medium</a:t>
            </a:r>
            <a:endParaRPr lang="en-US" sz="1200" dirty="0"/>
          </a:p>
        </p:txBody>
      </p:sp>
      <p:sp>
        <p:nvSpPr>
          <p:cNvPr id="25" name="Shape 23"/>
          <p:cNvSpPr/>
          <p:nvPr/>
        </p:nvSpPr>
        <p:spPr>
          <a:xfrm>
            <a:off x="812800" y="4086225"/>
            <a:ext cx="10566400" cy="0"/>
          </a:xfrm>
          <a:prstGeom prst="line">
            <a:avLst/>
          </a:prstGeom>
          <a:noFill/>
          <a:ln w="6350">
            <a:solidFill>
              <a:srgbClr val="3A3832"/>
            </a:solidFill>
            <a:prstDash val="solid"/>
          </a:ln>
        </p:spPr>
        <p:txBody>
          <a:bodyPr/>
          <a:lstStyle/>
          <a:p>
            <a:endParaRPr lang="en-US"/>
          </a:p>
        </p:txBody>
      </p:sp>
      <p:sp>
        <p:nvSpPr>
          <p:cNvPr id="26" name="Text 24"/>
          <p:cNvSpPr/>
          <p:nvPr/>
        </p:nvSpPr>
        <p:spPr>
          <a:xfrm>
            <a:off x="812800" y="3833292"/>
            <a:ext cx="2158365"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Ustraa</a:t>
            </a:r>
            <a:endParaRPr lang="en-US" sz="1200" dirty="0"/>
          </a:p>
        </p:txBody>
      </p:sp>
      <p:sp>
        <p:nvSpPr>
          <p:cNvPr id="27" name="Text 25"/>
          <p:cNvSpPr/>
          <p:nvPr/>
        </p:nvSpPr>
        <p:spPr>
          <a:xfrm>
            <a:off x="3060700" y="383329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Wooden gift box; large pack sizes (200 g face wash)</a:t>
            </a:r>
            <a:endParaRPr lang="en-US" sz="1200" dirty="0"/>
          </a:p>
        </p:txBody>
      </p:sp>
      <p:sp>
        <p:nvSpPr>
          <p:cNvPr id="28" name="Text 26"/>
          <p:cNvSpPr/>
          <p:nvPr/>
        </p:nvSpPr>
        <p:spPr>
          <a:xfrm>
            <a:off x="9563100" y="383329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Weak</a:t>
            </a:r>
            <a:endParaRPr lang="en-US" sz="1200" dirty="0"/>
          </a:p>
        </p:txBody>
      </p:sp>
      <p:sp>
        <p:nvSpPr>
          <p:cNvPr id="29" name="Shape 27"/>
          <p:cNvSpPr/>
          <p:nvPr/>
        </p:nvSpPr>
        <p:spPr>
          <a:xfrm>
            <a:off x="812800" y="4975225"/>
            <a:ext cx="10566400" cy="0"/>
          </a:xfrm>
          <a:prstGeom prst="line">
            <a:avLst/>
          </a:prstGeom>
          <a:noFill/>
          <a:ln w="6350">
            <a:solidFill>
              <a:srgbClr val="3A3832"/>
            </a:solidFill>
            <a:prstDash val="solid"/>
          </a:ln>
        </p:spPr>
        <p:txBody>
          <a:bodyPr/>
          <a:lstStyle/>
          <a:p>
            <a:endParaRPr lang="en-US"/>
          </a:p>
        </p:txBody>
      </p:sp>
      <p:sp>
        <p:nvSpPr>
          <p:cNvPr id="30" name="Text 28"/>
          <p:cNvSpPr/>
          <p:nvPr/>
        </p:nvSpPr>
        <p:spPr>
          <a:xfrm>
            <a:off x="812800" y="4150792"/>
            <a:ext cx="2158365" cy="787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Muuchstac, Traya, Man Matters, Reginald, Denver, Park Avenue, Nivea Men, Garnier Men</a:t>
            </a:r>
            <a:endParaRPr lang="en-US" sz="1200" dirty="0"/>
          </a:p>
        </p:txBody>
      </p:sp>
      <p:sp>
        <p:nvSpPr>
          <p:cNvPr id="31" name="Text 29"/>
          <p:cNvSpPr/>
          <p:nvPr/>
        </p:nvSpPr>
        <p:spPr>
          <a:xfrm>
            <a:off x="3060700" y="4436542"/>
            <a:ext cx="65405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Colour, redesign and complaints not found in text sources</a:t>
            </a:r>
            <a:endParaRPr lang="en-US" sz="1200" dirty="0"/>
          </a:p>
        </p:txBody>
      </p:sp>
      <p:sp>
        <p:nvSpPr>
          <p:cNvPr id="32" name="Text 30"/>
          <p:cNvSpPr/>
          <p:nvPr/>
        </p:nvSpPr>
        <p:spPr>
          <a:xfrm>
            <a:off x="9563100" y="4436542"/>
            <a:ext cx="1870583"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FFF460"/>
                </a:solidFill>
                <a:latin typeface="DM Sans" pitchFamily="34" charset="0"/>
                <a:ea typeface="DM Sans" pitchFamily="34" charset="-122"/>
                <a:cs typeface="DM Sans" pitchFamily="34" charset="-120"/>
              </a:rPr>
              <a:t>None</a:t>
            </a:r>
            <a:endParaRPr lang="en-US" sz="1200" dirty="0"/>
          </a:p>
        </p:txBody>
      </p:sp>
      <p:sp>
        <p:nvSpPr>
          <p:cNvPr id="33" name="Text 31"/>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listings, reviews and trade press (F, medium to weak); TMC review analysis (I)</a:t>
            </a:r>
            <a:endParaRPr lang="en-US" sz="1200" dirty="0"/>
          </a:p>
        </p:txBody>
      </p:sp>
      <p:sp>
        <p:nvSpPr>
          <p:cNvPr id="34" name="Text 32"/>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3 · PACKAGING</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fontScale="90000"/>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The entry pack: rivals let a man try for Rs 59 to 149; no TMC mini was found – </a:t>
            </a:r>
            <a:r>
              <a:rPr lang="en-US" sz="2500" b="0" i="0" dirty="0">
                <a:solidFill>
                  <a:srgbClr val="0070C0"/>
                </a:solidFill>
                <a:latin typeface="Oswald" pitchFamily="34" charset="0"/>
                <a:ea typeface="Oswald" pitchFamily="34" charset="-122"/>
                <a:cs typeface="Oswald" pitchFamily="34" charset="-120"/>
              </a:rPr>
              <a:t>make the difference visible</a:t>
            </a:r>
            <a:endParaRPr lang="en-US" sz="2500" dirty="0">
              <a:solidFill>
                <a:srgbClr val="0070C0"/>
              </a:solidFill>
            </a:endParaRPr>
          </a:p>
        </p:txBody>
      </p:sp>
      <p:sp>
        <p:nvSpPr>
          <p:cNvPr id="4" name="Shape 2"/>
          <p:cNvSpPr/>
          <p:nvPr/>
        </p:nvSpPr>
        <p:spPr>
          <a:xfrm>
            <a:off x="812800" y="21780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943100"/>
            <a:ext cx="405511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ENTRY PACK</a:t>
            </a:r>
            <a:endParaRPr lang="en-US" sz="1200" dirty="0"/>
          </a:p>
        </p:txBody>
      </p:sp>
      <p:sp>
        <p:nvSpPr>
          <p:cNvPr id="6" name="Text 4"/>
          <p:cNvSpPr/>
          <p:nvPr/>
        </p:nvSpPr>
        <p:spPr>
          <a:xfrm>
            <a:off x="4876800" y="1943100"/>
            <a:ext cx="6697472"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PRICE</a:t>
            </a:r>
            <a:endParaRPr lang="en-US" sz="1200" dirty="0"/>
          </a:p>
        </p:txBody>
      </p:sp>
      <p:sp>
        <p:nvSpPr>
          <p:cNvPr id="7" name="Shape 5"/>
          <p:cNvSpPr/>
          <p:nvPr/>
        </p:nvSpPr>
        <p:spPr>
          <a:xfrm>
            <a:off x="812800" y="2714625"/>
            <a:ext cx="10566400" cy="0"/>
          </a:xfrm>
          <a:prstGeom prst="line">
            <a:avLst/>
          </a:prstGeom>
          <a:noFill/>
          <a:ln w="6350">
            <a:solidFill>
              <a:srgbClr val="3A3832"/>
            </a:solidFill>
            <a:prstDash val="solid"/>
          </a:ln>
        </p:spPr>
        <p:txBody>
          <a:bodyPr/>
          <a:lstStyle/>
          <a:p>
            <a:endParaRPr lang="en-US"/>
          </a:p>
        </p:txBody>
      </p:sp>
      <p:sp>
        <p:nvSpPr>
          <p:cNvPr id="8" name="Text 6"/>
          <p:cNvSpPr/>
          <p:nvPr/>
        </p:nvSpPr>
        <p:spPr>
          <a:xfrm>
            <a:off x="812800" y="2379142"/>
            <a:ext cx="405511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Bombay Shaving Co. foam, 50 g</a:t>
            </a:r>
            <a:endParaRPr lang="en-US" sz="1200" dirty="0"/>
          </a:p>
        </p:txBody>
      </p:sp>
      <p:sp>
        <p:nvSpPr>
          <p:cNvPr id="9" name="Shape 7"/>
          <p:cNvSpPr/>
          <p:nvPr/>
        </p:nvSpPr>
        <p:spPr>
          <a:xfrm>
            <a:off x="4876800" y="2372792"/>
            <a:ext cx="501650" cy="203200"/>
          </a:xfrm>
          <a:prstGeom prst="rect">
            <a:avLst/>
          </a:prstGeom>
          <a:solidFill>
            <a:srgbClr val="8F8A7C"/>
          </a:solidFill>
          <a:ln/>
        </p:spPr>
        <p:txBody>
          <a:bodyPr/>
          <a:lstStyle/>
          <a:p>
            <a:endParaRPr lang="en-US"/>
          </a:p>
        </p:txBody>
      </p:sp>
      <p:sp>
        <p:nvSpPr>
          <p:cNvPr id="10" name="Text 8"/>
          <p:cNvSpPr/>
          <p:nvPr/>
        </p:nvSpPr>
        <p:spPr>
          <a:xfrm>
            <a:off x="5454650" y="2379142"/>
            <a:ext cx="450321"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59</a:t>
            </a:r>
            <a:endParaRPr lang="en-US" sz="1200" dirty="0"/>
          </a:p>
        </p:txBody>
      </p:sp>
      <p:sp>
        <p:nvSpPr>
          <p:cNvPr id="11" name="Shape 9"/>
          <p:cNvSpPr/>
          <p:nvPr/>
        </p:nvSpPr>
        <p:spPr>
          <a:xfrm>
            <a:off x="812800" y="3197225"/>
            <a:ext cx="10566400" cy="0"/>
          </a:xfrm>
          <a:prstGeom prst="line">
            <a:avLst/>
          </a:prstGeom>
          <a:noFill/>
          <a:ln w="6350">
            <a:solidFill>
              <a:srgbClr val="3A3832"/>
            </a:solidFill>
            <a:prstDash val="solid"/>
          </a:ln>
        </p:spPr>
        <p:txBody>
          <a:bodyPr/>
          <a:lstStyle/>
          <a:p>
            <a:endParaRPr lang="en-US"/>
          </a:p>
        </p:txBody>
      </p:sp>
      <p:sp>
        <p:nvSpPr>
          <p:cNvPr id="12" name="Text 10"/>
          <p:cNvSpPr/>
          <p:nvPr/>
        </p:nvSpPr>
        <p:spPr>
          <a:xfrm>
            <a:off x="812800" y="2861742"/>
            <a:ext cx="405511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Engage pocket spray, 17 ml</a:t>
            </a:r>
            <a:endParaRPr lang="en-US" sz="1200" dirty="0"/>
          </a:p>
        </p:txBody>
      </p:sp>
      <p:sp>
        <p:nvSpPr>
          <p:cNvPr id="13" name="Shape 11"/>
          <p:cNvSpPr/>
          <p:nvPr/>
        </p:nvSpPr>
        <p:spPr>
          <a:xfrm>
            <a:off x="4876800" y="2855392"/>
            <a:ext cx="508000" cy="203200"/>
          </a:xfrm>
          <a:prstGeom prst="rect">
            <a:avLst/>
          </a:prstGeom>
          <a:solidFill>
            <a:srgbClr val="8F8A7C"/>
          </a:solidFill>
          <a:ln/>
        </p:spPr>
        <p:txBody>
          <a:bodyPr/>
          <a:lstStyle/>
          <a:p>
            <a:endParaRPr lang="en-US"/>
          </a:p>
        </p:txBody>
      </p:sp>
      <p:sp>
        <p:nvSpPr>
          <p:cNvPr id="14" name="Text 12"/>
          <p:cNvSpPr/>
          <p:nvPr/>
        </p:nvSpPr>
        <p:spPr>
          <a:xfrm>
            <a:off x="5461000" y="2861742"/>
            <a:ext cx="466593"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60</a:t>
            </a:r>
            <a:endParaRPr lang="en-US" sz="1200" dirty="0"/>
          </a:p>
        </p:txBody>
      </p:sp>
      <p:sp>
        <p:nvSpPr>
          <p:cNvPr id="15" name="Shape 13"/>
          <p:cNvSpPr/>
          <p:nvPr/>
        </p:nvSpPr>
        <p:spPr>
          <a:xfrm>
            <a:off x="812800" y="3679825"/>
            <a:ext cx="10566400" cy="0"/>
          </a:xfrm>
          <a:prstGeom prst="line">
            <a:avLst/>
          </a:prstGeom>
          <a:noFill/>
          <a:ln w="6350">
            <a:solidFill>
              <a:srgbClr val="3A3832"/>
            </a:solidFill>
            <a:prstDash val="solid"/>
          </a:ln>
        </p:spPr>
        <p:txBody>
          <a:bodyPr/>
          <a:lstStyle/>
          <a:p>
            <a:endParaRPr lang="en-US"/>
          </a:p>
        </p:txBody>
      </p:sp>
      <p:sp>
        <p:nvSpPr>
          <p:cNvPr id="16" name="Text 14"/>
          <p:cNvSpPr/>
          <p:nvPr/>
        </p:nvSpPr>
        <p:spPr>
          <a:xfrm>
            <a:off x="812800" y="3344342"/>
            <a:ext cx="405511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Bombay Shaving Co. razor</a:t>
            </a:r>
            <a:endParaRPr lang="en-US" sz="1200" dirty="0"/>
          </a:p>
        </p:txBody>
      </p:sp>
      <p:sp>
        <p:nvSpPr>
          <p:cNvPr id="17" name="Shape 15"/>
          <p:cNvSpPr/>
          <p:nvPr/>
        </p:nvSpPr>
        <p:spPr>
          <a:xfrm>
            <a:off x="4876800" y="3337992"/>
            <a:ext cx="838200" cy="203200"/>
          </a:xfrm>
          <a:prstGeom prst="rect">
            <a:avLst/>
          </a:prstGeom>
          <a:solidFill>
            <a:srgbClr val="8F8A7C"/>
          </a:solidFill>
          <a:ln/>
        </p:spPr>
        <p:txBody>
          <a:bodyPr/>
          <a:lstStyle/>
          <a:p>
            <a:endParaRPr lang="en-US"/>
          </a:p>
        </p:txBody>
      </p:sp>
      <p:sp>
        <p:nvSpPr>
          <p:cNvPr id="18" name="Text 16"/>
          <p:cNvSpPr/>
          <p:nvPr/>
        </p:nvSpPr>
        <p:spPr>
          <a:xfrm>
            <a:off x="5791200" y="3344342"/>
            <a:ext cx="455877"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99</a:t>
            </a:r>
            <a:endParaRPr lang="en-US" sz="1200" dirty="0"/>
          </a:p>
        </p:txBody>
      </p:sp>
      <p:sp>
        <p:nvSpPr>
          <p:cNvPr id="19" name="Shape 17"/>
          <p:cNvSpPr/>
          <p:nvPr/>
        </p:nvSpPr>
        <p:spPr>
          <a:xfrm>
            <a:off x="812800" y="4162425"/>
            <a:ext cx="10566400" cy="0"/>
          </a:xfrm>
          <a:prstGeom prst="line">
            <a:avLst/>
          </a:prstGeom>
          <a:noFill/>
          <a:ln w="6350">
            <a:solidFill>
              <a:srgbClr val="3A3832"/>
            </a:solidFill>
            <a:prstDash val="solid"/>
          </a:ln>
        </p:spPr>
        <p:txBody>
          <a:bodyPr/>
          <a:lstStyle/>
          <a:p>
            <a:endParaRPr lang="en-US"/>
          </a:p>
        </p:txBody>
      </p:sp>
      <p:sp>
        <p:nvSpPr>
          <p:cNvPr id="20" name="Text 18"/>
          <p:cNvSpPr/>
          <p:nvPr/>
        </p:nvSpPr>
        <p:spPr>
          <a:xfrm>
            <a:off x="812800" y="3826942"/>
            <a:ext cx="4055110"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F4F0E8"/>
                </a:solidFill>
                <a:latin typeface="DM Sans" pitchFamily="34" charset="0"/>
                <a:ea typeface="DM Sans" pitchFamily="34" charset="-122"/>
                <a:cs typeface="DM Sans" pitchFamily="34" charset="-120"/>
              </a:rPr>
              <a:t>Bella Vita, Villain pocket perfume, 20 ml</a:t>
            </a:r>
            <a:endParaRPr lang="en-US" sz="1200" dirty="0"/>
          </a:p>
        </p:txBody>
      </p:sp>
      <p:sp>
        <p:nvSpPr>
          <p:cNvPr id="21" name="Shape 19"/>
          <p:cNvSpPr/>
          <p:nvPr/>
        </p:nvSpPr>
        <p:spPr>
          <a:xfrm>
            <a:off x="4876800" y="3820592"/>
            <a:ext cx="1263650" cy="203200"/>
          </a:xfrm>
          <a:prstGeom prst="rect">
            <a:avLst/>
          </a:prstGeom>
          <a:solidFill>
            <a:srgbClr val="8F8A7C"/>
          </a:solidFill>
          <a:ln/>
        </p:spPr>
        <p:txBody>
          <a:bodyPr/>
          <a:lstStyle/>
          <a:p>
            <a:endParaRPr lang="en-US"/>
          </a:p>
        </p:txBody>
      </p:sp>
      <p:sp>
        <p:nvSpPr>
          <p:cNvPr id="22" name="Text 20"/>
          <p:cNvSpPr/>
          <p:nvPr/>
        </p:nvSpPr>
        <p:spPr>
          <a:xfrm>
            <a:off x="6216650" y="3826942"/>
            <a:ext cx="513821"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Rs 149</a:t>
            </a:r>
            <a:endParaRPr lang="en-US" sz="1200" dirty="0"/>
          </a:p>
        </p:txBody>
      </p:sp>
      <p:sp>
        <p:nvSpPr>
          <p:cNvPr id="23" name="Shape 21"/>
          <p:cNvSpPr/>
          <p:nvPr/>
        </p:nvSpPr>
        <p:spPr>
          <a:xfrm>
            <a:off x="812800" y="4645025"/>
            <a:ext cx="10566400" cy="0"/>
          </a:xfrm>
          <a:prstGeom prst="line">
            <a:avLst/>
          </a:prstGeom>
          <a:noFill/>
          <a:ln w="6350">
            <a:solidFill>
              <a:srgbClr val="3A3832"/>
            </a:solidFill>
            <a:prstDash val="solid"/>
          </a:ln>
        </p:spPr>
        <p:txBody>
          <a:bodyPr/>
          <a:lstStyle/>
          <a:p>
            <a:endParaRPr lang="en-US"/>
          </a:p>
        </p:txBody>
      </p:sp>
      <p:sp>
        <p:nvSpPr>
          <p:cNvPr id="24" name="Text 22"/>
          <p:cNvSpPr/>
          <p:nvPr/>
        </p:nvSpPr>
        <p:spPr>
          <a:xfrm>
            <a:off x="812800" y="4309542"/>
            <a:ext cx="4055110"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4F0E8"/>
                </a:solidFill>
                <a:latin typeface="DM Sans" pitchFamily="34" charset="0"/>
                <a:ea typeface="DM Sans" pitchFamily="34" charset="-122"/>
                <a:cs typeface="DM Sans" pitchFamily="34" charset="-120"/>
              </a:rPr>
              <a:t>TMC: smallest perfume format, a gift box</a:t>
            </a:r>
            <a:endParaRPr lang="en-US" sz="1200" dirty="0"/>
          </a:p>
        </p:txBody>
      </p:sp>
      <p:sp>
        <p:nvSpPr>
          <p:cNvPr id="25" name="Shape 23"/>
          <p:cNvSpPr/>
          <p:nvPr/>
        </p:nvSpPr>
        <p:spPr>
          <a:xfrm>
            <a:off x="4876800" y="4303192"/>
            <a:ext cx="4248150" cy="203200"/>
          </a:xfrm>
          <a:prstGeom prst="rect">
            <a:avLst/>
          </a:prstGeom>
          <a:solidFill>
            <a:srgbClr val="FF7A6B"/>
          </a:solidFill>
          <a:ln/>
        </p:spPr>
        <p:txBody>
          <a:bodyPr/>
          <a:lstStyle/>
          <a:p>
            <a:endParaRPr lang="en-US"/>
          </a:p>
        </p:txBody>
      </p:sp>
      <p:sp>
        <p:nvSpPr>
          <p:cNvPr id="26" name="Shape 24"/>
          <p:cNvSpPr/>
          <p:nvPr/>
        </p:nvSpPr>
        <p:spPr>
          <a:xfrm>
            <a:off x="9124950" y="4303192"/>
            <a:ext cx="850900" cy="203200"/>
          </a:xfrm>
          <a:prstGeom prst="rect">
            <a:avLst/>
          </a:prstGeom>
          <a:solidFill>
            <a:srgbClr val="FF7A6B">
              <a:alpha val="45000"/>
            </a:srgbClr>
          </a:solidFill>
          <a:ln/>
        </p:spPr>
        <p:txBody>
          <a:bodyPr/>
          <a:lstStyle/>
          <a:p>
            <a:endParaRPr lang="en-US"/>
          </a:p>
        </p:txBody>
      </p:sp>
      <p:sp>
        <p:nvSpPr>
          <p:cNvPr id="27" name="Text 25"/>
          <p:cNvSpPr/>
          <p:nvPr/>
        </p:nvSpPr>
        <p:spPr>
          <a:xfrm>
            <a:off x="10052050" y="4309542"/>
            <a:ext cx="1068189" cy="215900"/>
          </a:xfrm>
          <a:prstGeom prst="rect">
            <a:avLst/>
          </a:prstGeom>
          <a:noFill/>
          <a:ln/>
        </p:spPr>
        <p:txBody>
          <a:bodyPr wrap="non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Rs 499 to 599</a:t>
            </a:r>
            <a:endParaRPr lang="en-US" sz="1200" dirty="0"/>
          </a:p>
        </p:txBody>
      </p:sp>
      <p:sp>
        <p:nvSpPr>
          <p:cNvPr id="28" name="Text 26"/>
          <p:cNvSpPr/>
          <p:nvPr/>
        </p:nvSpPr>
        <p:spPr>
          <a:xfrm>
            <a:off x="812800" y="5321300"/>
            <a:ext cx="10566400" cy="673100"/>
          </a:xfrm>
          <a:prstGeom prst="rect">
            <a:avLst/>
          </a:prstGeom>
          <a:solidFill>
            <a:srgbClr val="FFF460"/>
          </a:solidFill>
          <a:ln/>
        </p:spPr>
        <p:txBody>
          <a:bodyPr wrap="square" lIns="203200" tIns="0" rIns="0" bIns="0" rtlCol="0" anchor="ctr">
            <a:normAutofit/>
          </a:bodyPr>
          <a:lstStyle/>
          <a:p>
            <a:pPr marL="0" indent="0" algn="l">
              <a:lnSpc>
                <a:spcPts val="1750"/>
              </a:lnSpc>
              <a:buNone/>
            </a:pPr>
            <a:r>
              <a:rPr lang="en-US" sz="1400" b="1" dirty="0">
                <a:solidFill>
                  <a:srgbClr val="14140F"/>
                </a:solidFill>
                <a:latin typeface="DM Sans" pitchFamily="34" charset="0"/>
                <a:ea typeface="DM Sans" pitchFamily="34" charset="-122"/>
                <a:cs typeface="DM Sans" pitchFamily="34" charset="-120"/>
              </a:rPr>
              <a:t>Trying a rival costs Rs 59 to 149. Trying TMC's perfume costs Rs 499 to 599. The Rs 99 and Rs 199 minis are in the v7 plan, not on the shelf.</a:t>
            </a:r>
            <a:endParaRPr lang="en-US" sz="1400" dirty="0"/>
          </a:p>
        </p:txBody>
      </p:sp>
      <p:sp>
        <p:nvSpPr>
          <p:cNvPr id="29" name="Text 27"/>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brand sites and listings, October 2026 (F); Profit Engine v7 (I)</a:t>
            </a:r>
            <a:endParaRPr lang="en-US" sz="1200" dirty="0"/>
          </a:p>
        </p:txBody>
      </p:sp>
      <p:sp>
        <p:nvSpPr>
          <p:cNvPr id="30" name="Text 28"/>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21</a:t>
            </a:r>
            <a:endParaRPr lang="en-US" sz="1200" dirty="0"/>
          </a:p>
        </p:txBody>
      </p:sp>
      <p:pic>
        <p:nvPicPr>
          <p:cNvPr id="32" name="Graphic 31" descr="Bar graph with upward trend with solid fill">
            <a:extLst>
              <a:ext uri="{FF2B5EF4-FFF2-40B4-BE49-F238E27FC236}">
                <a16:creationId xmlns:a16="http://schemas.microsoft.com/office/drawing/2014/main" id="{9C6480F5-6DF1-85FC-EF3E-14DFE1DF1D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0" y="56618"/>
            <a:ext cx="699563" cy="69956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3 · PACKAGING</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Five differences between packs – </a:t>
            </a:r>
            <a:r>
              <a:rPr lang="en-US" sz="2500" b="0" i="0" dirty="0">
                <a:solidFill>
                  <a:srgbClr val="00B050"/>
                </a:solidFill>
                <a:latin typeface="Oswald" pitchFamily="34" charset="0"/>
                <a:ea typeface="Oswald" pitchFamily="34" charset="-122"/>
                <a:cs typeface="Oswald" pitchFamily="34" charset="-120"/>
              </a:rPr>
              <a:t>conclusion but visualize them (what each means)</a:t>
            </a:r>
            <a:endParaRPr lang="en-US" sz="2500" dirty="0">
              <a:solidFill>
                <a:srgbClr val="00B050"/>
              </a:solidFill>
            </a:endParaRPr>
          </a:p>
        </p:txBody>
      </p:sp>
      <p:sp>
        <p:nvSpPr>
          <p:cNvPr id="4" name="Shape 2"/>
          <p:cNvSpPr/>
          <p:nvPr/>
        </p:nvSpPr>
        <p:spPr>
          <a:xfrm>
            <a:off x="812800" y="1841500"/>
            <a:ext cx="5207000" cy="1238250"/>
          </a:xfrm>
          <a:prstGeom prst="rect">
            <a:avLst/>
          </a:prstGeom>
          <a:solidFill>
            <a:srgbClr val="1D1C19"/>
          </a:solidFill>
          <a:ln/>
        </p:spPr>
        <p:txBody>
          <a:bodyPr/>
          <a:lstStyle/>
          <a:p>
            <a:endParaRPr lang="en-US"/>
          </a:p>
        </p:txBody>
      </p:sp>
      <p:sp>
        <p:nvSpPr>
          <p:cNvPr id="5" name="Text 3"/>
          <p:cNvSpPr/>
          <p:nvPr/>
        </p:nvSpPr>
        <p:spPr>
          <a:xfrm>
            <a:off x="990600" y="2019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1</a:t>
            </a:r>
            <a:endParaRPr lang="en-US" sz="2200" dirty="0"/>
          </a:p>
        </p:txBody>
      </p:sp>
      <p:sp>
        <p:nvSpPr>
          <p:cNvPr id="6" name="Text 4"/>
          <p:cNvSpPr/>
          <p:nvPr/>
        </p:nvSpPr>
        <p:spPr>
          <a:xfrm>
            <a:off x="1498600" y="20193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Colour</a:t>
            </a:r>
            <a:endParaRPr lang="en-US" sz="1400" dirty="0"/>
          </a:p>
        </p:txBody>
      </p:sp>
      <p:sp>
        <p:nvSpPr>
          <p:cNvPr id="7" name="Text 5"/>
          <p:cNvSpPr/>
          <p:nvPr/>
        </p:nvSpPr>
        <p:spPr>
          <a:xfrm>
            <a:off x="1498600" y="2283420"/>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Black and dark blue are the default for men. White (CODE), pharmacy-plain (Minimalist) and bright blue (Bombay Shaving Company) are deliberate breaks.</a:t>
            </a:r>
            <a:endParaRPr lang="en-US" sz="1200" dirty="0"/>
          </a:p>
        </p:txBody>
      </p:sp>
      <p:sp>
        <p:nvSpPr>
          <p:cNvPr id="8" name="Shape 6"/>
          <p:cNvSpPr/>
          <p:nvPr/>
        </p:nvSpPr>
        <p:spPr>
          <a:xfrm>
            <a:off x="6172200" y="1841500"/>
            <a:ext cx="5207000" cy="1238250"/>
          </a:xfrm>
          <a:prstGeom prst="rect">
            <a:avLst/>
          </a:prstGeom>
          <a:solidFill>
            <a:srgbClr val="1D1C19"/>
          </a:solidFill>
          <a:ln/>
        </p:spPr>
        <p:txBody>
          <a:bodyPr/>
          <a:lstStyle/>
          <a:p>
            <a:endParaRPr lang="en-US"/>
          </a:p>
        </p:txBody>
      </p:sp>
      <p:sp>
        <p:nvSpPr>
          <p:cNvPr id="9" name="Text 7"/>
          <p:cNvSpPr/>
          <p:nvPr/>
        </p:nvSpPr>
        <p:spPr>
          <a:xfrm>
            <a:off x="6350000" y="2019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2</a:t>
            </a:r>
            <a:endParaRPr lang="en-US" sz="2200" dirty="0"/>
          </a:p>
        </p:txBody>
      </p:sp>
      <p:sp>
        <p:nvSpPr>
          <p:cNvPr id="10" name="Text 8"/>
          <p:cNvSpPr/>
          <p:nvPr/>
        </p:nvSpPr>
        <p:spPr>
          <a:xfrm>
            <a:off x="6858000" y="201930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Format as proof</a:t>
            </a:r>
            <a:endParaRPr lang="en-US" sz="1400" dirty="0"/>
          </a:p>
        </p:txBody>
      </p:sp>
      <p:sp>
        <p:nvSpPr>
          <p:cNvPr id="11" name="Text 9"/>
          <p:cNvSpPr/>
          <p:nvPr/>
        </p:nvSpPr>
        <p:spPr>
          <a:xfrm>
            <a:off x="6858000" y="2283420"/>
            <a:ext cx="4473702" cy="6197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A pump with no gas shows the Fogg claim. A tube with a percentage shows the Minimalist claim. A perfume bottle shows nothing about how long it lasts.</a:t>
            </a:r>
            <a:endParaRPr lang="en-US" sz="1200" dirty="0"/>
          </a:p>
        </p:txBody>
      </p:sp>
      <p:sp>
        <p:nvSpPr>
          <p:cNvPr id="12" name="Shape 10"/>
          <p:cNvSpPr/>
          <p:nvPr/>
        </p:nvSpPr>
        <p:spPr>
          <a:xfrm>
            <a:off x="812800" y="3232150"/>
            <a:ext cx="5207000" cy="1238250"/>
          </a:xfrm>
          <a:prstGeom prst="rect">
            <a:avLst/>
          </a:prstGeom>
          <a:solidFill>
            <a:srgbClr val="1D1C19"/>
          </a:solidFill>
          <a:ln/>
        </p:spPr>
        <p:txBody>
          <a:bodyPr/>
          <a:lstStyle/>
          <a:p>
            <a:endParaRPr lang="en-US"/>
          </a:p>
        </p:txBody>
      </p:sp>
      <p:sp>
        <p:nvSpPr>
          <p:cNvPr id="13" name="Text 11"/>
          <p:cNvSpPr/>
          <p:nvPr/>
        </p:nvSpPr>
        <p:spPr>
          <a:xfrm>
            <a:off x="990600" y="340995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3</a:t>
            </a:r>
            <a:endParaRPr lang="en-US" sz="2200" dirty="0"/>
          </a:p>
        </p:txBody>
      </p:sp>
      <p:sp>
        <p:nvSpPr>
          <p:cNvPr id="14" name="Text 12"/>
          <p:cNvSpPr/>
          <p:nvPr/>
        </p:nvSpPr>
        <p:spPr>
          <a:xfrm>
            <a:off x="1498600" y="340995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Entry pack</a:t>
            </a:r>
            <a:endParaRPr lang="en-US" sz="1400" dirty="0"/>
          </a:p>
        </p:txBody>
      </p:sp>
      <p:sp>
        <p:nvSpPr>
          <p:cNvPr id="15" name="Text 13"/>
          <p:cNvSpPr/>
          <p:nvPr/>
        </p:nvSpPr>
        <p:spPr>
          <a:xfrm>
            <a:off x="1498600" y="3674070"/>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Rivals sell pocket and trial sizes at Rs 59 to 149. TMC's small perfume formats are gift boxes at Rs 499 to 599.</a:t>
            </a:r>
            <a:endParaRPr lang="en-US" sz="1200" dirty="0"/>
          </a:p>
        </p:txBody>
      </p:sp>
      <p:sp>
        <p:nvSpPr>
          <p:cNvPr id="16" name="Shape 14"/>
          <p:cNvSpPr/>
          <p:nvPr/>
        </p:nvSpPr>
        <p:spPr>
          <a:xfrm>
            <a:off x="6172200" y="3232150"/>
            <a:ext cx="5207000" cy="1238250"/>
          </a:xfrm>
          <a:prstGeom prst="rect">
            <a:avLst/>
          </a:prstGeom>
          <a:solidFill>
            <a:srgbClr val="1D1C19"/>
          </a:solidFill>
          <a:ln/>
        </p:spPr>
        <p:txBody>
          <a:bodyPr/>
          <a:lstStyle/>
          <a:p>
            <a:endParaRPr lang="en-US"/>
          </a:p>
        </p:txBody>
      </p:sp>
      <p:sp>
        <p:nvSpPr>
          <p:cNvPr id="17" name="Text 15"/>
          <p:cNvSpPr/>
          <p:nvPr/>
        </p:nvSpPr>
        <p:spPr>
          <a:xfrm>
            <a:off x="6350000" y="340995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4</a:t>
            </a:r>
            <a:endParaRPr lang="en-US" sz="2200" dirty="0"/>
          </a:p>
        </p:txBody>
      </p:sp>
      <p:sp>
        <p:nvSpPr>
          <p:cNvPr id="18" name="Text 16"/>
          <p:cNvSpPr/>
          <p:nvPr/>
        </p:nvSpPr>
        <p:spPr>
          <a:xfrm>
            <a:off x="6858000" y="3409950"/>
            <a:ext cx="4473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Gift box against daily pack</a:t>
            </a:r>
            <a:endParaRPr lang="en-US" sz="1400" dirty="0"/>
          </a:p>
        </p:txBody>
      </p:sp>
      <p:sp>
        <p:nvSpPr>
          <p:cNvPr id="19" name="Text 17"/>
          <p:cNvSpPr/>
          <p:nvPr/>
        </p:nvSpPr>
        <p:spPr>
          <a:xfrm>
            <a:off x="6858000" y="3674070"/>
            <a:ext cx="4473702" cy="42161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TMC, Ustraa, Beardo and CODE design for the gift. The clinical brands design for the bathroom shelf and sell packs of three.</a:t>
            </a:r>
            <a:endParaRPr lang="en-US" sz="1200" dirty="0"/>
          </a:p>
        </p:txBody>
      </p:sp>
      <p:sp>
        <p:nvSpPr>
          <p:cNvPr id="20" name="Shape 18"/>
          <p:cNvSpPr/>
          <p:nvPr/>
        </p:nvSpPr>
        <p:spPr>
          <a:xfrm>
            <a:off x="812800" y="4622800"/>
            <a:ext cx="10566400" cy="1041400"/>
          </a:xfrm>
          <a:prstGeom prst="rect">
            <a:avLst/>
          </a:prstGeom>
          <a:solidFill>
            <a:srgbClr val="1D1C19"/>
          </a:solidFill>
          <a:ln/>
        </p:spPr>
        <p:txBody>
          <a:bodyPr/>
          <a:lstStyle/>
          <a:p>
            <a:endParaRPr lang="en-US"/>
          </a:p>
        </p:txBody>
      </p:sp>
      <p:sp>
        <p:nvSpPr>
          <p:cNvPr id="21" name="Text 19"/>
          <p:cNvSpPr/>
          <p:nvPr/>
        </p:nvSpPr>
        <p:spPr>
          <a:xfrm>
            <a:off x="990600" y="4800600"/>
            <a:ext cx="4572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FFF460"/>
                </a:solidFill>
                <a:latin typeface="Oswald" pitchFamily="34" charset="0"/>
                <a:ea typeface="Oswald" pitchFamily="34" charset="-122"/>
                <a:cs typeface="Oswald" pitchFamily="34" charset="-120"/>
              </a:rPr>
              <a:t>5</a:t>
            </a:r>
            <a:endParaRPr lang="en-US" sz="2200" dirty="0"/>
          </a:p>
        </p:txBody>
      </p:sp>
      <p:sp>
        <p:nvSpPr>
          <p:cNvPr id="22" name="Text 20"/>
          <p:cNvSpPr/>
          <p:nvPr/>
        </p:nvSpPr>
        <p:spPr>
          <a:xfrm>
            <a:off x="1498600" y="4800600"/>
            <a:ext cx="999388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0E8"/>
                </a:solidFill>
                <a:latin typeface="DM Sans" pitchFamily="34" charset="0"/>
                <a:ea typeface="DM Sans" pitchFamily="34" charset="-122"/>
                <a:cs typeface="DM Sans" pitchFamily="34" charset="-120"/>
              </a:rPr>
              <a:t>Designed for which screen or shelf</a:t>
            </a:r>
            <a:endParaRPr lang="en-US" sz="1400" dirty="0"/>
          </a:p>
        </p:txBody>
      </p:sp>
      <p:sp>
        <p:nvSpPr>
          <p:cNvPr id="23" name="Text 21"/>
          <p:cNvSpPr/>
          <p:nvPr/>
        </p:nvSpPr>
        <p:spPr>
          <a:xfrm>
            <a:off x="1498600" y="5064720"/>
            <a:ext cx="9993884"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5B0A3"/>
                </a:solidFill>
                <a:latin typeface="DM Sans" pitchFamily="34" charset="0"/>
                <a:ea typeface="DM Sans" pitchFamily="34" charset="-122"/>
                <a:cs typeface="DM Sans" pitchFamily="34" charset="-120"/>
              </a:rPr>
              <a:t>One brand redesigned for the kirana shelf at two to four metres. Quick commerce needs the opposite: a pack readable at thumbnail size.</a:t>
            </a:r>
            <a:endParaRPr lang="en-US" sz="1200" dirty="0"/>
          </a:p>
        </p:txBody>
      </p:sp>
      <p:sp>
        <p:nvSpPr>
          <p:cNvPr id="24" name="Text 22"/>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Packaging South Asia, design case studies (F); Companion document, section 3.2</a:t>
            </a:r>
            <a:endParaRPr lang="en-US" sz="1200" dirty="0"/>
          </a:p>
        </p:txBody>
      </p:sp>
      <p:sp>
        <p:nvSpPr>
          <p:cNvPr id="25" name="Text 23"/>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22</a:t>
            </a:r>
            <a:endParaRPr lang="en-US" sz="1200" dirty="0"/>
          </a:p>
        </p:txBody>
      </p:sp>
      <p:pic>
        <p:nvPicPr>
          <p:cNvPr id="27" name="Graphic 26" descr="Blueprint with solid fill">
            <a:extLst>
              <a:ext uri="{FF2B5EF4-FFF2-40B4-BE49-F238E27FC236}">
                <a16:creationId xmlns:a16="http://schemas.microsoft.com/office/drawing/2014/main" id="{286344A1-1A8B-C587-4D9B-ED4C260034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3 · PACKAGING</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works in packaging, and what does not</a:t>
            </a:r>
            <a:endParaRPr lang="en-US" sz="2500" dirty="0"/>
          </a:p>
        </p:txBody>
      </p:sp>
      <p:sp>
        <p:nvSpPr>
          <p:cNvPr id="4" name="Shape 2"/>
          <p:cNvSpPr/>
          <p:nvPr/>
        </p:nvSpPr>
        <p:spPr>
          <a:xfrm>
            <a:off x="812800" y="1860550"/>
            <a:ext cx="10566400" cy="0"/>
          </a:xfrm>
          <a:prstGeom prst="line">
            <a:avLst/>
          </a:prstGeom>
          <a:noFill/>
          <a:ln w="12700">
            <a:solidFill>
              <a:srgbClr val="B5B0A3"/>
            </a:solidFill>
            <a:prstDash val="solid"/>
          </a:ln>
        </p:spPr>
        <p:txBody>
          <a:bodyPr/>
          <a:lstStyle/>
          <a:p>
            <a:endParaRPr lang="en-US"/>
          </a:p>
        </p:txBody>
      </p:sp>
      <p:sp>
        <p:nvSpPr>
          <p:cNvPr id="5" name="Text 3"/>
          <p:cNvSpPr/>
          <p:nvPr/>
        </p:nvSpPr>
        <p:spPr>
          <a:xfrm>
            <a:off x="812800" y="1625600"/>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WORKS</a:t>
            </a:r>
            <a:endParaRPr lang="en-US" sz="1200" dirty="0"/>
          </a:p>
        </p:txBody>
      </p:sp>
      <p:sp>
        <p:nvSpPr>
          <p:cNvPr id="6" name="Text 4"/>
          <p:cNvSpPr/>
          <p:nvPr/>
        </p:nvSpPr>
        <p:spPr>
          <a:xfrm>
            <a:off x="3505200" y="1625600"/>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EVIDENCE</a:t>
            </a:r>
            <a:endParaRPr lang="en-US" sz="1200" dirty="0"/>
          </a:p>
        </p:txBody>
      </p:sp>
      <p:sp>
        <p:nvSpPr>
          <p:cNvPr id="7" name="Text 5"/>
          <p:cNvSpPr/>
          <p:nvPr/>
        </p:nvSpPr>
        <p:spPr>
          <a:xfrm>
            <a:off x="6197600" y="1625600"/>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DOES NOT WORK</a:t>
            </a:r>
            <a:endParaRPr lang="en-US" sz="1200" dirty="0"/>
          </a:p>
        </p:txBody>
      </p:sp>
      <p:sp>
        <p:nvSpPr>
          <p:cNvPr id="8" name="Text 6"/>
          <p:cNvSpPr/>
          <p:nvPr/>
        </p:nvSpPr>
        <p:spPr>
          <a:xfrm>
            <a:off x="8890000" y="1625600"/>
            <a:ext cx="2563876"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B5B0A3"/>
                </a:solidFill>
                <a:latin typeface="DM Sans" pitchFamily="34" charset="0"/>
                <a:ea typeface="DM Sans" pitchFamily="34" charset="-122"/>
                <a:cs typeface="DM Sans" pitchFamily="34" charset="-120"/>
              </a:rPr>
              <a:t>EVIDENCE</a:t>
            </a:r>
            <a:endParaRPr lang="en-US" sz="1200" dirty="0"/>
          </a:p>
        </p:txBody>
      </p:sp>
      <p:sp>
        <p:nvSpPr>
          <p:cNvPr id="9" name="Shape 7"/>
          <p:cNvSpPr/>
          <p:nvPr/>
        </p:nvSpPr>
        <p:spPr>
          <a:xfrm>
            <a:off x="812800" y="2359025"/>
            <a:ext cx="10566400" cy="0"/>
          </a:xfrm>
          <a:prstGeom prst="line">
            <a:avLst/>
          </a:prstGeom>
          <a:noFill/>
          <a:ln w="6350">
            <a:solidFill>
              <a:srgbClr val="3A3832"/>
            </a:solidFill>
            <a:prstDash val="solid"/>
          </a:ln>
        </p:spPr>
        <p:txBody>
          <a:bodyPr/>
          <a:lstStyle/>
          <a:p>
            <a:endParaRPr lang="en-US"/>
          </a:p>
        </p:txBody>
      </p:sp>
      <p:sp>
        <p:nvSpPr>
          <p:cNvPr id="10" name="Text 8"/>
          <p:cNvSpPr/>
          <p:nvPr/>
        </p:nvSpPr>
        <p:spPr>
          <a:xfrm>
            <a:off x="812800" y="2017192"/>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A pack that proves the claim</a:t>
            </a:r>
            <a:endParaRPr lang="en-US" sz="1200" dirty="0"/>
          </a:p>
        </p:txBody>
      </p:sp>
      <p:sp>
        <p:nvSpPr>
          <p:cNvPr id="11" name="Text 9"/>
          <p:cNvSpPr/>
          <p:nvPr/>
        </p:nvSpPr>
        <p:spPr>
          <a:xfrm>
            <a:off x="3505200" y="2017192"/>
            <a:ext cx="2616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Fogg</a:t>
            </a:r>
            <a:endParaRPr lang="en-US" sz="1200" dirty="0"/>
          </a:p>
        </p:txBody>
      </p:sp>
      <p:sp>
        <p:nvSpPr>
          <p:cNvPr id="12" name="Text 10"/>
          <p:cNvSpPr/>
          <p:nvPr/>
        </p:nvSpPr>
        <p:spPr>
          <a:xfrm>
            <a:off x="6197600" y="1921942"/>
            <a:ext cx="26162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A pack that only signals “premium”</a:t>
            </a:r>
            <a:endParaRPr lang="en-US" sz="1200" dirty="0"/>
          </a:p>
        </p:txBody>
      </p:sp>
      <p:sp>
        <p:nvSpPr>
          <p:cNvPr id="13" name="Text 11"/>
          <p:cNvSpPr/>
          <p:nvPr/>
        </p:nvSpPr>
        <p:spPr>
          <a:xfrm>
            <a:off x="8890000" y="1921942"/>
            <a:ext cx="2563876"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Sameness of black packs across the persona group</a:t>
            </a:r>
            <a:endParaRPr lang="en-US" sz="1200" dirty="0"/>
          </a:p>
        </p:txBody>
      </p:sp>
      <p:sp>
        <p:nvSpPr>
          <p:cNvPr id="14" name="Shape 12"/>
          <p:cNvSpPr/>
          <p:nvPr/>
        </p:nvSpPr>
        <p:spPr>
          <a:xfrm>
            <a:off x="812800" y="3044825"/>
            <a:ext cx="10566400" cy="0"/>
          </a:xfrm>
          <a:prstGeom prst="line">
            <a:avLst/>
          </a:prstGeom>
          <a:noFill/>
          <a:ln w="6350">
            <a:solidFill>
              <a:srgbClr val="3A3832"/>
            </a:solidFill>
            <a:prstDash val="solid"/>
          </a:ln>
        </p:spPr>
        <p:txBody>
          <a:bodyPr/>
          <a:lstStyle/>
          <a:p>
            <a:endParaRPr lang="en-US"/>
          </a:p>
        </p:txBody>
      </p:sp>
      <p:sp>
        <p:nvSpPr>
          <p:cNvPr id="15" name="Text 13"/>
          <p:cNvSpPr/>
          <p:nvPr/>
        </p:nvSpPr>
        <p:spPr>
          <a:xfrm>
            <a:off x="812800" y="2607742"/>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Breaking the category colour</a:t>
            </a:r>
            <a:endParaRPr lang="en-US" sz="1200" dirty="0"/>
          </a:p>
        </p:txBody>
      </p:sp>
      <p:sp>
        <p:nvSpPr>
          <p:cNvPr id="16" name="Text 14"/>
          <p:cNvSpPr/>
          <p:nvPr/>
        </p:nvSpPr>
        <p:spPr>
          <a:xfrm>
            <a:off x="3505200" y="2512492"/>
            <a:ext cx="26162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CODE white; Bombay Shaving blue, with offline growth</a:t>
            </a:r>
            <a:endParaRPr lang="en-US" sz="1200" dirty="0"/>
          </a:p>
        </p:txBody>
      </p:sp>
      <p:sp>
        <p:nvSpPr>
          <p:cNvPr id="17" name="Text 15"/>
          <p:cNvSpPr/>
          <p:nvPr/>
        </p:nvSpPr>
        <p:spPr>
          <a:xfrm>
            <a:off x="6197600" y="2512492"/>
            <a:ext cx="26162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Dark, low-contrast or gold-foil packs on quick commerce</a:t>
            </a:r>
            <a:endParaRPr lang="en-US" sz="1200" dirty="0"/>
          </a:p>
        </p:txBody>
      </p:sp>
      <p:sp>
        <p:nvSpPr>
          <p:cNvPr id="18" name="Text 16"/>
          <p:cNvSpPr/>
          <p:nvPr/>
        </p:nvSpPr>
        <p:spPr>
          <a:xfrm>
            <a:off x="8890000" y="2417242"/>
            <a:ext cx="2563876" cy="596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They “lose almost all contrast” on a white page (a design agency's view)</a:t>
            </a:r>
            <a:endParaRPr lang="en-US" sz="1200" dirty="0"/>
          </a:p>
        </p:txBody>
      </p:sp>
      <p:sp>
        <p:nvSpPr>
          <p:cNvPr id="19" name="Shape 17"/>
          <p:cNvSpPr/>
          <p:nvPr/>
        </p:nvSpPr>
        <p:spPr>
          <a:xfrm>
            <a:off x="812800" y="3540125"/>
            <a:ext cx="10566400" cy="0"/>
          </a:xfrm>
          <a:prstGeom prst="line">
            <a:avLst/>
          </a:prstGeom>
          <a:noFill/>
          <a:ln w="6350">
            <a:solidFill>
              <a:srgbClr val="3A3832"/>
            </a:solidFill>
            <a:prstDash val="solid"/>
          </a:ln>
        </p:spPr>
        <p:txBody>
          <a:bodyPr/>
          <a:lstStyle/>
          <a:p>
            <a:endParaRPr lang="en-US"/>
          </a:p>
        </p:txBody>
      </p:sp>
      <p:sp>
        <p:nvSpPr>
          <p:cNvPr id="20" name="Text 18"/>
          <p:cNvSpPr/>
          <p:nvPr/>
        </p:nvSpPr>
        <p:spPr>
          <a:xfrm>
            <a:off x="812800" y="3103042"/>
            <a:ext cx="26162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Front of pack limited to brand, product and one claim</a:t>
            </a:r>
            <a:endParaRPr lang="en-US" sz="1200" dirty="0"/>
          </a:p>
        </p:txBody>
      </p:sp>
      <p:sp>
        <p:nvSpPr>
          <p:cNvPr id="21" name="Text 19"/>
          <p:cNvSpPr/>
          <p:nvPr/>
        </p:nvSpPr>
        <p:spPr>
          <a:xfrm>
            <a:off x="3505200" y="3198292"/>
            <a:ext cx="2616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Minimalist; same agency source</a:t>
            </a:r>
            <a:endParaRPr lang="en-US" sz="1200" dirty="0"/>
          </a:p>
        </p:txBody>
      </p:sp>
      <p:sp>
        <p:nvSpPr>
          <p:cNvPr id="22" name="Text 20"/>
          <p:cNvSpPr/>
          <p:nvPr/>
        </p:nvSpPr>
        <p:spPr>
          <a:xfrm>
            <a:off x="6197600" y="3103042"/>
            <a:ext cx="2616200"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Several claims and badges on the front</a:t>
            </a:r>
            <a:endParaRPr lang="en-US" sz="1200" dirty="0"/>
          </a:p>
        </p:txBody>
      </p:sp>
      <p:sp>
        <p:nvSpPr>
          <p:cNvPr id="23" name="Text 21"/>
          <p:cNvSpPr/>
          <p:nvPr/>
        </p:nvSpPr>
        <p:spPr>
          <a:xfrm>
            <a:off x="8890000" y="3198292"/>
            <a:ext cx="2563876"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Unreadable at 200 pixels</a:t>
            </a:r>
            <a:endParaRPr lang="en-US" sz="1200" dirty="0"/>
          </a:p>
        </p:txBody>
      </p:sp>
      <p:sp>
        <p:nvSpPr>
          <p:cNvPr id="24" name="Shape 22"/>
          <p:cNvSpPr/>
          <p:nvPr/>
        </p:nvSpPr>
        <p:spPr>
          <a:xfrm>
            <a:off x="812800" y="4416425"/>
            <a:ext cx="10566400" cy="0"/>
          </a:xfrm>
          <a:prstGeom prst="line">
            <a:avLst/>
          </a:prstGeom>
          <a:noFill/>
          <a:ln w="6350">
            <a:solidFill>
              <a:srgbClr val="3A3832"/>
            </a:solidFill>
            <a:prstDash val="solid"/>
          </a:ln>
        </p:spPr>
        <p:txBody>
          <a:bodyPr/>
          <a:lstStyle/>
          <a:p>
            <a:endParaRPr lang="en-US"/>
          </a:p>
        </p:txBody>
      </p:sp>
      <p:sp>
        <p:nvSpPr>
          <p:cNvPr id="25" name="Text 23"/>
          <p:cNvSpPr/>
          <p:nvPr/>
        </p:nvSpPr>
        <p:spPr>
          <a:xfrm>
            <a:off x="812800" y="3884092"/>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Small entry packs</a:t>
            </a:r>
            <a:endParaRPr lang="en-US" sz="1200" dirty="0"/>
          </a:p>
        </p:txBody>
      </p:sp>
      <p:sp>
        <p:nvSpPr>
          <p:cNvPr id="26" name="Text 24"/>
          <p:cNvSpPr/>
          <p:nvPr/>
        </p:nvSpPr>
        <p:spPr>
          <a:xfrm>
            <a:off x="3505200" y="3598342"/>
            <a:ext cx="2616200" cy="787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Up to 40% of Indian consumer goods sales come from low-unit packs (FICCI 2015); Guard; Engage pocket</a:t>
            </a:r>
            <a:endParaRPr lang="en-US" sz="1200" dirty="0"/>
          </a:p>
        </p:txBody>
      </p:sp>
      <p:sp>
        <p:nvSpPr>
          <p:cNvPr id="27" name="Text 25"/>
          <p:cNvSpPr/>
          <p:nvPr/>
        </p:nvSpPr>
        <p:spPr>
          <a:xfrm>
            <a:off x="6197600" y="3884092"/>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Trial only through a gift box</a:t>
            </a:r>
            <a:endParaRPr lang="en-US" sz="1200" dirty="0"/>
          </a:p>
        </p:txBody>
      </p:sp>
      <p:sp>
        <p:nvSpPr>
          <p:cNvPr id="28" name="Text 26"/>
          <p:cNvSpPr/>
          <p:nvPr/>
        </p:nvSpPr>
        <p:spPr>
          <a:xfrm>
            <a:off x="8890000" y="3788842"/>
            <a:ext cx="2563876"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Rs 499 to 599 against Rs 149 for a rival's pocket size</a:t>
            </a:r>
            <a:endParaRPr lang="en-US" sz="1200" dirty="0"/>
          </a:p>
        </p:txBody>
      </p:sp>
      <p:sp>
        <p:nvSpPr>
          <p:cNvPr id="29" name="Shape 27"/>
          <p:cNvSpPr/>
          <p:nvPr/>
        </p:nvSpPr>
        <p:spPr>
          <a:xfrm>
            <a:off x="812800" y="4911725"/>
            <a:ext cx="10566400" cy="0"/>
          </a:xfrm>
          <a:prstGeom prst="line">
            <a:avLst/>
          </a:prstGeom>
          <a:noFill/>
          <a:ln w="6350">
            <a:solidFill>
              <a:srgbClr val="3A3832"/>
            </a:solidFill>
            <a:prstDash val="solid"/>
          </a:ln>
        </p:spPr>
        <p:txBody>
          <a:bodyPr/>
          <a:lstStyle/>
          <a:p>
            <a:endParaRPr lang="en-US"/>
          </a:p>
        </p:txBody>
      </p:sp>
      <p:sp>
        <p:nvSpPr>
          <p:cNvPr id="30" name="Text 28"/>
          <p:cNvSpPr/>
          <p:nvPr/>
        </p:nvSpPr>
        <p:spPr>
          <a:xfrm>
            <a:off x="812800" y="4569892"/>
            <a:ext cx="26162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6FD08C"/>
                </a:solidFill>
                <a:latin typeface="DM Sans" pitchFamily="34" charset="0"/>
                <a:ea typeface="DM Sans" pitchFamily="34" charset="-122"/>
                <a:cs typeface="DM Sans" pitchFamily="34" charset="-120"/>
              </a:rPr>
              <a:t>Fewer parts, lower cost</a:t>
            </a:r>
            <a:endParaRPr lang="en-US" sz="1200" dirty="0"/>
          </a:p>
        </p:txBody>
      </p:sp>
      <p:sp>
        <p:nvSpPr>
          <p:cNvPr id="31" name="Text 29"/>
          <p:cNvSpPr/>
          <p:nvPr/>
        </p:nvSpPr>
        <p:spPr>
          <a:xfrm>
            <a:off x="3505200" y="4569892"/>
            <a:ext cx="26162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Gillette Guard</a:t>
            </a:r>
            <a:endParaRPr lang="en-US" sz="1200" dirty="0"/>
          </a:p>
        </p:txBody>
      </p:sp>
      <p:sp>
        <p:nvSpPr>
          <p:cNvPr id="32" name="Text 30"/>
          <p:cNvSpPr/>
          <p:nvPr/>
        </p:nvSpPr>
        <p:spPr>
          <a:xfrm>
            <a:off x="6197600" y="4569892"/>
            <a:ext cx="26924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FF7A6B"/>
                </a:solidFill>
                <a:latin typeface="DM Sans" pitchFamily="34" charset="0"/>
                <a:ea typeface="DM Sans" pitchFamily="34" charset="-122"/>
                <a:cs typeface="DM Sans" pitchFamily="34" charset="-120"/>
              </a:rPr>
              <a:t>Sample vials and pumps that leak</a:t>
            </a:r>
            <a:endParaRPr lang="en-US" sz="1200" dirty="0"/>
          </a:p>
        </p:txBody>
      </p:sp>
      <p:sp>
        <p:nvSpPr>
          <p:cNvPr id="33" name="Text 31"/>
          <p:cNvSpPr/>
          <p:nvPr/>
        </p:nvSpPr>
        <p:spPr>
          <a:xfrm>
            <a:off x="8890000" y="4474642"/>
            <a:ext cx="2563876"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Beardo reviews; one bad unit produces a one-star review</a:t>
            </a:r>
            <a:endParaRPr lang="en-US" sz="1200" dirty="0"/>
          </a:p>
        </p:txBody>
      </p:sp>
      <p:sp>
        <p:nvSpPr>
          <p:cNvPr id="34" name="Text 32"/>
          <p:cNvSpPr/>
          <p:nvPr/>
        </p:nvSpPr>
        <p:spPr>
          <a:xfrm>
            <a:off x="812800" y="5321300"/>
            <a:ext cx="10566400" cy="673100"/>
          </a:xfrm>
          <a:prstGeom prst="rect">
            <a:avLst/>
          </a:prstGeom>
          <a:solidFill>
            <a:srgbClr val="FFF460"/>
          </a:solidFill>
          <a:ln/>
        </p:spPr>
        <p:txBody>
          <a:bodyPr wrap="square" lIns="203200" tIns="0" rIns="0" bIns="0" rtlCol="0" anchor="ctr">
            <a:normAutofit/>
          </a:bodyPr>
          <a:lstStyle/>
          <a:p>
            <a:pPr marL="0" indent="0" algn="l">
              <a:lnSpc>
                <a:spcPts val="1750"/>
              </a:lnSpc>
              <a:buNone/>
            </a:pPr>
            <a:r>
              <a:rPr lang="en-US" sz="1400" b="1" dirty="0">
                <a:solidFill>
                  <a:srgbClr val="14140F"/>
                </a:solidFill>
                <a:latin typeface="DM Sans" pitchFamily="34" charset="0"/>
                <a:ea typeface="DM Sans" pitchFamily="34" charset="-122"/>
                <a:cs typeface="DM Sans" pitchFamily="34" charset="-120"/>
              </a:rPr>
              <a:t>Two cautions: the quick commerce points come from one design agency, and no source measures the effect of packaging on sales except Bombay Shaving's offline move and Engage's pocket pack.</a:t>
            </a:r>
            <a:endParaRPr lang="en-US" sz="1400" dirty="0"/>
          </a:p>
        </p:txBody>
      </p:sp>
      <p:sp>
        <p:nvSpPr>
          <p:cNvPr id="35" name="Text 33"/>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Confetti (agency view), Mintel citing FICCI 2015, Storyboard18 (F)</a:t>
            </a:r>
            <a:endParaRPr lang="en-US" sz="1200" dirty="0"/>
          </a:p>
        </p:txBody>
      </p:sp>
      <p:sp>
        <p:nvSpPr>
          <p:cNvPr id="36" name="Text 34"/>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23</a:t>
            </a:r>
            <a:endParaRPr lang="en-US" sz="1200" dirty="0"/>
          </a:p>
        </p:txBody>
      </p:sp>
      <p:sp>
        <p:nvSpPr>
          <p:cNvPr id="38" name="TextBox 37">
            <a:extLst>
              <a:ext uri="{FF2B5EF4-FFF2-40B4-BE49-F238E27FC236}">
                <a16:creationId xmlns:a16="http://schemas.microsoft.com/office/drawing/2014/main" id="{5ADFCB28-7614-5597-E0A8-D3AAF1B7445B}"/>
              </a:ext>
            </a:extLst>
          </p:cNvPr>
          <p:cNvSpPr txBox="1"/>
          <p:nvPr/>
        </p:nvSpPr>
        <p:spPr>
          <a:xfrm>
            <a:off x="5996974" y="663520"/>
            <a:ext cx="6096670" cy="477054"/>
          </a:xfrm>
          <a:prstGeom prst="rect">
            <a:avLst/>
          </a:prstGeom>
          <a:noFill/>
        </p:spPr>
        <p:txBody>
          <a:bodyPr wrap="square">
            <a:spAutoFit/>
          </a:bodyPr>
          <a:lstStyle/>
          <a:p>
            <a:r>
              <a:rPr lang="en-US" sz="2500" b="0" i="0" dirty="0">
                <a:solidFill>
                  <a:srgbClr val="00B050"/>
                </a:solidFill>
                <a:latin typeface="Oswald" pitchFamily="34" charset="0"/>
                <a:ea typeface="Oswald" pitchFamily="34" charset="-122"/>
                <a:cs typeface="Oswald" pitchFamily="34" charset="-120"/>
              </a:rPr>
              <a:t>logic +</a:t>
            </a:r>
            <a:r>
              <a:rPr lang="en-US" sz="2500" b="0" i="0" dirty="0">
                <a:solidFill>
                  <a:srgbClr val="F4F0E8"/>
                </a:solidFill>
                <a:latin typeface="Oswald" pitchFamily="34" charset="0"/>
                <a:ea typeface="Oswald" pitchFamily="34" charset="-122"/>
                <a:cs typeface="Oswald" pitchFamily="34" charset="-120"/>
              </a:rPr>
              <a:t> </a:t>
            </a:r>
            <a:r>
              <a:rPr lang="en-US" sz="2500" b="0" i="0" dirty="0">
                <a:solidFill>
                  <a:srgbClr val="C00000"/>
                </a:solidFill>
                <a:latin typeface="Oswald" pitchFamily="34" charset="0"/>
                <a:ea typeface="Oswald" pitchFamily="34" charset="-122"/>
                <a:cs typeface="Oswald" pitchFamily="34" charset="-120"/>
              </a:rPr>
              <a:t>emotion</a:t>
            </a:r>
            <a:endParaRPr lang="en-GB" dirty="0"/>
          </a:p>
        </p:txBody>
      </p:sp>
      <p:pic>
        <p:nvPicPr>
          <p:cNvPr id="40" name="Graphic 39" descr="Blueprint with solid fill">
            <a:extLst>
              <a:ext uri="{FF2B5EF4-FFF2-40B4-BE49-F238E27FC236}">
                <a16:creationId xmlns:a16="http://schemas.microsoft.com/office/drawing/2014/main" id="{7BFD6D54-F628-10FD-CECC-653F126479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pic>
        <p:nvPicPr>
          <p:cNvPr id="42" name="Graphic 41" descr="Badge Heart with solid fill">
            <a:extLst>
              <a:ext uri="{FF2B5EF4-FFF2-40B4-BE49-F238E27FC236}">
                <a16:creationId xmlns:a16="http://schemas.microsoft.com/office/drawing/2014/main" id="{983CA2E5-8CB7-2E15-2129-6B1B9B865C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24592" y="-40208"/>
            <a:ext cx="914400" cy="914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0F"/>
        </a:solidFill>
        <a:effectLst/>
      </p:bgPr>
    </p:bg>
    <p:spTree>
      <p:nvGrpSpPr>
        <p:cNvPr id="1" name=""/>
        <p:cNvGrpSpPr/>
        <p:nvPr/>
      </p:nvGrpSpPr>
      <p:grpSpPr>
        <a:xfrm>
          <a:off x="0" y="0"/>
          <a:ext cx="0" cy="0"/>
          <a:chOff x="0" y="0"/>
          <a:chExt cx="0" cy="0"/>
        </a:xfrm>
      </p:grpSpPr>
      <p:sp>
        <p:nvSpPr>
          <p:cNvPr id="2" name="Text 0"/>
          <p:cNvSpPr/>
          <p:nvPr/>
        </p:nvSpPr>
        <p:spPr>
          <a:xfrm>
            <a:off x="812800" y="406400"/>
            <a:ext cx="7848600" cy="215900"/>
          </a:xfrm>
          <a:prstGeom prst="rect">
            <a:avLst/>
          </a:prstGeom>
          <a:noFill/>
          <a:ln/>
        </p:spPr>
        <p:txBody>
          <a:bodyPr wrap="square" lIns="0" tIns="0" rIns="0" bIns="0" rtlCol="0" anchor="t">
            <a:normAutofit/>
          </a:bodyPr>
          <a:lstStyle/>
          <a:p>
            <a:pPr marL="0" indent="0" algn="l">
              <a:lnSpc>
                <a:spcPts val="1500"/>
              </a:lnSpc>
              <a:buNone/>
            </a:pPr>
            <a:r>
              <a:rPr lang="en-US" sz="1200" b="1" kern="0" spc="150" dirty="0">
                <a:solidFill>
                  <a:srgbClr val="FFF460"/>
                </a:solidFill>
                <a:latin typeface="DM Sans" pitchFamily="34" charset="0"/>
                <a:ea typeface="DM Sans" pitchFamily="34" charset="-122"/>
                <a:cs typeface="DM Sans" pitchFamily="34" charset="-120"/>
              </a:rPr>
              <a:t>3 · PACKAGING</a:t>
            </a:r>
            <a:endParaRPr lang="en-US" sz="1200" dirty="0"/>
          </a:p>
        </p:txBody>
      </p:sp>
      <p:sp>
        <p:nvSpPr>
          <p:cNvPr id="3" name="Text 1"/>
          <p:cNvSpPr>
            <a:spLocks noGrp="1"/>
          </p:cNvSpPr>
          <p:nvPr>
            <p:ph type="title"/>
          </p:nvPr>
        </p:nvSpPr>
        <p:spPr>
          <a:xfrm>
            <a:off x="812800" y="711200"/>
            <a:ext cx="10883392" cy="390525"/>
          </a:xfrm>
          <a:prstGeom prst="rect">
            <a:avLst/>
          </a:prstGeom>
          <a:noFill/>
          <a:ln/>
        </p:spPr>
        <p:txBody>
          <a:bodyPr wrap="square" lIns="0" tIns="0" rIns="0" bIns="0" rtlCol="0" anchor="t">
            <a:normAutofit/>
          </a:bodyPr>
          <a:lstStyle/>
          <a:p>
            <a:pPr marL="0" indent="0" algn="l">
              <a:lnSpc>
                <a:spcPts val="2875"/>
              </a:lnSpc>
              <a:buNone/>
            </a:pPr>
            <a:r>
              <a:rPr lang="en-US" sz="2500" b="0" i="0" dirty="0">
                <a:solidFill>
                  <a:srgbClr val="F4F0E8"/>
                </a:solidFill>
                <a:latin typeface="Oswald" pitchFamily="34" charset="0"/>
                <a:ea typeface="Oswald" pitchFamily="34" charset="-122"/>
                <a:cs typeface="Oswald" pitchFamily="34" charset="-120"/>
              </a:rPr>
              <a:t>What this means for TMC's packs: five hypotheses to test </a:t>
            </a:r>
            <a:r>
              <a:rPr lang="en-US" sz="2500" b="0" i="0" dirty="0">
                <a:solidFill>
                  <a:srgbClr val="00B050"/>
                </a:solidFill>
                <a:latin typeface="Oswald" pitchFamily="34" charset="0"/>
                <a:ea typeface="Oswald" pitchFamily="34" charset="-122"/>
                <a:cs typeface="Oswald" pitchFamily="34" charset="-120"/>
              </a:rPr>
              <a:t>– logic</a:t>
            </a:r>
            <a:endParaRPr lang="en-US" sz="2500" dirty="0">
              <a:solidFill>
                <a:srgbClr val="00B050"/>
              </a:solidFill>
            </a:endParaRPr>
          </a:p>
        </p:txBody>
      </p:sp>
      <p:sp>
        <p:nvSpPr>
          <p:cNvPr id="4" name="Shape 2"/>
          <p:cNvSpPr/>
          <p:nvPr/>
        </p:nvSpPr>
        <p:spPr>
          <a:xfrm>
            <a:off x="812800" y="2352675"/>
            <a:ext cx="10566400" cy="0"/>
          </a:xfrm>
          <a:prstGeom prst="line">
            <a:avLst/>
          </a:prstGeom>
          <a:noFill/>
          <a:ln w="6350">
            <a:solidFill>
              <a:srgbClr val="3A3832"/>
            </a:solidFill>
            <a:prstDash val="solid"/>
          </a:ln>
        </p:spPr>
        <p:txBody>
          <a:bodyPr/>
          <a:lstStyle/>
          <a:p>
            <a:endParaRPr lang="en-US"/>
          </a:p>
        </p:txBody>
      </p:sp>
      <p:sp>
        <p:nvSpPr>
          <p:cNvPr id="5" name="Text 3"/>
          <p:cNvSpPr/>
          <p:nvPr/>
        </p:nvSpPr>
        <p:spPr>
          <a:xfrm>
            <a:off x="812800" y="1977504"/>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FF460"/>
                </a:solidFill>
                <a:latin typeface="DM Sans" pitchFamily="34" charset="0"/>
                <a:ea typeface="DM Sans" pitchFamily="34" charset="-122"/>
                <a:cs typeface="DM Sans" pitchFamily="34" charset="-120"/>
              </a:rPr>
              <a:t>1</a:t>
            </a:r>
            <a:endParaRPr lang="en-US" sz="1500" dirty="0"/>
          </a:p>
        </p:txBody>
      </p:sp>
      <p:sp>
        <p:nvSpPr>
          <p:cNvPr id="6" name="Text 4"/>
          <p:cNvSpPr/>
          <p:nvPr/>
        </p:nvSpPr>
        <p:spPr>
          <a:xfrm>
            <a:off x="1409700" y="1977504"/>
            <a:ext cx="10268585"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4F0E8"/>
                </a:solidFill>
                <a:latin typeface="DM Sans" pitchFamily="34" charset="0"/>
                <a:ea typeface="DM Sans" pitchFamily="34" charset="-122"/>
                <a:cs typeface="DM Sans" pitchFamily="34" charset="-120"/>
              </a:rPr>
              <a:t>Black's pack promises quality and the content varies from bottle to bottle. Fix the content and the spray first.</a:t>
            </a:r>
            <a:endParaRPr lang="en-US" sz="1500" dirty="0"/>
          </a:p>
        </p:txBody>
      </p:sp>
      <p:sp>
        <p:nvSpPr>
          <p:cNvPr id="7" name="Shape 5"/>
          <p:cNvSpPr/>
          <p:nvPr/>
        </p:nvSpPr>
        <p:spPr>
          <a:xfrm>
            <a:off x="812800" y="2867025"/>
            <a:ext cx="10566400" cy="0"/>
          </a:xfrm>
          <a:prstGeom prst="line">
            <a:avLst/>
          </a:prstGeom>
          <a:noFill/>
          <a:ln w="6350">
            <a:solidFill>
              <a:srgbClr val="3A3832"/>
            </a:solidFill>
            <a:prstDash val="solid"/>
          </a:ln>
        </p:spPr>
        <p:txBody>
          <a:bodyPr/>
          <a:lstStyle/>
          <a:p>
            <a:endParaRPr lang="en-US"/>
          </a:p>
        </p:txBody>
      </p:sp>
      <p:sp>
        <p:nvSpPr>
          <p:cNvPr id="8" name="Text 6"/>
          <p:cNvSpPr/>
          <p:nvPr/>
        </p:nvSpPr>
        <p:spPr>
          <a:xfrm>
            <a:off x="812800" y="2491854"/>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FF460"/>
                </a:solidFill>
                <a:latin typeface="DM Sans" pitchFamily="34" charset="0"/>
                <a:ea typeface="DM Sans" pitchFamily="34" charset="-122"/>
                <a:cs typeface="DM Sans" pitchFamily="34" charset="-120"/>
              </a:rPr>
              <a:t>2</a:t>
            </a:r>
            <a:endParaRPr lang="en-US" sz="1500" dirty="0"/>
          </a:p>
        </p:txBody>
      </p:sp>
      <p:sp>
        <p:nvSpPr>
          <p:cNvPr id="9" name="Text 7"/>
          <p:cNvSpPr/>
          <p:nvPr/>
        </p:nvSpPr>
        <p:spPr>
          <a:xfrm>
            <a:off x="1409700" y="2491854"/>
            <a:ext cx="10268585"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4F0E8"/>
                </a:solidFill>
                <a:latin typeface="DM Sans" pitchFamily="34" charset="0"/>
                <a:ea typeface="DM Sans" pitchFamily="34" charset="-122"/>
                <a:cs typeface="DM Sans" pitchFamily="34" charset="-120"/>
              </a:rPr>
              <a:t>Add an entry pack under Rs 200 that is the same product in a smaller size, not a different format.</a:t>
            </a:r>
            <a:endParaRPr lang="en-US" sz="1500" dirty="0"/>
          </a:p>
        </p:txBody>
      </p:sp>
      <p:sp>
        <p:nvSpPr>
          <p:cNvPr id="10" name="Shape 8"/>
          <p:cNvSpPr/>
          <p:nvPr/>
        </p:nvSpPr>
        <p:spPr>
          <a:xfrm>
            <a:off x="812800" y="3381375"/>
            <a:ext cx="10566400" cy="0"/>
          </a:xfrm>
          <a:prstGeom prst="line">
            <a:avLst/>
          </a:prstGeom>
          <a:noFill/>
          <a:ln w="6350">
            <a:solidFill>
              <a:srgbClr val="3A3832"/>
            </a:solidFill>
            <a:prstDash val="solid"/>
          </a:ln>
        </p:spPr>
        <p:txBody>
          <a:bodyPr/>
          <a:lstStyle/>
          <a:p>
            <a:endParaRPr lang="en-US"/>
          </a:p>
        </p:txBody>
      </p:sp>
      <p:sp>
        <p:nvSpPr>
          <p:cNvPr id="11" name="Text 9"/>
          <p:cNvSpPr/>
          <p:nvPr/>
        </p:nvSpPr>
        <p:spPr>
          <a:xfrm>
            <a:off x="812800" y="3006204"/>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FF460"/>
                </a:solidFill>
                <a:latin typeface="DM Sans" pitchFamily="34" charset="0"/>
                <a:ea typeface="DM Sans" pitchFamily="34" charset="-122"/>
                <a:cs typeface="DM Sans" pitchFamily="34" charset="-120"/>
              </a:rPr>
              <a:t>3</a:t>
            </a:r>
            <a:endParaRPr lang="en-US" sz="1500" dirty="0"/>
          </a:p>
        </p:txBody>
      </p:sp>
      <p:sp>
        <p:nvSpPr>
          <p:cNvPr id="12" name="Text 10"/>
          <p:cNvSpPr/>
          <p:nvPr/>
        </p:nvSpPr>
        <p:spPr>
          <a:xfrm>
            <a:off x="1409700" y="3006204"/>
            <a:ext cx="10268585"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4F0E8"/>
                </a:solidFill>
                <a:latin typeface="DM Sans" pitchFamily="34" charset="0"/>
                <a:ea typeface="DM Sans" pitchFamily="34" charset="-122"/>
                <a:cs typeface="DM Sans" pitchFamily="34" charset="-120"/>
              </a:rPr>
              <a:t>Put one checkable claim on the front and remove the rest.</a:t>
            </a:r>
            <a:endParaRPr lang="en-US" sz="1500" dirty="0"/>
          </a:p>
        </p:txBody>
      </p:sp>
      <p:sp>
        <p:nvSpPr>
          <p:cNvPr id="13" name="Shape 11"/>
          <p:cNvSpPr/>
          <p:nvPr/>
        </p:nvSpPr>
        <p:spPr>
          <a:xfrm>
            <a:off x="812800" y="3895725"/>
            <a:ext cx="10566400" cy="0"/>
          </a:xfrm>
          <a:prstGeom prst="line">
            <a:avLst/>
          </a:prstGeom>
          <a:noFill/>
          <a:ln w="6350">
            <a:solidFill>
              <a:srgbClr val="3A3832"/>
            </a:solidFill>
            <a:prstDash val="solid"/>
          </a:ln>
        </p:spPr>
        <p:txBody>
          <a:bodyPr/>
          <a:lstStyle/>
          <a:p>
            <a:endParaRPr lang="en-US"/>
          </a:p>
        </p:txBody>
      </p:sp>
      <p:sp>
        <p:nvSpPr>
          <p:cNvPr id="14" name="Text 12"/>
          <p:cNvSpPr/>
          <p:nvPr/>
        </p:nvSpPr>
        <p:spPr>
          <a:xfrm>
            <a:off x="812800" y="3520554"/>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FF460"/>
                </a:solidFill>
                <a:latin typeface="DM Sans" pitchFamily="34" charset="0"/>
                <a:ea typeface="DM Sans" pitchFamily="34" charset="-122"/>
                <a:cs typeface="DM Sans" pitchFamily="34" charset="-120"/>
              </a:rPr>
              <a:t>4</a:t>
            </a:r>
            <a:endParaRPr lang="en-US" sz="1500" dirty="0"/>
          </a:p>
        </p:txBody>
      </p:sp>
      <p:sp>
        <p:nvSpPr>
          <p:cNvPr id="15" name="Text 13"/>
          <p:cNvSpPr/>
          <p:nvPr/>
        </p:nvSpPr>
        <p:spPr>
          <a:xfrm>
            <a:off x="1409700" y="3520554"/>
            <a:ext cx="10268585"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4F0E8"/>
                </a:solidFill>
                <a:latin typeface="DM Sans" pitchFamily="34" charset="0"/>
                <a:ea typeface="DM Sans" pitchFamily="34" charset="-122"/>
                <a:cs typeface="DM Sans" pitchFamily="34" charset="-120"/>
              </a:rPr>
              <a:t>Check every hero pack as a thumbnail on a white background before approving it.</a:t>
            </a:r>
            <a:endParaRPr lang="en-US" sz="1500" dirty="0"/>
          </a:p>
        </p:txBody>
      </p:sp>
      <p:sp>
        <p:nvSpPr>
          <p:cNvPr id="16" name="Shape 14"/>
          <p:cNvSpPr/>
          <p:nvPr/>
        </p:nvSpPr>
        <p:spPr>
          <a:xfrm>
            <a:off x="812800" y="4410075"/>
            <a:ext cx="10566400" cy="0"/>
          </a:xfrm>
          <a:prstGeom prst="line">
            <a:avLst/>
          </a:prstGeom>
          <a:noFill/>
          <a:ln w="6350">
            <a:solidFill>
              <a:srgbClr val="3A3832"/>
            </a:solidFill>
            <a:prstDash val="solid"/>
          </a:ln>
        </p:spPr>
        <p:txBody>
          <a:bodyPr/>
          <a:lstStyle/>
          <a:p>
            <a:endParaRPr lang="en-US"/>
          </a:p>
        </p:txBody>
      </p:sp>
      <p:sp>
        <p:nvSpPr>
          <p:cNvPr id="17" name="Text 15"/>
          <p:cNvSpPr/>
          <p:nvPr/>
        </p:nvSpPr>
        <p:spPr>
          <a:xfrm>
            <a:off x="812800" y="4034904"/>
            <a:ext cx="495300"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FF460"/>
                </a:solidFill>
                <a:latin typeface="DM Sans" pitchFamily="34" charset="0"/>
                <a:ea typeface="DM Sans" pitchFamily="34" charset="-122"/>
                <a:cs typeface="DM Sans" pitchFamily="34" charset="-120"/>
              </a:rPr>
              <a:t>5</a:t>
            </a:r>
            <a:endParaRPr lang="en-US" sz="1500" dirty="0"/>
          </a:p>
        </p:txBody>
      </p:sp>
      <p:sp>
        <p:nvSpPr>
          <p:cNvPr id="18" name="Text 16"/>
          <p:cNvSpPr/>
          <p:nvPr/>
        </p:nvSpPr>
        <p:spPr>
          <a:xfrm>
            <a:off x="1409700" y="4034904"/>
            <a:ext cx="10268585" cy="263525"/>
          </a:xfrm>
          <a:prstGeom prst="rect">
            <a:avLst/>
          </a:prstGeom>
          <a:noFill/>
          <a:ln/>
        </p:spPr>
        <p:txBody>
          <a:bodyPr wrap="square" lIns="0" tIns="0" rIns="0" bIns="0" rtlCol="0" anchor="t">
            <a:normAutofit/>
          </a:bodyPr>
          <a:lstStyle/>
          <a:p>
            <a:pPr marL="0" indent="0" algn="l">
              <a:lnSpc>
                <a:spcPts val="1875"/>
              </a:lnSpc>
              <a:buNone/>
            </a:pPr>
            <a:r>
              <a:rPr lang="en-US" sz="1500" dirty="0">
                <a:solidFill>
                  <a:srgbClr val="F4F0E8"/>
                </a:solidFill>
                <a:latin typeface="DM Sans" pitchFamily="34" charset="0"/>
                <a:ea typeface="DM Sans" pitchFamily="34" charset="-122"/>
                <a:cs typeface="DM Sans" pitchFamily="34" charset="-120"/>
              </a:rPr>
              <a:t>Keep the gift box as a separate product for the gift buyer; do not let it define the daily pack.</a:t>
            </a:r>
            <a:endParaRPr lang="en-US" sz="1500" dirty="0"/>
          </a:p>
        </p:txBody>
      </p:sp>
      <p:sp>
        <p:nvSpPr>
          <p:cNvPr id="19" name="Text 17"/>
          <p:cNvSpPr/>
          <p:nvPr/>
        </p:nvSpPr>
        <p:spPr>
          <a:xfrm>
            <a:off x="812800" y="6261100"/>
            <a:ext cx="902589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5B0A3"/>
                </a:solidFill>
                <a:latin typeface="DM Sans" pitchFamily="34" charset="0"/>
                <a:ea typeface="DM Sans" pitchFamily="34" charset="-122"/>
                <a:cs typeface="DM Sans" pitchFamily="34" charset="-120"/>
              </a:rPr>
              <a:t>Source: Companion document, section 3.4 (H)</a:t>
            </a:r>
            <a:endParaRPr lang="en-US" sz="1200" dirty="0"/>
          </a:p>
        </p:txBody>
      </p:sp>
      <p:sp>
        <p:nvSpPr>
          <p:cNvPr id="20" name="Text 18"/>
          <p:cNvSpPr/>
          <p:nvPr/>
        </p:nvSpPr>
        <p:spPr>
          <a:xfrm>
            <a:off x="9547860" y="6261100"/>
            <a:ext cx="1831340" cy="215900"/>
          </a:xfrm>
          <a:prstGeom prst="rect">
            <a:avLst/>
          </a:prstGeom>
          <a:noFill/>
          <a:ln/>
        </p:spPr>
        <p:txBody>
          <a:bodyPr wrap="square" lIns="0" tIns="0" rIns="0" bIns="0" rtlCol="0" anchor="t">
            <a:normAutofit/>
          </a:bodyPr>
          <a:lstStyle/>
          <a:p>
            <a:pPr marL="0" indent="0" algn="r">
              <a:lnSpc>
                <a:spcPts val="1500"/>
              </a:lnSpc>
              <a:buNone/>
            </a:pPr>
            <a:r>
              <a:rPr lang="en-US" sz="1200" b="1" kern="0" spc="100" dirty="0">
                <a:solidFill>
                  <a:srgbClr val="B5B0A3"/>
                </a:solidFill>
                <a:latin typeface="DM Sans" pitchFamily="34" charset="0"/>
                <a:ea typeface="DM Sans" pitchFamily="34" charset="-122"/>
                <a:cs typeface="DM Sans" pitchFamily="34" charset="-120"/>
              </a:rPr>
              <a:t>FAST TRACK  ·  24</a:t>
            </a:r>
            <a:endParaRPr lang="en-US" sz="1200" dirty="0"/>
          </a:p>
        </p:txBody>
      </p:sp>
      <p:pic>
        <p:nvPicPr>
          <p:cNvPr id="22" name="Graphic 21" descr="Blueprint with solid fill">
            <a:extLst>
              <a:ext uri="{FF2B5EF4-FFF2-40B4-BE49-F238E27FC236}">
                <a16:creationId xmlns:a16="http://schemas.microsoft.com/office/drawing/2014/main" id="{6D172719-2FD7-293F-D449-232C19BE12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992" y="-76200"/>
            <a:ext cx="914400" cy="914400"/>
          </a:xfrm>
          <a:prstGeom prst="rect">
            <a:avLst/>
          </a:prstGeom>
        </p:spPr>
      </p:pic>
    </p:spTree>
  </p:cSld>
  <p:clrMapOvr>
    <a:masterClrMapping/>
  </p:clrMapOvr>
</p:sld>
</file>

<file path=ppt/theme/theme1.xml><?xml version="1.0" encoding="utf-8"?>
<a:theme xmlns:a="http://schemas.openxmlformats.org/drawingml/2006/main" name="TMC: Price, message and packaging maps">
  <a:themeElements>
    <a:clrScheme name="TMC: Price, message and packaging maps">
      <a:dk1>
        <a:srgbClr val="11110F"/>
      </a:dk1>
      <a:lt1>
        <a:srgbClr val="F4F0E8"/>
      </a:lt1>
      <a:dk2>
        <a:srgbClr val="282725"/>
      </a:dk2>
      <a:lt2>
        <a:srgbClr val="BBB8B2"/>
      </a:lt2>
      <a:accent1>
        <a:srgbClr val="FFF460"/>
      </a:accent1>
      <a:accent2>
        <a:srgbClr val="FF7A6B"/>
      </a:accent2>
      <a:accent3>
        <a:srgbClr val="6FD08C"/>
      </a:accent3>
      <a:accent4>
        <a:srgbClr val="B5B0A3"/>
      </a:accent4>
      <a:accent5>
        <a:srgbClr val="8F8A7C"/>
      </a:accent5>
      <a:accent6>
        <a:srgbClr val="3A3A2A"/>
      </a:accent6>
      <a:hlink>
        <a:srgbClr val="0563C1"/>
      </a:hlink>
      <a:folHlink>
        <a:srgbClr val="954F72"/>
      </a:folHlink>
    </a:clrScheme>
    <a:fontScheme name="TMC: Price, message and packaging maps">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780</TotalTime>
  <Words>4826</Words>
  <Application>Microsoft Office PowerPoint</Application>
  <PresentationFormat>Widescreen</PresentationFormat>
  <Paragraphs>643</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DM Sans</vt:lpstr>
      <vt:lpstr>Oswald</vt:lpstr>
      <vt:lpstr>TMC: Price, message and packaging maps</vt:lpstr>
      <vt:lpstr>PRICE, MESSAGE, PACK</vt:lpstr>
      <vt:lpstr>The brands that win charge a real price, say one checkable thing, and let the pack prove it; TMC does none of the three yet</vt:lpstr>
      <vt:lpstr>Perfume is one band: new brands and mass brands overlap at Rs 449 to 799</vt:lpstr>
      <vt:lpstr>Price map by category (1 of 2): every category sits in a narrow band – the difference between the core and premium per category and where tmc sits</vt:lpstr>
      <vt:lpstr>Price map by category (2 of 2): a premium exists only where a result or a system is sold</vt:lpstr>
      <vt:lpstr>What the category maps show – logic (conlcusions)</vt:lpstr>
      <vt:lpstr>Price map by brand: brand power shows in how little a brand discounts – show that less discount is better &amp; how tmc discounts too much compared to others (graphic showing the diff between normal price and discount)</vt:lpstr>
      <vt:lpstr>TMC's price problem is coherence, not level: one bottle of Black, five prices -&gt; the difference between brices on different platforms</vt:lpstr>
      <vt:lpstr>Price against sales and brand power: price does not predict sales; engagement and discount do – move the focus from discount to engagement and who the correlation to slaes </vt:lpstr>
      <vt:lpstr>Six conclusions on price – logic (conclusions)</vt:lpstr>
      <vt:lpstr>What each brand says first (1 of 3): five brands sell a character - comparison</vt:lpstr>
      <vt:lpstr>What each brand says first (2 of 3): six challengers sell a proof</vt:lpstr>
      <vt:lpstr>What each brand says first (3 of 3): the mass brands sell a number</vt:lpstr>
      <vt:lpstr>Who is the same: five persona brands share one structure - conlcuisons</vt:lpstr>
      <vt:lpstr>Who is different: seven brands say something only they say, and they hold the margin</vt:lpstr>
      <vt:lpstr>The six differences that matter – conclsuions (logic)</vt:lpstr>
      <vt:lpstr>What works in a message, and what does not – logic + emotion</vt:lpstr>
      <vt:lpstr>The first thing TMC's own page says is the size of the discount – cheap feeling of a discounted price</vt:lpstr>
      <vt:lpstr>What is documented (1 of 2): six packs changed for a commercial reason – compare visually the packaging – the images should tell the story </vt:lpstr>
      <vt:lpstr>What is documented (2 of 2): for eight brands, nothing was found – do not add</vt:lpstr>
      <vt:lpstr>The entry pack: rivals let a man try for Rs 59 to 149; no TMC mini was found – make the difference visible</vt:lpstr>
      <vt:lpstr>Five differences between packs – conclusion but visualize them (what each means)</vt:lpstr>
      <vt:lpstr>What works in packaging, and what does not</vt:lpstr>
      <vt:lpstr>What this means for TMC's packs: five hypotheses to test – logic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TMC: Price, message and packaging maps</dc:title>
  <dc:subject/>
  <dc:creator/>
  <cp:lastModifiedBy>Viktoria Oprikova</cp:lastModifiedBy>
  <cp:revision>1</cp:revision>
  <dcterms:created xsi:type="dcterms:W3CDTF">2026-10-03T19:26:50Z</dcterms:created>
  <dcterms:modified xsi:type="dcterms:W3CDTF">2026-10-06T08:14:02Z</dcterms:modified>
</cp:coreProperties>
</file>